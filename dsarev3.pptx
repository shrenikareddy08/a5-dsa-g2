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Good [morning/afternoon]. We are presenting our DSA-3 PBL Review-3 project: Intelligent Resource Scheduling for Text Processing Pipelines. Over the last phase we moved from a literature-review concept to a fully working Java console system that takes a user request, breaks it into text-analytics tasks, schedules them intelligently across heterogeneous resources, and returns results — which is the flow you see at the bottom of this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Shape 91"/>
          <p:cNvSpPr/>
          <p:nvPr>
            <p:ph type="sldImg"/>
          </p:nvPr>
        </p:nvSpPr>
        <p:spPr>
          <a:prstGeom prst="rect">
            <a:avLst/>
          </a:prstGeom>
        </p:spPr>
        <p:txBody>
          <a:bodyPr/>
          <a:lstStyle/>
          <a:p>
            <a:pPr/>
          </a:p>
        </p:txBody>
      </p:sp>
      <p:sp>
        <p:nvSpPr>
          <p:cNvPr id="92" name="Shape 92"/>
          <p:cNvSpPr/>
          <p:nvPr>
            <p:ph type="body" sz="quarter" idx="1"/>
          </p:nvPr>
        </p:nvSpPr>
        <p:spPr>
          <a:prstGeom prst="rect">
            <a:avLst/>
          </a:prstGeom>
        </p:spPr>
        <p:txBody>
          <a:bodyPr/>
          <a:lstStyle/>
          <a:p>
            <a:pPr/>
            <a:r>
              <a:t>Review-2 gave us a literature-backed plan: we studied Airflow, Spark and HEFT and identified a gap around integrating priority, dependencies, resource-awareness, parallelism, monitoring and recovery for text pipelines. Review-3 shows that plan converted into a working prototype — a 10-document corpus, a real text-processing engine, and a runtime-aware scheduler producing measured results, as shown in the console snapshot.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120"/>
          <p:cNvSpPr/>
          <p:nvPr>
            <p:ph type="sldImg"/>
          </p:nvPr>
        </p:nvSpPr>
        <p:spPr>
          <a:prstGeom prst="rect">
            <a:avLst/>
          </a:prstGeom>
        </p:spPr>
        <p:txBody>
          <a:bodyPr/>
          <a:lstStyle/>
          <a:p>
            <a:pPr/>
          </a:p>
        </p:txBody>
      </p:sp>
      <p:sp>
        <p:nvSpPr>
          <p:cNvPr id="121" name="Shape 121"/>
          <p:cNvSpPr/>
          <p:nvPr>
            <p:ph type="body" sz="quarter" idx="1"/>
          </p:nvPr>
        </p:nvSpPr>
        <p:spPr>
          <a:prstGeom prst="rect">
            <a:avLst/>
          </a:prstGeom>
        </p:spPr>
        <p:txBody>
          <a:bodyPr/>
          <a:lstStyle/>
          <a:p>
            <a:pPr/>
            <a:r>
              <a:t>Text-processing pipelines are made of many tasks with different CPU and memory needs, dependencies between them, different execution times, and a real opportunity for parallelism. Running them statically and sequentially wastes time and underutilizes resources. Our solution is task-aware intelligent scheduling — deciding what runs, where, and when.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The novelty is not the HEFT heuristic itself — it's how we integrated it. A user request flows through text-analytics task generation, workload profiling, dependency and priority analysis, our runtime-aware HEFT V3 layer, heterogeneous resource assignment, parallel execution and runtime feedback — all specifically adapted for text-processing workloads, with recovery built 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r>
              <a:t>Nine algorithms power the engine, grouped by category. String and text algorithms — KMP, Rabin-Karp, Z, Suffix Array with LCP — handle search, verification and indexing. Dynamic programming drives fuzzy matching and alignment. Graph and randomized algorithms — Edmonds-Karp and Miller-Rabin — add citation-flow and primality analysis. The console evidence at the bottom shows a real KMP run finding 'systems' at position 10.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The same scheduler adapts to six very different text workloads — exact search, fast keyword verification, fuzzy matching, indexing, alignment and graph analysis. Each has a different task profile and CPU/RAM footprint, so the scheduler assigns resources differently each time. This is demonstrated across a 10-document corpus that deliberately includes Indian and multilingual content, not a narrow synthetic dataset.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r>
              <a:t>Our runtime-aware HEFT V3 layer runs ten steps: generating tasks, detecting dependencies, computing upward rank, checking readiness and resource compatibility, predicting execution time, assigning a heterogeneous resource, executing in parallel, then measuring actual runtime and updating the estimate. These are logical scheduler resources — R01 through R03 — which we clearly separate from the real JVM host snapshot shown on the dashboard.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355"/>
          <p:cNvSpPr/>
          <p:nvPr>
            <p:ph type="sldImg"/>
          </p:nvPr>
        </p:nvSpPr>
        <p:spPr>
          <a:prstGeom prst="rect">
            <a:avLst/>
          </a:prstGeom>
        </p:spPr>
        <p:txBody>
          <a:bodyPr/>
          <a:lstStyle/>
          <a:p>
            <a:pPr/>
          </a:p>
        </p:txBody>
      </p:sp>
      <p:sp>
        <p:nvSpPr>
          <p:cNvPr id="356" name="Shape 356"/>
          <p:cNvSpPr/>
          <p:nvPr>
            <p:ph type="body" sz="quarter" idx="1"/>
          </p:nvPr>
        </p:nvSpPr>
        <p:spPr>
          <a:prstGeom prst="rect">
            <a:avLst/>
          </a:prstGeom>
        </p:spPr>
        <p:txBody>
          <a:bodyPr/>
          <a:lstStyle/>
          <a:p>
            <a:pPr/>
            <a:r>
              <a:t>This is the hero run of the system: documents D04 and D10, searching for the pattern 'data'. Six stages execute in dependency-aware, resource-assigned order — KMP, Rabin-Karp, Z, Suffix Array, Edit Distance and Sequence Alignment — all completing successfully. This particular run finished all six tasks in three scheduling rounds, a 31-millisecond makespan and a throughput of 193.55 tasks per second. Full console evidence for this run is on the implementation-evidence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2" name="Shape 402"/>
          <p:cNvSpPr/>
          <p:nvPr>
            <p:ph type="sldImg"/>
          </p:nvPr>
        </p:nvSpPr>
        <p:spPr>
          <a:prstGeom prst="rect">
            <a:avLst/>
          </a:prstGeom>
        </p:spPr>
        <p:txBody>
          <a:bodyPr/>
          <a:lstStyle/>
          <a:p>
            <a:pPr/>
          </a:p>
        </p:txBody>
      </p:sp>
      <p:sp>
        <p:nvSpPr>
          <p:cNvPr id="403" name="Shape 403"/>
          <p:cNvSpPr/>
          <p:nvPr>
            <p:ph type="body" sz="quarter" idx="1"/>
          </p:nvPr>
        </p:nvSpPr>
        <p:spPr>
          <a:prstGeom prst="rect">
            <a:avLst/>
          </a:prstGeom>
        </p:spPr>
        <p:txBody>
          <a:bodyPr/>
          <a:lstStyle/>
          <a:p>
            <a:pPr/>
            <a:r>
              <a:t>Evaluation is grounded in actual execution, not projections. The complete pipeline finished all six tasks with zero failures across three rounds, and the system logged thirteen saved requests during our demonstration. Individual algorithm runs confirm correctness — including a true negative case where KMP correctly reports 'data' as not found — alongside Edit Distance, Edmonds-Karp and Miller-Rabin results. These are demonstration-run figures, which we state explicitly.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0" name="Shape 410"/>
          <p:cNvSpPr/>
          <p:nvPr>
            <p:ph type="sldImg"/>
          </p:nvPr>
        </p:nvSpPr>
        <p:spPr>
          <a:prstGeom prst="rect">
            <a:avLst/>
          </a:prstGeom>
        </p:spPr>
        <p:txBody>
          <a:bodyPr/>
          <a:lstStyle/>
          <a:p>
            <a:pPr/>
          </a:p>
        </p:txBody>
      </p:sp>
      <p:sp>
        <p:nvSpPr>
          <p:cNvPr id="411" name="Shape 411"/>
          <p:cNvSpPr/>
          <p:nvPr>
            <p:ph type="body" sz="quarter" idx="1"/>
          </p:nvPr>
        </p:nvSpPr>
        <p:spPr>
          <a:prstGeom prst="rect">
            <a:avLst/>
          </a:prstGeom>
        </p:spPr>
        <p:txBody>
          <a:bodyPr/>
          <a:lstStyle/>
          <a:p>
            <a:pPr/>
            <a:r>
              <a:t>This table consolidates nine independent validation runs across every algorithm in the engine — both positive and negative search cases, similarity and alignment scores, max-flow analysis and primality testing — demonstrating breadth as well as correctness.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4" name="Shape 424"/>
          <p:cNvSpPr/>
          <p:nvPr>
            <p:ph type="sldImg"/>
          </p:nvPr>
        </p:nvSpPr>
        <p:spPr>
          <a:prstGeom prst="rect">
            <a:avLst/>
          </a:prstGeom>
        </p:spPr>
        <p:txBody>
          <a:bodyPr/>
          <a:lstStyle/>
          <a:p>
            <a:pPr/>
          </a:p>
        </p:txBody>
      </p:sp>
      <p:sp>
        <p:nvSpPr>
          <p:cNvPr id="425" name="Shape 425"/>
          <p:cNvSpPr/>
          <p:nvPr>
            <p:ph type="body" sz="quarter" idx="1"/>
          </p:nvPr>
        </p:nvSpPr>
        <p:spPr>
          <a:prstGeom prst="rect">
            <a:avLst/>
          </a:prstGeom>
        </p:spPr>
        <p:txBody>
          <a:bodyPr/>
          <a:lstStyle/>
          <a:p>
            <a:pPr/>
            <a:r>
              <a:t>This is the live console output of our Java prototype completing the six-stage pipeline end to end. The three callouts trace exactly where task generation, resource assignment and parallel completion happen in the run — the same run summarized on the previous two slides.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Shape 460"/>
          <p:cNvSpPr/>
          <p:nvPr>
            <p:ph type="sldImg"/>
          </p:nvPr>
        </p:nvSpPr>
        <p:spPr>
          <a:prstGeom prst="rect">
            <a:avLst/>
          </a:prstGeom>
        </p:spPr>
        <p:txBody>
          <a:bodyPr/>
          <a:lstStyle/>
          <a:p>
            <a:pPr/>
          </a:p>
        </p:txBody>
      </p:sp>
      <p:sp>
        <p:nvSpPr>
          <p:cNvPr id="461" name="Shape 461"/>
          <p:cNvSpPr/>
          <p:nvPr>
            <p:ph type="body" sz="quarter" idx="1"/>
          </p:nvPr>
        </p:nvSpPr>
        <p:spPr>
          <a:prstGeom prst="rect">
            <a:avLst/>
          </a:prstGeom>
        </p:spPr>
        <p:txBody>
          <a:bodyPr/>
          <a:lstStyle/>
          <a:p>
            <a:pPr/>
            <a:r>
              <a:t>The system is deliberately accessible: a self-contained Java console application over a plain TXT corpus, with no proprietary dataset. It's organized as modular algorithm classes, demonstrable directly through Eclipse, and every run is reproducible and traceable — the request history shown here logs thirteen distinct requests from our demonstration, USR001 through USR013.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Shape 494"/>
          <p:cNvSpPr/>
          <p:nvPr>
            <p:ph type="sldImg"/>
          </p:nvPr>
        </p:nvSpPr>
        <p:spPr>
          <a:prstGeom prst="rect">
            <a:avLst/>
          </a:prstGeom>
        </p:spPr>
        <p:txBody>
          <a:bodyPr/>
          <a:lstStyle/>
          <a:p>
            <a:pPr/>
          </a:p>
        </p:txBody>
      </p:sp>
      <p:sp>
        <p:nvSpPr>
          <p:cNvPr id="495" name="Shape 495"/>
          <p:cNvSpPr/>
          <p:nvPr>
            <p:ph type="body" sz="quarter" idx="1"/>
          </p:nvPr>
        </p:nvSpPr>
        <p:spPr>
          <a:prstGeom prst="rect">
            <a:avLst/>
          </a:prstGeom>
        </p:spPr>
        <p:txBody>
          <a:bodyPr/>
          <a:lstStyle/>
          <a:p>
            <a:pPr/>
            <a:r>
              <a:t>We're direct about scope: our resources are logical scheduler models, the corpus is a controlled 10-document set, and the similarity metric is structural rather than semantic. Runtime numbers are specific to this workload and machine. The clear next steps are a larger real-world corpus, more workload types, stronger runtime prediction, adaptive resource discovery, a visualization dashboard, a larger benchmark study, and eventually real distributed execution.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Shape 514"/>
          <p:cNvSpPr/>
          <p:nvPr>
            <p:ph type="sldImg"/>
          </p:nvPr>
        </p:nvSpPr>
        <p:spPr>
          <a:prstGeom prst="rect">
            <a:avLst/>
          </a:prstGeom>
        </p:spPr>
        <p:txBody>
          <a:bodyPr/>
          <a:lstStyle/>
          <a:p>
            <a:pPr/>
          </a:p>
        </p:txBody>
      </p:sp>
      <p:sp>
        <p:nvSpPr>
          <p:cNvPr id="515" name="Shape 515"/>
          <p:cNvSpPr/>
          <p:nvPr>
            <p:ph type="body" sz="quarter" idx="1"/>
          </p:nvPr>
        </p:nvSpPr>
        <p:spPr>
          <a:prstGeom prst="rect">
            <a:avLst/>
          </a:prstGeom>
        </p:spPr>
        <p:txBody>
          <a:bodyPr/>
          <a:lstStyle/>
          <a:p>
            <a:pPr/>
            <a:r>
              <a:t>To conclude: we converted the Review-2 scheduling concept into a working text-processing prototype, integrated our DSA-3 algorithms with dependency-, resource- and runtime-aware scheduling, and demonstrated successful multi-stage execution with measurable results. As we noted at Review-2 — intelligent scheduling is not about running more tasks, it's about running the right task, at the right time, with the right resources. Thank you.</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38"/>
        </a:solidFill>
      </p:bgPr>
    </p:bg>
    <p:spTree>
      <p:nvGrpSpPr>
        <p:cNvPr id="1" name=""/>
        <p:cNvGrpSpPr/>
        <p:nvPr/>
      </p:nvGrpSpPr>
      <p:grpSpPr>
        <a:xfrm>
          <a:off x="0" y="0"/>
          <a:ext cx="0" cy="0"/>
          <a:chOff x="0" y="0"/>
          <a:chExt cx="0" cy="0"/>
        </a:xfrm>
      </p:grpSpPr>
      <p:sp>
        <p:nvSpPr>
          <p:cNvPr id="20" name="Text 0"/>
          <p:cNvSpPr txBox="1"/>
          <p:nvPr/>
        </p:nvSpPr>
        <p:spPr>
          <a:xfrm>
            <a:off x="548639" y="527226"/>
            <a:ext cx="7223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6FA8D8"/>
                </a:solidFill>
              </a:defRPr>
            </a:lvl1pPr>
          </a:lstStyle>
          <a:p>
            <a:pPr/>
            <a:r>
              <a:t>DSA-3 · PBL FINAL REVIEW</a:t>
            </a:r>
          </a:p>
        </p:txBody>
      </p:sp>
      <p:sp>
        <p:nvSpPr>
          <p:cNvPr id="21" name="Text 1"/>
          <p:cNvSpPr txBox="1"/>
          <p:nvPr/>
        </p:nvSpPr>
        <p:spPr>
          <a:xfrm>
            <a:off x="548639" y="1095033"/>
            <a:ext cx="8686802" cy="110177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ts val="4000"/>
              </a:lnSpc>
              <a:defRPr sz="3400">
                <a:solidFill>
                  <a:srgbClr val="FFFFFF"/>
                </a:solidFill>
                <a:latin typeface="Cambria"/>
                <a:ea typeface="Cambria"/>
                <a:cs typeface="Cambria"/>
                <a:sym typeface="Cambria"/>
              </a:defRPr>
            </a:pPr>
            <a:r>
              <a:t>INTELLIGENT RESOURCE SCHEDULING</a:t>
            </a:r>
          </a:p>
          <a:p>
            <a:pPr>
              <a:lnSpc>
                <a:spcPts val="4000"/>
              </a:lnSpc>
              <a:defRPr sz="3400">
                <a:solidFill>
                  <a:srgbClr val="FFFFFF"/>
                </a:solidFill>
                <a:latin typeface="Cambria"/>
                <a:ea typeface="Cambria"/>
                <a:cs typeface="Cambria"/>
                <a:sym typeface="Cambria"/>
              </a:defRPr>
            </a:pPr>
            <a:r>
              <a:t>FOR TEXT PROCESSING PIPELINES</a:t>
            </a:r>
          </a:p>
        </p:txBody>
      </p:sp>
      <p:sp>
        <p:nvSpPr>
          <p:cNvPr id="22" name="Shape 2"/>
          <p:cNvSpPr/>
          <p:nvPr/>
        </p:nvSpPr>
        <p:spPr>
          <a:xfrm>
            <a:off x="502919" y="2514600"/>
            <a:ext cx="2331722" cy="384048"/>
          </a:xfrm>
          <a:prstGeom prst="roundRect">
            <a:avLst>
              <a:gd name="adj" fmla="val 50000"/>
            </a:avLst>
          </a:prstGeom>
          <a:solidFill>
            <a:srgbClr val="173268"/>
          </a:solidFill>
          <a:ln w="12700">
            <a:miter lim="400000"/>
          </a:ln>
        </p:spPr>
        <p:txBody>
          <a:bodyPr lIns="45719" rIns="45719"/>
          <a:lstStyle/>
          <a:p>
            <a:pPr/>
          </a:p>
        </p:txBody>
      </p:sp>
      <p:sp>
        <p:nvSpPr>
          <p:cNvPr id="23" name="Text 3"/>
          <p:cNvSpPr txBox="1"/>
          <p:nvPr/>
        </p:nvSpPr>
        <p:spPr>
          <a:xfrm>
            <a:off x="557783" y="2628191"/>
            <a:ext cx="222199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8FD4D9"/>
                </a:solidFill>
              </a:defRPr>
            </a:lvl1pPr>
          </a:lstStyle>
          <a:p>
            <a:pPr/>
            <a:r>
              <a:t>PBL REVIEW 3</a:t>
            </a:r>
          </a:p>
        </p:txBody>
      </p:sp>
      <p:sp>
        <p:nvSpPr>
          <p:cNvPr id="24" name="Text 4"/>
          <p:cNvSpPr txBox="1"/>
          <p:nvPr/>
        </p:nvSpPr>
        <p:spPr>
          <a:xfrm>
            <a:off x="548639" y="3151554"/>
            <a:ext cx="26517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6FA8D8"/>
                </a:solidFill>
              </a:defRPr>
            </a:lvl1pPr>
          </a:lstStyle>
          <a:p>
            <a:pPr/>
            <a:r>
              <a:t>Team</a:t>
            </a:r>
          </a:p>
        </p:txBody>
      </p:sp>
      <p:sp>
        <p:nvSpPr>
          <p:cNvPr id="25" name="Text 5"/>
          <p:cNvSpPr txBox="1"/>
          <p:nvPr/>
        </p:nvSpPr>
        <p:spPr>
          <a:xfrm>
            <a:off x="548639" y="3829489"/>
            <a:ext cx="5029202" cy="5249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spcBef>
                <a:spcPts val="500"/>
              </a:spcBef>
              <a:defRPr sz="1300">
                <a:solidFill>
                  <a:srgbClr val="D7E1F5"/>
                </a:solidFill>
              </a:defRPr>
            </a:pPr>
            <a:r>
              <a:t>2510030287 — Kollu Sree Lasya                 2510030022 — Shrenika Reddy</a:t>
            </a:r>
          </a:p>
          <a:p>
            <a:pPr>
              <a:spcBef>
                <a:spcPts val="500"/>
              </a:spcBef>
              <a:defRPr sz="1300">
                <a:solidFill>
                  <a:srgbClr val="D7E1F5"/>
                </a:solidFill>
              </a:defRPr>
            </a:pPr>
            <a:r>
              <a:t>2510030101 — Pasham Meghana              2510030130 — Rishikha Reddy</a:t>
            </a:r>
          </a:p>
        </p:txBody>
      </p:sp>
      <p:sp>
        <p:nvSpPr>
          <p:cNvPr id="26" name="Text 6"/>
          <p:cNvSpPr txBox="1"/>
          <p:nvPr/>
        </p:nvSpPr>
        <p:spPr>
          <a:xfrm>
            <a:off x="548639" y="4916346"/>
            <a:ext cx="539496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6FA8D8"/>
                </a:solidFill>
              </a:defRPr>
            </a:lvl1pPr>
          </a:lstStyle>
          <a:p>
            <a:pPr/>
            <a:r>
              <a:t>SYSTEM DATA FLOW</a:t>
            </a:r>
          </a:p>
        </p:txBody>
      </p:sp>
      <p:sp>
        <p:nvSpPr>
          <p:cNvPr id="27" name="Shape 7"/>
          <p:cNvSpPr/>
          <p:nvPr/>
        </p:nvSpPr>
        <p:spPr>
          <a:xfrm>
            <a:off x="502919" y="5349240"/>
            <a:ext cx="1711911" cy="868681"/>
          </a:xfrm>
          <a:prstGeom prst="roundRect">
            <a:avLst>
              <a:gd name="adj" fmla="val 9474"/>
            </a:avLst>
          </a:prstGeom>
          <a:solidFill>
            <a:srgbClr val="132A5E"/>
          </a:solidFill>
          <a:ln w="15875">
            <a:solidFill>
              <a:srgbClr val="0E7C86"/>
            </a:solidFill>
          </a:ln>
        </p:spPr>
        <p:txBody>
          <a:bodyPr lIns="45719" rIns="45719"/>
          <a:lstStyle/>
          <a:p>
            <a:pPr/>
          </a:p>
        </p:txBody>
      </p:sp>
      <p:sp>
        <p:nvSpPr>
          <p:cNvPr id="28" name="Shape 8"/>
          <p:cNvSpPr/>
          <p:nvPr/>
        </p:nvSpPr>
        <p:spPr>
          <a:xfrm>
            <a:off x="1276578" y="5477255"/>
            <a:ext cx="164593" cy="164593"/>
          </a:xfrm>
          <a:prstGeom prst="ellipse">
            <a:avLst/>
          </a:prstGeom>
          <a:solidFill>
            <a:srgbClr val="0E7C86"/>
          </a:solidFill>
          <a:ln w="12700">
            <a:miter lim="400000"/>
          </a:ln>
        </p:spPr>
        <p:txBody>
          <a:bodyPr lIns="45719" rIns="45719"/>
          <a:lstStyle/>
          <a:p>
            <a:pPr/>
          </a:p>
        </p:txBody>
      </p:sp>
      <p:sp>
        <p:nvSpPr>
          <p:cNvPr id="29" name="Text 9"/>
          <p:cNvSpPr txBox="1"/>
          <p:nvPr/>
        </p:nvSpPr>
        <p:spPr>
          <a:xfrm>
            <a:off x="548640"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Documents</a:t>
            </a:r>
          </a:p>
        </p:txBody>
      </p:sp>
      <p:sp>
        <p:nvSpPr>
          <p:cNvPr id="30" name="Text 10"/>
          <p:cNvSpPr txBox="1"/>
          <p:nvPr/>
        </p:nvSpPr>
        <p:spPr>
          <a:xfrm>
            <a:off x="2214828" y="5679003"/>
            <a:ext cx="182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FA8D8"/>
                </a:solidFill>
              </a:defRPr>
            </a:lvl1pPr>
          </a:lstStyle>
          <a:p>
            <a:pPr/>
            <a:r>
              <a:t>→</a:t>
            </a:r>
          </a:p>
        </p:txBody>
      </p:sp>
      <p:sp>
        <p:nvSpPr>
          <p:cNvPr id="31" name="Shape 11"/>
          <p:cNvSpPr/>
          <p:nvPr/>
        </p:nvSpPr>
        <p:spPr>
          <a:xfrm>
            <a:off x="2397709" y="5349240"/>
            <a:ext cx="1711910" cy="868681"/>
          </a:xfrm>
          <a:prstGeom prst="roundRect">
            <a:avLst>
              <a:gd name="adj" fmla="val 9474"/>
            </a:avLst>
          </a:prstGeom>
          <a:solidFill>
            <a:srgbClr val="132A5E"/>
          </a:solidFill>
          <a:ln w="15875">
            <a:solidFill>
              <a:srgbClr val="1F5FB0"/>
            </a:solidFill>
          </a:ln>
        </p:spPr>
        <p:txBody>
          <a:bodyPr lIns="45719" rIns="45719"/>
          <a:lstStyle/>
          <a:p>
            <a:pPr/>
          </a:p>
        </p:txBody>
      </p:sp>
      <p:sp>
        <p:nvSpPr>
          <p:cNvPr id="32" name="Shape 12"/>
          <p:cNvSpPr/>
          <p:nvPr/>
        </p:nvSpPr>
        <p:spPr>
          <a:xfrm>
            <a:off x="3171368" y="5477255"/>
            <a:ext cx="164593" cy="164593"/>
          </a:xfrm>
          <a:prstGeom prst="ellipse">
            <a:avLst/>
          </a:prstGeom>
          <a:solidFill>
            <a:srgbClr val="1F5FB0"/>
          </a:solidFill>
          <a:ln w="12700">
            <a:miter lim="400000"/>
          </a:ln>
        </p:spPr>
        <p:txBody>
          <a:bodyPr lIns="45719" rIns="45719"/>
          <a:lstStyle/>
          <a:p>
            <a:pPr/>
          </a:p>
        </p:txBody>
      </p:sp>
      <p:sp>
        <p:nvSpPr>
          <p:cNvPr id="33" name="Text 13"/>
          <p:cNvSpPr txBox="1"/>
          <p:nvPr/>
        </p:nvSpPr>
        <p:spPr>
          <a:xfrm>
            <a:off x="2443428"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User Request</a:t>
            </a:r>
          </a:p>
        </p:txBody>
      </p:sp>
      <p:sp>
        <p:nvSpPr>
          <p:cNvPr id="34" name="Text 14"/>
          <p:cNvSpPr txBox="1"/>
          <p:nvPr/>
        </p:nvSpPr>
        <p:spPr>
          <a:xfrm>
            <a:off x="4109618" y="5679003"/>
            <a:ext cx="182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FA8D8"/>
                </a:solidFill>
              </a:defRPr>
            </a:lvl1pPr>
          </a:lstStyle>
          <a:p>
            <a:pPr/>
            <a:r>
              <a:t>→</a:t>
            </a:r>
          </a:p>
        </p:txBody>
      </p:sp>
      <p:sp>
        <p:nvSpPr>
          <p:cNvPr id="35" name="Shape 15"/>
          <p:cNvSpPr/>
          <p:nvPr/>
        </p:nvSpPr>
        <p:spPr>
          <a:xfrm>
            <a:off x="4292498" y="5349240"/>
            <a:ext cx="1711910" cy="868681"/>
          </a:xfrm>
          <a:prstGeom prst="roundRect">
            <a:avLst>
              <a:gd name="adj" fmla="val 9474"/>
            </a:avLst>
          </a:prstGeom>
          <a:solidFill>
            <a:srgbClr val="132A5E"/>
          </a:solidFill>
          <a:ln w="15875">
            <a:solidFill>
              <a:srgbClr val="6C4AB6"/>
            </a:solidFill>
          </a:ln>
        </p:spPr>
        <p:txBody>
          <a:bodyPr lIns="45719" rIns="45719"/>
          <a:lstStyle/>
          <a:p>
            <a:pPr/>
          </a:p>
        </p:txBody>
      </p:sp>
      <p:sp>
        <p:nvSpPr>
          <p:cNvPr id="36" name="Shape 16"/>
          <p:cNvSpPr/>
          <p:nvPr/>
        </p:nvSpPr>
        <p:spPr>
          <a:xfrm>
            <a:off x="5066157" y="5477255"/>
            <a:ext cx="164593" cy="164593"/>
          </a:xfrm>
          <a:prstGeom prst="ellipse">
            <a:avLst/>
          </a:prstGeom>
          <a:solidFill>
            <a:srgbClr val="6C4AB6"/>
          </a:solidFill>
          <a:ln w="12700">
            <a:miter lim="400000"/>
          </a:ln>
        </p:spPr>
        <p:txBody>
          <a:bodyPr lIns="45719" rIns="45719"/>
          <a:lstStyle/>
          <a:p>
            <a:pPr/>
          </a:p>
        </p:txBody>
      </p:sp>
      <p:sp>
        <p:nvSpPr>
          <p:cNvPr id="37" name="Text 17"/>
          <p:cNvSpPr txBox="1"/>
          <p:nvPr/>
        </p:nvSpPr>
        <p:spPr>
          <a:xfrm>
            <a:off x="4338218"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Tasks</a:t>
            </a:r>
          </a:p>
        </p:txBody>
      </p:sp>
      <p:sp>
        <p:nvSpPr>
          <p:cNvPr id="38" name="Text 18"/>
          <p:cNvSpPr txBox="1"/>
          <p:nvPr/>
        </p:nvSpPr>
        <p:spPr>
          <a:xfrm>
            <a:off x="6004407" y="5679003"/>
            <a:ext cx="182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FA8D8"/>
                </a:solidFill>
              </a:defRPr>
            </a:lvl1pPr>
          </a:lstStyle>
          <a:p>
            <a:pPr/>
            <a:r>
              <a:t>→</a:t>
            </a:r>
          </a:p>
        </p:txBody>
      </p:sp>
      <p:sp>
        <p:nvSpPr>
          <p:cNvPr id="39" name="Shape 19"/>
          <p:cNvSpPr/>
          <p:nvPr/>
        </p:nvSpPr>
        <p:spPr>
          <a:xfrm>
            <a:off x="6187287" y="5349240"/>
            <a:ext cx="1711910" cy="868681"/>
          </a:xfrm>
          <a:prstGeom prst="roundRect">
            <a:avLst>
              <a:gd name="adj" fmla="val 9474"/>
            </a:avLst>
          </a:prstGeom>
          <a:solidFill>
            <a:srgbClr val="132A5E"/>
          </a:solidFill>
          <a:ln w="15875">
            <a:solidFill>
              <a:srgbClr val="0E7C86"/>
            </a:solidFill>
          </a:ln>
        </p:spPr>
        <p:txBody>
          <a:bodyPr lIns="45719" rIns="45719"/>
          <a:lstStyle/>
          <a:p>
            <a:pPr/>
          </a:p>
        </p:txBody>
      </p:sp>
      <p:sp>
        <p:nvSpPr>
          <p:cNvPr id="40" name="Shape 20"/>
          <p:cNvSpPr/>
          <p:nvPr/>
        </p:nvSpPr>
        <p:spPr>
          <a:xfrm>
            <a:off x="6960945" y="5477255"/>
            <a:ext cx="164593" cy="164593"/>
          </a:xfrm>
          <a:prstGeom prst="ellipse">
            <a:avLst/>
          </a:prstGeom>
          <a:solidFill>
            <a:srgbClr val="0E7C86"/>
          </a:solidFill>
          <a:ln w="12700">
            <a:miter lim="400000"/>
          </a:ln>
        </p:spPr>
        <p:txBody>
          <a:bodyPr lIns="45719" rIns="45719"/>
          <a:lstStyle/>
          <a:p>
            <a:pPr/>
          </a:p>
        </p:txBody>
      </p:sp>
      <p:sp>
        <p:nvSpPr>
          <p:cNvPr id="41" name="Text 21"/>
          <p:cNvSpPr txBox="1"/>
          <p:nvPr/>
        </p:nvSpPr>
        <p:spPr>
          <a:xfrm>
            <a:off x="6233007"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Scheduler</a:t>
            </a:r>
          </a:p>
        </p:txBody>
      </p:sp>
      <p:sp>
        <p:nvSpPr>
          <p:cNvPr id="42" name="Text 22"/>
          <p:cNvSpPr txBox="1"/>
          <p:nvPr/>
        </p:nvSpPr>
        <p:spPr>
          <a:xfrm>
            <a:off x="7899196" y="5679003"/>
            <a:ext cx="182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FA8D8"/>
                </a:solidFill>
              </a:defRPr>
            </a:lvl1pPr>
          </a:lstStyle>
          <a:p>
            <a:pPr/>
            <a:r>
              <a:t>→</a:t>
            </a:r>
          </a:p>
        </p:txBody>
      </p:sp>
      <p:sp>
        <p:nvSpPr>
          <p:cNvPr id="43" name="Shape 23"/>
          <p:cNvSpPr/>
          <p:nvPr/>
        </p:nvSpPr>
        <p:spPr>
          <a:xfrm>
            <a:off x="8082077" y="5349240"/>
            <a:ext cx="1711910" cy="868681"/>
          </a:xfrm>
          <a:prstGeom prst="roundRect">
            <a:avLst>
              <a:gd name="adj" fmla="val 9474"/>
            </a:avLst>
          </a:prstGeom>
          <a:solidFill>
            <a:srgbClr val="132A5E"/>
          </a:solidFill>
          <a:ln w="15875">
            <a:solidFill>
              <a:srgbClr val="1F5FB0"/>
            </a:solidFill>
          </a:ln>
        </p:spPr>
        <p:txBody>
          <a:bodyPr lIns="45719" rIns="45719"/>
          <a:lstStyle/>
          <a:p>
            <a:pPr/>
          </a:p>
        </p:txBody>
      </p:sp>
      <p:sp>
        <p:nvSpPr>
          <p:cNvPr id="44" name="Shape 24"/>
          <p:cNvSpPr/>
          <p:nvPr/>
        </p:nvSpPr>
        <p:spPr>
          <a:xfrm>
            <a:off x="8855734" y="5477255"/>
            <a:ext cx="164593" cy="164593"/>
          </a:xfrm>
          <a:prstGeom prst="ellipse">
            <a:avLst/>
          </a:prstGeom>
          <a:solidFill>
            <a:srgbClr val="1F5FB0"/>
          </a:solidFill>
          <a:ln w="12700">
            <a:miter lim="400000"/>
          </a:ln>
        </p:spPr>
        <p:txBody>
          <a:bodyPr lIns="45719" rIns="45719"/>
          <a:lstStyle/>
          <a:p>
            <a:pPr/>
          </a:p>
        </p:txBody>
      </p:sp>
      <p:sp>
        <p:nvSpPr>
          <p:cNvPr id="45" name="Text 25"/>
          <p:cNvSpPr txBox="1"/>
          <p:nvPr/>
        </p:nvSpPr>
        <p:spPr>
          <a:xfrm>
            <a:off x="8127796"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Resources</a:t>
            </a:r>
          </a:p>
        </p:txBody>
      </p:sp>
      <p:sp>
        <p:nvSpPr>
          <p:cNvPr id="46" name="Text 26"/>
          <p:cNvSpPr txBox="1"/>
          <p:nvPr/>
        </p:nvSpPr>
        <p:spPr>
          <a:xfrm>
            <a:off x="9793985" y="5679003"/>
            <a:ext cx="1828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FA8D8"/>
                </a:solidFill>
              </a:defRPr>
            </a:lvl1pPr>
          </a:lstStyle>
          <a:p>
            <a:pPr/>
            <a:r>
              <a:t>→</a:t>
            </a:r>
          </a:p>
        </p:txBody>
      </p:sp>
      <p:sp>
        <p:nvSpPr>
          <p:cNvPr id="47" name="Shape 27"/>
          <p:cNvSpPr/>
          <p:nvPr/>
        </p:nvSpPr>
        <p:spPr>
          <a:xfrm>
            <a:off x="9976866" y="5349240"/>
            <a:ext cx="1711910" cy="868681"/>
          </a:xfrm>
          <a:prstGeom prst="roundRect">
            <a:avLst>
              <a:gd name="adj" fmla="val 9474"/>
            </a:avLst>
          </a:prstGeom>
          <a:solidFill>
            <a:srgbClr val="132A5E"/>
          </a:solidFill>
          <a:ln w="15875">
            <a:solidFill>
              <a:srgbClr val="6C4AB6"/>
            </a:solidFill>
          </a:ln>
        </p:spPr>
        <p:txBody>
          <a:bodyPr lIns="45719" rIns="45719"/>
          <a:lstStyle/>
          <a:p>
            <a:pPr/>
          </a:p>
        </p:txBody>
      </p:sp>
      <p:sp>
        <p:nvSpPr>
          <p:cNvPr id="48" name="Shape 28"/>
          <p:cNvSpPr/>
          <p:nvPr/>
        </p:nvSpPr>
        <p:spPr>
          <a:xfrm>
            <a:off x="10750525" y="5477255"/>
            <a:ext cx="164593" cy="164593"/>
          </a:xfrm>
          <a:prstGeom prst="ellipse">
            <a:avLst/>
          </a:prstGeom>
          <a:solidFill>
            <a:srgbClr val="6C4AB6"/>
          </a:solidFill>
          <a:ln w="12700">
            <a:miter lim="400000"/>
          </a:ln>
        </p:spPr>
        <p:txBody>
          <a:bodyPr lIns="45719" rIns="45719"/>
          <a:lstStyle/>
          <a:p>
            <a:pPr/>
          </a:p>
        </p:txBody>
      </p:sp>
      <p:sp>
        <p:nvSpPr>
          <p:cNvPr id="49" name="Text 29"/>
          <p:cNvSpPr txBox="1"/>
          <p:nvPr/>
        </p:nvSpPr>
        <p:spPr>
          <a:xfrm>
            <a:off x="10022585" y="5714999"/>
            <a:ext cx="162047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1100">
                <a:solidFill>
                  <a:srgbClr val="FFFFFF"/>
                </a:solidFill>
              </a:defRPr>
            </a:lvl1pPr>
          </a:lstStyle>
          <a:p>
            <a:pPr/>
            <a:r>
              <a:t>Results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0E7C86"/>
                </a:solidFill>
              </a:defRPr>
            </a:lvl1pPr>
          </a:lstStyle>
          <a:p>
            <a:pPr/>
            <a:r>
              <a:t>PROGRESS OVERVIEW</a:t>
            </a:r>
          </a:p>
        </p:txBody>
      </p:sp>
      <p:sp>
        <p:nvSpPr>
          <p:cNvPr id="5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FROM PROPOSED CONCEPT TO WORKING SYSTEM</a:t>
            </a:r>
          </a:p>
        </p:txBody>
      </p:sp>
      <p:sp>
        <p:nvSpPr>
          <p:cNvPr id="55" name="Text 2"/>
          <p:cNvSpPr txBox="1"/>
          <p:nvPr/>
        </p:nvSpPr>
        <p:spPr>
          <a:xfrm>
            <a:off x="548639" y="1224211"/>
            <a:ext cx="11094417"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C7690"/>
                </a:solidFill>
              </a:defRPr>
            </a:lvl1pPr>
          </a:lstStyle>
          <a:p>
            <a:pPr/>
            <a:r>
              <a:t>Review-2 planned an architecture. Review-3 demonstrates it running end to end.</a:t>
            </a:r>
          </a:p>
        </p:txBody>
      </p:sp>
      <p:sp>
        <p:nvSpPr>
          <p:cNvPr id="56" name="Shape 3"/>
          <p:cNvSpPr/>
          <p:nvPr/>
        </p:nvSpPr>
        <p:spPr>
          <a:xfrm>
            <a:off x="502919" y="1874520"/>
            <a:ext cx="3246122" cy="4160521"/>
          </a:xfrm>
          <a:prstGeom prst="roundRect">
            <a:avLst>
              <a:gd name="adj" fmla="val 2254"/>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57" name="Text 4"/>
          <p:cNvSpPr txBox="1"/>
          <p:nvPr/>
        </p:nvSpPr>
        <p:spPr>
          <a:xfrm>
            <a:off x="777239" y="2093267"/>
            <a:ext cx="26974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6C7690"/>
                </a:solidFill>
              </a:defRPr>
            </a:lvl1pPr>
          </a:lstStyle>
          <a:p>
            <a:pPr/>
            <a:r>
              <a:t>REVIEW 2 — PROPOSED</a:t>
            </a:r>
          </a:p>
        </p:txBody>
      </p:sp>
      <p:sp>
        <p:nvSpPr>
          <p:cNvPr id="58" name="Shape 5"/>
          <p:cNvSpPr/>
          <p:nvPr/>
        </p:nvSpPr>
        <p:spPr>
          <a:xfrm>
            <a:off x="731519" y="2560320"/>
            <a:ext cx="2788922" cy="457201"/>
          </a:xfrm>
          <a:prstGeom prst="roundRect">
            <a:avLst>
              <a:gd name="adj" fmla="val 50000"/>
            </a:avLst>
          </a:prstGeom>
          <a:solidFill>
            <a:srgbClr val="FFFFFF"/>
          </a:solidFill>
          <a:ln w="12700">
            <a:miter lim="400000"/>
          </a:ln>
        </p:spPr>
        <p:txBody>
          <a:bodyPr lIns="45719" rIns="45719"/>
          <a:lstStyle/>
          <a:p>
            <a:pPr/>
          </a:p>
        </p:txBody>
      </p:sp>
      <p:sp>
        <p:nvSpPr>
          <p:cNvPr id="59" name="Text 6"/>
          <p:cNvSpPr txBox="1"/>
          <p:nvPr/>
        </p:nvSpPr>
        <p:spPr>
          <a:xfrm>
            <a:off x="786383" y="2710487"/>
            <a:ext cx="267919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3A4566"/>
                </a:solidFill>
              </a:defRPr>
            </a:lvl1pPr>
          </a:lstStyle>
          <a:p>
            <a:pPr/>
            <a:r>
              <a:t>Literature review</a:t>
            </a:r>
          </a:p>
        </p:txBody>
      </p:sp>
      <p:sp>
        <p:nvSpPr>
          <p:cNvPr id="60" name="Text 7"/>
          <p:cNvSpPr txBox="1"/>
          <p:nvPr/>
        </p:nvSpPr>
        <p:spPr>
          <a:xfrm>
            <a:off x="731519" y="3031815"/>
            <a:ext cx="27889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61" name="Shape 8"/>
          <p:cNvSpPr/>
          <p:nvPr/>
        </p:nvSpPr>
        <p:spPr>
          <a:xfrm>
            <a:off x="731519" y="3291840"/>
            <a:ext cx="2788922" cy="457201"/>
          </a:xfrm>
          <a:prstGeom prst="roundRect">
            <a:avLst>
              <a:gd name="adj" fmla="val 50000"/>
            </a:avLst>
          </a:prstGeom>
          <a:solidFill>
            <a:srgbClr val="FFFFFF"/>
          </a:solidFill>
          <a:ln w="12700">
            <a:miter lim="400000"/>
          </a:ln>
        </p:spPr>
        <p:txBody>
          <a:bodyPr lIns="45719" rIns="45719"/>
          <a:lstStyle/>
          <a:p>
            <a:pPr/>
          </a:p>
        </p:txBody>
      </p:sp>
      <p:sp>
        <p:nvSpPr>
          <p:cNvPr id="62" name="Text 9"/>
          <p:cNvSpPr txBox="1"/>
          <p:nvPr/>
        </p:nvSpPr>
        <p:spPr>
          <a:xfrm>
            <a:off x="786383" y="3442007"/>
            <a:ext cx="267919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3A4566"/>
                </a:solidFill>
              </a:defRPr>
            </a:lvl1pPr>
          </a:lstStyle>
          <a:p>
            <a:pPr/>
            <a:r>
              <a:t>Airflow / Spark / HEFT analysis</a:t>
            </a:r>
          </a:p>
        </p:txBody>
      </p:sp>
      <p:sp>
        <p:nvSpPr>
          <p:cNvPr id="63" name="Text 10"/>
          <p:cNvSpPr txBox="1"/>
          <p:nvPr/>
        </p:nvSpPr>
        <p:spPr>
          <a:xfrm>
            <a:off x="731519" y="3763335"/>
            <a:ext cx="27889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64" name="Shape 11"/>
          <p:cNvSpPr/>
          <p:nvPr/>
        </p:nvSpPr>
        <p:spPr>
          <a:xfrm>
            <a:off x="731519" y="4023359"/>
            <a:ext cx="2788922" cy="457201"/>
          </a:xfrm>
          <a:prstGeom prst="roundRect">
            <a:avLst>
              <a:gd name="adj" fmla="val 50000"/>
            </a:avLst>
          </a:prstGeom>
          <a:solidFill>
            <a:srgbClr val="FFFFFF"/>
          </a:solidFill>
          <a:ln w="12700">
            <a:miter lim="400000"/>
          </a:ln>
        </p:spPr>
        <p:txBody>
          <a:bodyPr lIns="45719" rIns="45719"/>
          <a:lstStyle/>
          <a:p>
            <a:pPr/>
          </a:p>
        </p:txBody>
      </p:sp>
      <p:sp>
        <p:nvSpPr>
          <p:cNvPr id="65" name="Text 12"/>
          <p:cNvSpPr txBox="1"/>
          <p:nvPr/>
        </p:nvSpPr>
        <p:spPr>
          <a:xfrm>
            <a:off x="786383" y="4173527"/>
            <a:ext cx="267919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3A4566"/>
                </a:solidFill>
              </a:defRPr>
            </a:lvl1pPr>
          </a:lstStyle>
          <a:p>
            <a:pPr/>
            <a:r>
              <a:t>Identified scheduling gap</a:t>
            </a:r>
          </a:p>
        </p:txBody>
      </p:sp>
      <p:sp>
        <p:nvSpPr>
          <p:cNvPr id="66" name="Text 13"/>
          <p:cNvSpPr txBox="1"/>
          <p:nvPr/>
        </p:nvSpPr>
        <p:spPr>
          <a:xfrm>
            <a:off x="731519" y="4494854"/>
            <a:ext cx="27889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67" name="Shape 14"/>
          <p:cNvSpPr/>
          <p:nvPr/>
        </p:nvSpPr>
        <p:spPr>
          <a:xfrm>
            <a:off x="731519" y="4754879"/>
            <a:ext cx="2788922" cy="457201"/>
          </a:xfrm>
          <a:prstGeom prst="roundRect">
            <a:avLst>
              <a:gd name="adj" fmla="val 50000"/>
            </a:avLst>
          </a:prstGeom>
          <a:solidFill>
            <a:srgbClr val="FFFFFF"/>
          </a:solidFill>
          <a:ln w="12700">
            <a:miter lim="400000"/>
          </a:ln>
        </p:spPr>
        <p:txBody>
          <a:bodyPr lIns="45719" rIns="45719"/>
          <a:lstStyle/>
          <a:p>
            <a:pPr/>
          </a:p>
        </p:txBody>
      </p:sp>
      <p:sp>
        <p:nvSpPr>
          <p:cNvPr id="68" name="Text 15"/>
          <p:cNvSpPr txBox="1"/>
          <p:nvPr/>
        </p:nvSpPr>
        <p:spPr>
          <a:xfrm>
            <a:off x="786383" y="4905047"/>
            <a:ext cx="267919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3A4566"/>
                </a:solidFill>
              </a:defRPr>
            </a:lvl1pPr>
          </a:lstStyle>
          <a:p>
            <a:pPr/>
            <a:r>
              <a:t>Proposed architecture</a:t>
            </a:r>
          </a:p>
        </p:txBody>
      </p:sp>
      <p:sp>
        <p:nvSpPr>
          <p:cNvPr id="69" name="Shape 16"/>
          <p:cNvSpPr/>
          <p:nvPr/>
        </p:nvSpPr>
        <p:spPr>
          <a:xfrm>
            <a:off x="4069079" y="1874520"/>
            <a:ext cx="3246121" cy="4160521"/>
          </a:xfrm>
          <a:prstGeom prst="roundRect">
            <a:avLst>
              <a:gd name="adj" fmla="val 2254"/>
            </a:avLst>
          </a:prstGeom>
          <a:solidFill>
            <a:srgbClr val="0E2A3E"/>
          </a:solidFill>
          <a:ln w="12700">
            <a:solidFill>
              <a:srgbClr val="0E2A3E"/>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70" name="Text 17"/>
          <p:cNvSpPr txBox="1"/>
          <p:nvPr/>
        </p:nvSpPr>
        <p:spPr>
          <a:xfrm>
            <a:off x="4343399" y="2093267"/>
            <a:ext cx="269748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8FE3C7"/>
                </a:solidFill>
              </a:defRPr>
            </a:lvl1pPr>
          </a:lstStyle>
          <a:p>
            <a:pPr/>
            <a:r>
              <a:t>REVIEW 3 — IMPLEMENTED</a:t>
            </a:r>
          </a:p>
        </p:txBody>
      </p:sp>
      <p:sp>
        <p:nvSpPr>
          <p:cNvPr id="71" name="Shape 18"/>
          <p:cNvSpPr/>
          <p:nvPr/>
        </p:nvSpPr>
        <p:spPr>
          <a:xfrm>
            <a:off x="4297679" y="2514600"/>
            <a:ext cx="2788921" cy="384048"/>
          </a:xfrm>
          <a:prstGeom prst="roundRect">
            <a:avLst>
              <a:gd name="adj" fmla="val 50000"/>
            </a:avLst>
          </a:prstGeom>
          <a:solidFill>
            <a:srgbClr val="144559"/>
          </a:solidFill>
          <a:ln w="12700">
            <a:miter lim="400000"/>
          </a:ln>
        </p:spPr>
        <p:txBody>
          <a:bodyPr lIns="45719" rIns="45719"/>
          <a:lstStyle/>
          <a:p>
            <a:pPr/>
          </a:p>
        </p:txBody>
      </p:sp>
      <p:sp>
        <p:nvSpPr>
          <p:cNvPr id="72" name="Text 19"/>
          <p:cNvSpPr txBox="1"/>
          <p:nvPr/>
        </p:nvSpPr>
        <p:spPr>
          <a:xfrm>
            <a:off x="4352543" y="2639490"/>
            <a:ext cx="267919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10-document corpus</a:t>
            </a:r>
          </a:p>
        </p:txBody>
      </p:sp>
      <p:sp>
        <p:nvSpPr>
          <p:cNvPr id="73" name="Text 20"/>
          <p:cNvSpPr txBox="1"/>
          <p:nvPr/>
        </p:nvSpPr>
        <p:spPr>
          <a:xfrm>
            <a:off x="4297679" y="2912943"/>
            <a:ext cx="278892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8FE3C7"/>
                </a:solidFill>
              </a:defRPr>
            </a:lvl1pPr>
          </a:lstStyle>
          <a:p>
            <a:pPr/>
            <a:r>
              <a:t>↓</a:t>
            </a:r>
          </a:p>
        </p:txBody>
      </p:sp>
      <p:sp>
        <p:nvSpPr>
          <p:cNvPr id="74" name="Shape 21"/>
          <p:cNvSpPr/>
          <p:nvPr/>
        </p:nvSpPr>
        <p:spPr>
          <a:xfrm>
            <a:off x="4297679" y="3099816"/>
            <a:ext cx="2788921" cy="384049"/>
          </a:xfrm>
          <a:prstGeom prst="roundRect">
            <a:avLst>
              <a:gd name="adj" fmla="val 50000"/>
            </a:avLst>
          </a:prstGeom>
          <a:solidFill>
            <a:srgbClr val="144559"/>
          </a:solidFill>
          <a:ln w="12700">
            <a:miter lim="400000"/>
          </a:ln>
        </p:spPr>
        <p:txBody>
          <a:bodyPr lIns="45719" rIns="45719"/>
          <a:lstStyle/>
          <a:p>
            <a:pPr/>
          </a:p>
        </p:txBody>
      </p:sp>
      <p:sp>
        <p:nvSpPr>
          <p:cNvPr id="75" name="Text 22"/>
          <p:cNvSpPr txBox="1"/>
          <p:nvPr/>
        </p:nvSpPr>
        <p:spPr>
          <a:xfrm>
            <a:off x="4352543" y="3224706"/>
            <a:ext cx="267919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Working text-processing engine</a:t>
            </a:r>
          </a:p>
        </p:txBody>
      </p:sp>
      <p:sp>
        <p:nvSpPr>
          <p:cNvPr id="76" name="Text 23"/>
          <p:cNvSpPr txBox="1"/>
          <p:nvPr/>
        </p:nvSpPr>
        <p:spPr>
          <a:xfrm>
            <a:off x="4297679" y="3498159"/>
            <a:ext cx="278892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8FE3C7"/>
                </a:solidFill>
              </a:defRPr>
            </a:lvl1pPr>
          </a:lstStyle>
          <a:p>
            <a:pPr/>
            <a:r>
              <a:t>↓</a:t>
            </a:r>
          </a:p>
        </p:txBody>
      </p:sp>
      <p:sp>
        <p:nvSpPr>
          <p:cNvPr id="77" name="Shape 24"/>
          <p:cNvSpPr/>
          <p:nvPr/>
        </p:nvSpPr>
        <p:spPr>
          <a:xfrm>
            <a:off x="4297679" y="3685032"/>
            <a:ext cx="2788921" cy="384049"/>
          </a:xfrm>
          <a:prstGeom prst="roundRect">
            <a:avLst>
              <a:gd name="adj" fmla="val 50000"/>
            </a:avLst>
          </a:prstGeom>
          <a:solidFill>
            <a:srgbClr val="144559"/>
          </a:solidFill>
          <a:ln w="12700">
            <a:miter lim="400000"/>
          </a:ln>
        </p:spPr>
        <p:txBody>
          <a:bodyPr lIns="45719" rIns="45719"/>
          <a:lstStyle/>
          <a:p>
            <a:pPr/>
          </a:p>
        </p:txBody>
      </p:sp>
      <p:sp>
        <p:nvSpPr>
          <p:cNvPr id="78" name="Text 25"/>
          <p:cNvSpPr txBox="1"/>
          <p:nvPr/>
        </p:nvSpPr>
        <p:spPr>
          <a:xfrm>
            <a:off x="4352543" y="3809922"/>
            <a:ext cx="267919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Runtime-aware scheduler</a:t>
            </a:r>
          </a:p>
        </p:txBody>
      </p:sp>
      <p:sp>
        <p:nvSpPr>
          <p:cNvPr id="79" name="Text 26"/>
          <p:cNvSpPr txBox="1"/>
          <p:nvPr/>
        </p:nvSpPr>
        <p:spPr>
          <a:xfrm>
            <a:off x="4297679" y="4083374"/>
            <a:ext cx="278892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8FE3C7"/>
                </a:solidFill>
              </a:defRPr>
            </a:lvl1pPr>
          </a:lstStyle>
          <a:p>
            <a:pPr/>
            <a:r>
              <a:t>↓</a:t>
            </a:r>
          </a:p>
        </p:txBody>
      </p:sp>
      <p:sp>
        <p:nvSpPr>
          <p:cNvPr id="80" name="Shape 27"/>
          <p:cNvSpPr/>
          <p:nvPr/>
        </p:nvSpPr>
        <p:spPr>
          <a:xfrm>
            <a:off x="4297679" y="4270247"/>
            <a:ext cx="2788921" cy="384049"/>
          </a:xfrm>
          <a:prstGeom prst="roundRect">
            <a:avLst>
              <a:gd name="adj" fmla="val 50000"/>
            </a:avLst>
          </a:prstGeom>
          <a:solidFill>
            <a:srgbClr val="144559"/>
          </a:solidFill>
          <a:ln w="12700">
            <a:miter lim="400000"/>
          </a:ln>
        </p:spPr>
        <p:txBody>
          <a:bodyPr lIns="45719" rIns="45719"/>
          <a:lstStyle/>
          <a:p>
            <a:pPr/>
          </a:p>
        </p:txBody>
      </p:sp>
      <p:sp>
        <p:nvSpPr>
          <p:cNvPr id="81" name="Text 28"/>
          <p:cNvSpPr txBox="1"/>
          <p:nvPr/>
        </p:nvSpPr>
        <p:spPr>
          <a:xfrm>
            <a:off x="4352543" y="4395137"/>
            <a:ext cx="267919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Parallel execution</a:t>
            </a:r>
          </a:p>
        </p:txBody>
      </p:sp>
      <p:sp>
        <p:nvSpPr>
          <p:cNvPr id="82" name="Text 29"/>
          <p:cNvSpPr txBox="1"/>
          <p:nvPr/>
        </p:nvSpPr>
        <p:spPr>
          <a:xfrm>
            <a:off x="4297679" y="4668591"/>
            <a:ext cx="278892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8FE3C7"/>
                </a:solidFill>
              </a:defRPr>
            </a:lvl1pPr>
          </a:lstStyle>
          <a:p>
            <a:pPr/>
            <a:r>
              <a:t>↓</a:t>
            </a:r>
          </a:p>
        </p:txBody>
      </p:sp>
      <p:sp>
        <p:nvSpPr>
          <p:cNvPr id="83" name="Shape 30"/>
          <p:cNvSpPr/>
          <p:nvPr/>
        </p:nvSpPr>
        <p:spPr>
          <a:xfrm>
            <a:off x="4297679" y="4855464"/>
            <a:ext cx="2788921" cy="384049"/>
          </a:xfrm>
          <a:prstGeom prst="roundRect">
            <a:avLst>
              <a:gd name="adj" fmla="val 50000"/>
            </a:avLst>
          </a:prstGeom>
          <a:solidFill>
            <a:srgbClr val="144559"/>
          </a:solidFill>
          <a:ln w="12700">
            <a:miter lim="400000"/>
          </a:ln>
        </p:spPr>
        <p:txBody>
          <a:bodyPr lIns="45719" rIns="45719"/>
          <a:lstStyle/>
          <a:p>
            <a:pPr/>
          </a:p>
        </p:txBody>
      </p:sp>
      <p:sp>
        <p:nvSpPr>
          <p:cNvPr id="84" name="Text 31"/>
          <p:cNvSpPr txBox="1"/>
          <p:nvPr/>
        </p:nvSpPr>
        <p:spPr>
          <a:xfrm>
            <a:off x="4352543" y="4980354"/>
            <a:ext cx="267919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Measured results</a:t>
            </a:r>
          </a:p>
        </p:txBody>
      </p:sp>
      <p:sp>
        <p:nvSpPr>
          <p:cNvPr id="85" name="Shape 35"/>
          <p:cNvSpPr/>
          <p:nvPr/>
        </p:nvSpPr>
        <p:spPr>
          <a:xfrm>
            <a:off x="8037576" y="2386583"/>
            <a:ext cx="100585" cy="100585"/>
          </a:xfrm>
          <a:prstGeom prst="ellipse">
            <a:avLst/>
          </a:prstGeom>
          <a:solidFill>
            <a:srgbClr val="E8B84B"/>
          </a:solidFill>
          <a:ln w="12700">
            <a:miter lim="400000"/>
          </a:ln>
        </p:spPr>
        <p:txBody>
          <a:bodyPr lIns="45719" rIns="45719"/>
          <a:lstStyle/>
          <a:p>
            <a:pPr/>
          </a:p>
        </p:txBody>
      </p:sp>
      <p:sp>
        <p:nvSpPr>
          <p:cNvPr id="86" name="Shape 36"/>
          <p:cNvSpPr/>
          <p:nvPr/>
        </p:nvSpPr>
        <p:spPr>
          <a:xfrm>
            <a:off x="8238743" y="2386583"/>
            <a:ext cx="100585" cy="100585"/>
          </a:xfrm>
          <a:prstGeom prst="ellipse">
            <a:avLst/>
          </a:prstGeom>
          <a:solidFill>
            <a:srgbClr val="59C36A"/>
          </a:solidFill>
          <a:ln w="12700">
            <a:miter lim="400000"/>
          </a:ln>
        </p:spPr>
        <p:txBody>
          <a:bodyPr lIns="45719" rIns="45719"/>
          <a:lstStyle/>
          <a:p>
            <a:pPr/>
          </a:p>
        </p:txBody>
      </p:sp>
      <p:sp>
        <p:nvSpPr>
          <p:cNvPr id="87" name="Text 37"/>
          <p:cNvSpPr txBox="1"/>
          <p:nvPr/>
        </p:nvSpPr>
        <p:spPr>
          <a:xfrm>
            <a:off x="8001000" y="3123247"/>
            <a:ext cx="3322015" cy="52006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25000"/>
              </a:lnSpc>
              <a:defRPr sz="1300">
                <a:solidFill>
                  <a:srgbClr val="8FE3C7"/>
                </a:solidFill>
                <a:latin typeface="Courier New"/>
                <a:ea typeface="Courier New"/>
                <a:cs typeface="Courier New"/>
                <a:sym typeface="Courier New"/>
              </a:defRPr>
            </a:pPr>
            <a:r>
              <a:t>[ INSERT SCREENSHOT ]</a:t>
            </a:r>
          </a:p>
          <a:p>
            <a:pPr algn="ctr">
              <a:lnSpc>
                <a:spcPct val="125000"/>
              </a:lnSpc>
              <a:defRPr sz="1300">
                <a:solidFill>
                  <a:srgbClr val="8FE3C7"/>
                </a:solidFill>
                <a:latin typeface="Courier New"/>
                <a:ea typeface="Courier New"/>
                <a:cs typeface="Courier New"/>
                <a:sym typeface="Courier New"/>
              </a:defRPr>
            </a:pPr>
            <a:r>
              <a:t>SYSTEM READY + MAIN MENU</a:t>
            </a:r>
          </a:p>
        </p:txBody>
      </p:sp>
      <p:sp>
        <p:nvSpPr>
          <p:cNvPr id="88" name="Text 38"/>
          <p:cNvSpPr txBox="1"/>
          <p:nvPr/>
        </p:nvSpPr>
        <p:spPr>
          <a:xfrm>
            <a:off x="7680960" y="4443774"/>
            <a:ext cx="3962096"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C7690"/>
                </a:solidFill>
              </a:defRPr>
            </a:lvl1pPr>
          </a:lstStyle>
          <a:p>
            <a:pPr/>
            <a:r>
              <a:t>Implemented Java console interface with 10-document corpus and integrated DSA-3 engine.</a:t>
            </a:r>
          </a:p>
        </p:txBody>
      </p:sp>
      <p:sp>
        <p:nvSpPr>
          <p:cNvPr id="89" name="Text 41"/>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02 / 14</a:t>
            </a:r>
          </a:p>
        </p:txBody>
      </p:sp>
      <p:pic>
        <p:nvPicPr>
          <p:cNvPr id="90" name="Screenshot 2026-09-14 at 4.11.05 PM.png" descr="Screenshot 2026-09-14 at 4.11.05 PM.png"/>
          <p:cNvPicPr>
            <a:picLocks noChangeAspect="1"/>
          </p:cNvPicPr>
          <p:nvPr/>
        </p:nvPicPr>
        <p:blipFill>
          <a:blip r:embed="rId3">
            <a:extLst/>
          </a:blip>
          <a:srcRect l="19391" t="34217" r="47281" b="12009"/>
          <a:stretch>
            <a:fillRect/>
          </a:stretch>
        </p:blipFill>
        <p:spPr>
          <a:xfrm>
            <a:off x="7606488" y="1730259"/>
            <a:ext cx="4074442" cy="427541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1F5FB0"/>
                </a:solidFill>
              </a:defRPr>
            </a:lvl1pPr>
          </a:lstStyle>
          <a:p>
            <a:pPr/>
            <a:r>
              <a:t>MOTIVATION</a:t>
            </a:r>
          </a:p>
        </p:txBody>
      </p:sp>
      <p:sp>
        <p:nvSpPr>
          <p:cNvPr id="95" name="Text 1"/>
          <p:cNvSpPr txBox="1"/>
          <p:nvPr/>
        </p:nvSpPr>
        <p:spPr>
          <a:xfrm>
            <a:off x="548639" y="510013"/>
            <a:ext cx="11094417" cy="8819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WHY TEXT-PROCESSING PIPELINES NEED INTELLIGENT SCHEDULING</a:t>
            </a:r>
          </a:p>
        </p:txBody>
      </p:sp>
      <p:sp>
        <p:nvSpPr>
          <p:cNvPr id="96" name="Shape 2"/>
          <p:cNvSpPr/>
          <p:nvPr/>
        </p:nvSpPr>
        <p:spPr>
          <a:xfrm>
            <a:off x="668883" y="2148839"/>
            <a:ext cx="1965962" cy="566929"/>
          </a:xfrm>
          <a:prstGeom prst="roundRect">
            <a:avLst>
              <a:gd name="adj" fmla="val 50000"/>
            </a:avLst>
          </a:prstGeom>
          <a:solidFill>
            <a:srgbClr val="E7EEFB"/>
          </a:solidFill>
          <a:ln w="12700">
            <a:miter lim="400000"/>
          </a:ln>
        </p:spPr>
        <p:txBody>
          <a:bodyPr lIns="45719" rIns="45719"/>
          <a:lstStyle/>
          <a:p>
            <a:pPr/>
          </a:p>
        </p:txBody>
      </p:sp>
      <p:sp>
        <p:nvSpPr>
          <p:cNvPr id="97" name="Text 3"/>
          <p:cNvSpPr txBox="1"/>
          <p:nvPr/>
        </p:nvSpPr>
        <p:spPr>
          <a:xfrm>
            <a:off x="723747" y="2365170"/>
            <a:ext cx="1856234"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5FB0"/>
                </a:solidFill>
              </a:defRPr>
            </a:lvl1pPr>
          </a:lstStyle>
          <a:p>
            <a:pPr/>
            <a:r>
              <a:t>Multiple tasks</a:t>
            </a:r>
          </a:p>
        </p:txBody>
      </p:sp>
      <p:sp>
        <p:nvSpPr>
          <p:cNvPr id="98" name="Text 4"/>
          <p:cNvSpPr txBox="1"/>
          <p:nvPr/>
        </p:nvSpPr>
        <p:spPr>
          <a:xfrm>
            <a:off x="2634844" y="2322778"/>
            <a:ext cx="256033"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6C7690"/>
                </a:solidFill>
              </a:defRPr>
            </a:lvl1pPr>
          </a:lstStyle>
          <a:p>
            <a:pPr/>
            <a:r>
              <a:t>+</a:t>
            </a:r>
          </a:p>
        </p:txBody>
      </p:sp>
      <p:sp>
        <p:nvSpPr>
          <p:cNvPr id="99" name="Shape 5"/>
          <p:cNvSpPr/>
          <p:nvPr/>
        </p:nvSpPr>
        <p:spPr>
          <a:xfrm>
            <a:off x="2890876" y="2148839"/>
            <a:ext cx="1965961" cy="566929"/>
          </a:xfrm>
          <a:prstGeom prst="roundRect">
            <a:avLst>
              <a:gd name="adj" fmla="val 50000"/>
            </a:avLst>
          </a:prstGeom>
          <a:solidFill>
            <a:srgbClr val="E7EEFB"/>
          </a:solidFill>
          <a:ln w="12700">
            <a:miter lim="400000"/>
          </a:ln>
        </p:spPr>
        <p:txBody>
          <a:bodyPr lIns="45719" rIns="45719"/>
          <a:lstStyle/>
          <a:p>
            <a:pPr/>
          </a:p>
        </p:txBody>
      </p:sp>
      <p:sp>
        <p:nvSpPr>
          <p:cNvPr id="100" name="Text 6"/>
          <p:cNvSpPr txBox="1"/>
          <p:nvPr/>
        </p:nvSpPr>
        <p:spPr>
          <a:xfrm>
            <a:off x="2945739" y="2365170"/>
            <a:ext cx="1856233"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5FB0"/>
                </a:solidFill>
              </a:defRPr>
            </a:lvl1pPr>
          </a:lstStyle>
          <a:p>
            <a:pPr/>
            <a:r>
              <a:t>Different CPU / RAM needs</a:t>
            </a:r>
          </a:p>
        </p:txBody>
      </p:sp>
      <p:sp>
        <p:nvSpPr>
          <p:cNvPr id="101" name="Text 7"/>
          <p:cNvSpPr txBox="1"/>
          <p:nvPr/>
        </p:nvSpPr>
        <p:spPr>
          <a:xfrm>
            <a:off x="4856836" y="2322778"/>
            <a:ext cx="256033"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6C7690"/>
                </a:solidFill>
              </a:defRPr>
            </a:lvl1pPr>
          </a:lstStyle>
          <a:p>
            <a:pPr/>
            <a:r>
              <a:t>+</a:t>
            </a:r>
          </a:p>
        </p:txBody>
      </p:sp>
      <p:sp>
        <p:nvSpPr>
          <p:cNvPr id="102" name="Shape 8"/>
          <p:cNvSpPr/>
          <p:nvPr/>
        </p:nvSpPr>
        <p:spPr>
          <a:xfrm>
            <a:off x="5112868" y="2148839"/>
            <a:ext cx="1965961" cy="566929"/>
          </a:xfrm>
          <a:prstGeom prst="roundRect">
            <a:avLst>
              <a:gd name="adj" fmla="val 50000"/>
            </a:avLst>
          </a:prstGeom>
          <a:solidFill>
            <a:srgbClr val="E7EEFB"/>
          </a:solidFill>
          <a:ln w="12700">
            <a:miter lim="400000"/>
          </a:ln>
        </p:spPr>
        <p:txBody>
          <a:bodyPr lIns="45719" rIns="45719"/>
          <a:lstStyle/>
          <a:p>
            <a:pPr/>
          </a:p>
        </p:txBody>
      </p:sp>
      <p:sp>
        <p:nvSpPr>
          <p:cNvPr id="103" name="Text 9"/>
          <p:cNvSpPr txBox="1"/>
          <p:nvPr/>
        </p:nvSpPr>
        <p:spPr>
          <a:xfrm>
            <a:off x="5167731" y="2365170"/>
            <a:ext cx="1856233"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5FB0"/>
                </a:solidFill>
              </a:defRPr>
            </a:lvl1pPr>
          </a:lstStyle>
          <a:p>
            <a:pPr/>
            <a:r>
              <a:t>Dependencies</a:t>
            </a:r>
          </a:p>
        </p:txBody>
      </p:sp>
      <p:sp>
        <p:nvSpPr>
          <p:cNvPr id="104" name="Text 10"/>
          <p:cNvSpPr txBox="1"/>
          <p:nvPr/>
        </p:nvSpPr>
        <p:spPr>
          <a:xfrm>
            <a:off x="7078828" y="2322778"/>
            <a:ext cx="256033"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6C7690"/>
                </a:solidFill>
              </a:defRPr>
            </a:lvl1pPr>
          </a:lstStyle>
          <a:p>
            <a:pPr/>
            <a:r>
              <a:t>+</a:t>
            </a:r>
          </a:p>
        </p:txBody>
      </p:sp>
      <p:sp>
        <p:nvSpPr>
          <p:cNvPr id="105" name="Shape 11"/>
          <p:cNvSpPr/>
          <p:nvPr/>
        </p:nvSpPr>
        <p:spPr>
          <a:xfrm>
            <a:off x="7334860" y="2148839"/>
            <a:ext cx="1965961" cy="566929"/>
          </a:xfrm>
          <a:prstGeom prst="roundRect">
            <a:avLst>
              <a:gd name="adj" fmla="val 50000"/>
            </a:avLst>
          </a:prstGeom>
          <a:solidFill>
            <a:srgbClr val="E7EEFB"/>
          </a:solidFill>
          <a:ln w="12700">
            <a:miter lim="400000"/>
          </a:ln>
        </p:spPr>
        <p:txBody>
          <a:bodyPr lIns="45719" rIns="45719"/>
          <a:lstStyle/>
          <a:p>
            <a:pPr/>
          </a:p>
        </p:txBody>
      </p:sp>
      <p:sp>
        <p:nvSpPr>
          <p:cNvPr id="106" name="Text 12"/>
          <p:cNvSpPr txBox="1"/>
          <p:nvPr/>
        </p:nvSpPr>
        <p:spPr>
          <a:xfrm>
            <a:off x="7389724" y="2365170"/>
            <a:ext cx="1856233"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5FB0"/>
                </a:solidFill>
              </a:defRPr>
            </a:lvl1pPr>
          </a:lstStyle>
          <a:p>
            <a:pPr/>
            <a:r>
              <a:t>Different execution times</a:t>
            </a:r>
          </a:p>
        </p:txBody>
      </p:sp>
      <p:sp>
        <p:nvSpPr>
          <p:cNvPr id="107" name="Text 13"/>
          <p:cNvSpPr txBox="1"/>
          <p:nvPr/>
        </p:nvSpPr>
        <p:spPr>
          <a:xfrm>
            <a:off x="9300819" y="2322778"/>
            <a:ext cx="256033" cy="21905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6C7690"/>
                </a:solidFill>
              </a:defRPr>
            </a:lvl1pPr>
          </a:lstStyle>
          <a:p>
            <a:pPr/>
            <a:r>
              <a:t>+</a:t>
            </a:r>
          </a:p>
        </p:txBody>
      </p:sp>
      <p:sp>
        <p:nvSpPr>
          <p:cNvPr id="108" name="Shape 14"/>
          <p:cNvSpPr/>
          <p:nvPr/>
        </p:nvSpPr>
        <p:spPr>
          <a:xfrm>
            <a:off x="9556852" y="2148839"/>
            <a:ext cx="1965961" cy="566929"/>
          </a:xfrm>
          <a:prstGeom prst="roundRect">
            <a:avLst>
              <a:gd name="adj" fmla="val 50000"/>
            </a:avLst>
          </a:prstGeom>
          <a:solidFill>
            <a:srgbClr val="E7EEFB"/>
          </a:solidFill>
          <a:ln w="12700">
            <a:miter lim="400000"/>
          </a:ln>
        </p:spPr>
        <p:txBody>
          <a:bodyPr lIns="45719" rIns="45719"/>
          <a:lstStyle/>
          <a:p>
            <a:pPr/>
          </a:p>
        </p:txBody>
      </p:sp>
      <p:sp>
        <p:nvSpPr>
          <p:cNvPr id="109" name="Text 15"/>
          <p:cNvSpPr txBox="1"/>
          <p:nvPr/>
        </p:nvSpPr>
        <p:spPr>
          <a:xfrm>
            <a:off x="9611715" y="2365170"/>
            <a:ext cx="1856233"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F5FB0"/>
                </a:solidFill>
              </a:defRPr>
            </a:lvl1pPr>
          </a:lstStyle>
          <a:p>
            <a:pPr/>
            <a:r>
              <a:t>Need for parallelism</a:t>
            </a:r>
          </a:p>
        </p:txBody>
      </p:sp>
      <p:sp>
        <p:nvSpPr>
          <p:cNvPr id="110" name="Text 16"/>
          <p:cNvSpPr txBox="1"/>
          <p:nvPr/>
        </p:nvSpPr>
        <p:spPr>
          <a:xfrm>
            <a:off x="502919" y="2894654"/>
            <a:ext cx="1118585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11" name="Shape 17"/>
          <p:cNvSpPr/>
          <p:nvPr/>
        </p:nvSpPr>
        <p:spPr>
          <a:xfrm>
            <a:off x="2986888" y="3273552"/>
            <a:ext cx="6217921" cy="566929"/>
          </a:xfrm>
          <a:prstGeom prst="roundRect">
            <a:avLst>
              <a:gd name="adj" fmla="val 12903"/>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112" name="Text 18"/>
          <p:cNvSpPr txBox="1"/>
          <p:nvPr/>
        </p:nvSpPr>
        <p:spPr>
          <a:xfrm>
            <a:off x="2986887" y="3473635"/>
            <a:ext cx="621792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3A4566"/>
                </a:solidFill>
              </a:defRPr>
            </a:lvl1pPr>
          </a:lstStyle>
          <a:p>
            <a:pPr/>
            <a:r>
              <a:t>STATIC / SEQUENTIAL EXECUTION</a:t>
            </a:r>
          </a:p>
        </p:txBody>
      </p:sp>
      <p:sp>
        <p:nvSpPr>
          <p:cNvPr id="113" name="Text 19"/>
          <p:cNvSpPr txBox="1"/>
          <p:nvPr/>
        </p:nvSpPr>
        <p:spPr>
          <a:xfrm>
            <a:off x="502919" y="3982791"/>
            <a:ext cx="1118585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B0563F"/>
                </a:solidFill>
              </a:defRPr>
            </a:lvl1pPr>
          </a:lstStyle>
          <a:p>
            <a:pPr/>
            <a:r>
              <a:t>↓</a:t>
            </a:r>
          </a:p>
        </p:txBody>
      </p:sp>
      <p:sp>
        <p:nvSpPr>
          <p:cNvPr id="114" name="Shape 20"/>
          <p:cNvSpPr/>
          <p:nvPr/>
        </p:nvSpPr>
        <p:spPr>
          <a:xfrm>
            <a:off x="2986888" y="4315967"/>
            <a:ext cx="6217921" cy="566929"/>
          </a:xfrm>
          <a:prstGeom prst="roundRect">
            <a:avLst>
              <a:gd name="adj" fmla="val 12903"/>
            </a:avLst>
          </a:prstGeom>
          <a:solidFill>
            <a:srgbClr val="F7E9E4"/>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115" name="Text 21"/>
          <p:cNvSpPr txBox="1"/>
          <p:nvPr/>
        </p:nvSpPr>
        <p:spPr>
          <a:xfrm>
            <a:off x="2986887" y="4516050"/>
            <a:ext cx="621792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B0563F"/>
                </a:solidFill>
              </a:defRPr>
            </a:lvl1pPr>
          </a:lstStyle>
          <a:p>
            <a:pPr/>
            <a:r>
              <a:t>WAITING + RESOURCE UNDERUTILIZATION</a:t>
            </a:r>
          </a:p>
        </p:txBody>
      </p:sp>
      <p:sp>
        <p:nvSpPr>
          <p:cNvPr id="116" name="Text 22"/>
          <p:cNvSpPr txBox="1"/>
          <p:nvPr/>
        </p:nvSpPr>
        <p:spPr>
          <a:xfrm>
            <a:off x="502919" y="5025206"/>
            <a:ext cx="1118585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E7C86"/>
                </a:solidFill>
              </a:defRPr>
            </a:lvl1pPr>
          </a:lstStyle>
          <a:p>
            <a:pPr/>
            <a:r>
              <a:t>↓</a:t>
            </a:r>
          </a:p>
        </p:txBody>
      </p:sp>
      <p:sp>
        <p:nvSpPr>
          <p:cNvPr id="117" name="Shape 23"/>
          <p:cNvSpPr/>
          <p:nvPr/>
        </p:nvSpPr>
        <p:spPr>
          <a:xfrm>
            <a:off x="2072488" y="5376671"/>
            <a:ext cx="8046720" cy="868681"/>
          </a:xfrm>
          <a:prstGeom prst="roundRect">
            <a:avLst>
              <a:gd name="adj" fmla="val 10526"/>
            </a:avLst>
          </a:prstGeom>
          <a:solidFill>
            <a:srgbClr val="12235C"/>
          </a:solidFill>
          <a:ln w="12700">
            <a:miter lim="400000"/>
          </a:ln>
          <a:effectLst>
            <a:outerShdw sx="100000" sy="100000" kx="0" ky="0" algn="b" rotWithShape="0" blurRad="101600" dist="25400" dir="5400000">
              <a:srgbClr val="8291B5">
                <a:alpha val="25000"/>
              </a:srgbClr>
            </a:outerShdw>
          </a:effectLst>
        </p:spPr>
        <p:txBody>
          <a:bodyPr lIns="45719" rIns="45719"/>
          <a:lstStyle/>
          <a:p>
            <a:pPr/>
          </a:p>
        </p:txBody>
      </p:sp>
      <p:sp>
        <p:nvSpPr>
          <p:cNvPr id="118" name="Text 24"/>
          <p:cNvSpPr txBox="1"/>
          <p:nvPr/>
        </p:nvSpPr>
        <p:spPr>
          <a:xfrm>
            <a:off x="2072488" y="5684011"/>
            <a:ext cx="8046719"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PROPOSED SOLUTION:  TASK-AWARE INTELLIGENT SCHEDULING</a:t>
            </a:r>
          </a:p>
        </p:txBody>
      </p:sp>
      <p:sp>
        <p:nvSpPr>
          <p:cNvPr id="119" name="Text 25"/>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03 / 14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6C4AB6"/>
                </a:solidFill>
              </a:defRPr>
            </a:lvl1pPr>
          </a:lstStyle>
          <a:p>
            <a:pPr/>
            <a:r>
              <a:t>RUBRIC: NOVELTY OF DEVELOPED METHODOLOGY (10)</a:t>
            </a:r>
          </a:p>
        </p:txBody>
      </p:sp>
      <p:sp>
        <p:nvSpPr>
          <p:cNvPr id="12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NOVELTY — TASK-AWARE TEXT PIPELINE SCHEDULING</a:t>
            </a:r>
          </a:p>
        </p:txBody>
      </p:sp>
      <p:sp>
        <p:nvSpPr>
          <p:cNvPr id="125" name="Shape 2"/>
          <p:cNvSpPr/>
          <p:nvPr/>
        </p:nvSpPr>
        <p:spPr>
          <a:xfrm>
            <a:off x="502919" y="1965960"/>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26" name="Shape 3"/>
          <p:cNvSpPr/>
          <p:nvPr/>
        </p:nvSpPr>
        <p:spPr>
          <a:xfrm>
            <a:off x="640080" y="2057399"/>
            <a:ext cx="201169" cy="201170"/>
          </a:xfrm>
          <a:prstGeom prst="ellipse">
            <a:avLst/>
          </a:prstGeom>
          <a:solidFill>
            <a:srgbClr val="1F5FB0"/>
          </a:solidFill>
          <a:ln w="12700">
            <a:miter lim="400000"/>
          </a:ln>
        </p:spPr>
        <p:txBody>
          <a:bodyPr lIns="45719" rIns="45719"/>
          <a:lstStyle/>
          <a:p>
            <a:pPr/>
          </a:p>
        </p:txBody>
      </p:sp>
      <p:sp>
        <p:nvSpPr>
          <p:cNvPr id="127" name="Text 4"/>
          <p:cNvSpPr txBox="1"/>
          <p:nvPr/>
        </p:nvSpPr>
        <p:spPr>
          <a:xfrm>
            <a:off x="960119" y="2079551"/>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User Request</a:t>
            </a:r>
          </a:p>
        </p:txBody>
      </p:sp>
      <p:sp>
        <p:nvSpPr>
          <p:cNvPr id="128" name="Text 5"/>
          <p:cNvSpPr txBox="1"/>
          <p:nvPr/>
        </p:nvSpPr>
        <p:spPr>
          <a:xfrm>
            <a:off x="3291840" y="2364302"/>
            <a:ext cx="914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29" name="Shape 6"/>
          <p:cNvSpPr/>
          <p:nvPr/>
        </p:nvSpPr>
        <p:spPr>
          <a:xfrm>
            <a:off x="502919" y="2459735"/>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30" name="Shape 7"/>
          <p:cNvSpPr/>
          <p:nvPr/>
        </p:nvSpPr>
        <p:spPr>
          <a:xfrm>
            <a:off x="640080" y="2551176"/>
            <a:ext cx="201169" cy="201169"/>
          </a:xfrm>
          <a:prstGeom prst="ellipse">
            <a:avLst/>
          </a:prstGeom>
          <a:solidFill>
            <a:srgbClr val="0E7C86"/>
          </a:solidFill>
          <a:ln w="12700">
            <a:miter lim="400000"/>
          </a:ln>
        </p:spPr>
        <p:txBody>
          <a:bodyPr lIns="45719" rIns="45719"/>
          <a:lstStyle/>
          <a:p>
            <a:pPr/>
          </a:p>
        </p:txBody>
      </p:sp>
      <p:sp>
        <p:nvSpPr>
          <p:cNvPr id="131" name="Text 8"/>
          <p:cNvSpPr txBox="1"/>
          <p:nvPr/>
        </p:nvSpPr>
        <p:spPr>
          <a:xfrm>
            <a:off x="960119" y="2573327"/>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Text Analytics Tasks</a:t>
            </a:r>
          </a:p>
        </p:txBody>
      </p:sp>
      <p:sp>
        <p:nvSpPr>
          <p:cNvPr id="132" name="Text 9"/>
          <p:cNvSpPr txBox="1"/>
          <p:nvPr/>
        </p:nvSpPr>
        <p:spPr>
          <a:xfrm>
            <a:off x="3291840" y="2858078"/>
            <a:ext cx="914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33" name="Shape 10"/>
          <p:cNvSpPr/>
          <p:nvPr/>
        </p:nvSpPr>
        <p:spPr>
          <a:xfrm>
            <a:off x="502919" y="2953511"/>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34" name="Shape 11"/>
          <p:cNvSpPr/>
          <p:nvPr/>
        </p:nvSpPr>
        <p:spPr>
          <a:xfrm>
            <a:off x="640080" y="3044951"/>
            <a:ext cx="201169" cy="201169"/>
          </a:xfrm>
          <a:prstGeom prst="ellipse">
            <a:avLst/>
          </a:prstGeom>
          <a:solidFill>
            <a:srgbClr val="1F5FB0"/>
          </a:solidFill>
          <a:ln w="12700">
            <a:miter lim="400000"/>
          </a:ln>
        </p:spPr>
        <p:txBody>
          <a:bodyPr lIns="45719" rIns="45719"/>
          <a:lstStyle/>
          <a:p>
            <a:pPr/>
          </a:p>
        </p:txBody>
      </p:sp>
      <p:sp>
        <p:nvSpPr>
          <p:cNvPr id="135" name="Text 12"/>
          <p:cNvSpPr txBox="1"/>
          <p:nvPr/>
        </p:nvSpPr>
        <p:spPr>
          <a:xfrm>
            <a:off x="960119" y="3067103"/>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Workload Profiling</a:t>
            </a:r>
          </a:p>
        </p:txBody>
      </p:sp>
      <p:sp>
        <p:nvSpPr>
          <p:cNvPr id="136" name="Text 13"/>
          <p:cNvSpPr txBox="1"/>
          <p:nvPr/>
        </p:nvSpPr>
        <p:spPr>
          <a:xfrm>
            <a:off x="3291840" y="3351854"/>
            <a:ext cx="914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37" name="Shape 14"/>
          <p:cNvSpPr/>
          <p:nvPr/>
        </p:nvSpPr>
        <p:spPr>
          <a:xfrm>
            <a:off x="502919" y="3447288"/>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38" name="Shape 15"/>
          <p:cNvSpPr/>
          <p:nvPr/>
        </p:nvSpPr>
        <p:spPr>
          <a:xfrm>
            <a:off x="640080" y="3538728"/>
            <a:ext cx="201169" cy="201169"/>
          </a:xfrm>
          <a:prstGeom prst="ellipse">
            <a:avLst/>
          </a:prstGeom>
          <a:solidFill>
            <a:srgbClr val="0E7C86"/>
          </a:solidFill>
          <a:ln w="12700">
            <a:miter lim="400000"/>
          </a:ln>
        </p:spPr>
        <p:txBody>
          <a:bodyPr lIns="45719" rIns="45719"/>
          <a:lstStyle/>
          <a:p>
            <a:pPr/>
          </a:p>
        </p:txBody>
      </p:sp>
      <p:sp>
        <p:nvSpPr>
          <p:cNvPr id="139" name="Text 16"/>
          <p:cNvSpPr txBox="1"/>
          <p:nvPr/>
        </p:nvSpPr>
        <p:spPr>
          <a:xfrm>
            <a:off x="960119" y="3560879"/>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Dependency + Priority Analysis</a:t>
            </a:r>
          </a:p>
        </p:txBody>
      </p:sp>
      <p:sp>
        <p:nvSpPr>
          <p:cNvPr id="140" name="Text 17"/>
          <p:cNvSpPr txBox="1"/>
          <p:nvPr/>
        </p:nvSpPr>
        <p:spPr>
          <a:xfrm>
            <a:off x="3291840" y="3845630"/>
            <a:ext cx="914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41" name="Shape 18"/>
          <p:cNvSpPr/>
          <p:nvPr/>
        </p:nvSpPr>
        <p:spPr>
          <a:xfrm>
            <a:off x="502919" y="3941064"/>
            <a:ext cx="6492242" cy="384049"/>
          </a:xfrm>
          <a:prstGeom prst="roundRect">
            <a:avLst>
              <a:gd name="adj" fmla="val 19048"/>
            </a:avLst>
          </a:prstGeom>
          <a:solidFill>
            <a:srgbClr val="EFE9F8"/>
          </a:solidFill>
          <a:ln w="12700">
            <a:solidFill>
              <a:srgbClr val="DCE2F0"/>
            </a:solidFill>
          </a:ln>
        </p:spPr>
        <p:txBody>
          <a:bodyPr lIns="45719" rIns="45719"/>
          <a:lstStyle/>
          <a:p>
            <a:pPr/>
          </a:p>
        </p:txBody>
      </p:sp>
      <p:sp>
        <p:nvSpPr>
          <p:cNvPr id="142" name="Shape 19"/>
          <p:cNvSpPr/>
          <p:nvPr/>
        </p:nvSpPr>
        <p:spPr>
          <a:xfrm>
            <a:off x="640080" y="4032503"/>
            <a:ext cx="201169" cy="201169"/>
          </a:xfrm>
          <a:prstGeom prst="ellipse">
            <a:avLst/>
          </a:prstGeom>
          <a:solidFill>
            <a:srgbClr val="6C4AB6"/>
          </a:solidFill>
          <a:ln w="12700">
            <a:miter lim="400000"/>
          </a:ln>
        </p:spPr>
        <p:txBody>
          <a:bodyPr lIns="45719" rIns="45719"/>
          <a:lstStyle/>
          <a:p>
            <a:pPr/>
          </a:p>
        </p:txBody>
      </p:sp>
      <p:sp>
        <p:nvSpPr>
          <p:cNvPr id="143" name="Text 20"/>
          <p:cNvSpPr txBox="1"/>
          <p:nvPr/>
        </p:nvSpPr>
        <p:spPr>
          <a:xfrm>
            <a:off x="960119" y="4054655"/>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6C4AB6"/>
                </a:solidFill>
              </a:defRPr>
            </a:lvl1pPr>
          </a:lstStyle>
          <a:p>
            <a:pPr/>
            <a:r>
              <a:t>Runtime-Aware HEFT V3</a:t>
            </a:r>
          </a:p>
        </p:txBody>
      </p:sp>
      <p:sp>
        <p:nvSpPr>
          <p:cNvPr id="144" name="Text 21"/>
          <p:cNvSpPr txBox="1"/>
          <p:nvPr/>
        </p:nvSpPr>
        <p:spPr>
          <a:xfrm>
            <a:off x="3291840" y="4339406"/>
            <a:ext cx="914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45" name="Shape 22"/>
          <p:cNvSpPr/>
          <p:nvPr/>
        </p:nvSpPr>
        <p:spPr>
          <a:xfrm>
            <a:off x="502919" y="4434840"/>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46" name="Shape 23"/>
          <p:cNvSpPr/>
          <p:nvPr/>
        </p:nvSpPr>
        <p:spPr>
          <a:xfrm>
            <a:off x="640080" y="4526279"/>
            <a:ext cx="201169" cy="201169"/>
          </a:xfrm>
          <a:prstGeom prst="ellipse">
            <a:avLst/>
          </a:prstGeom>
          <a:solidFill>
            <a:srgbClr val="0E7C86"/>
          </a:solidFill>
          <a:ln w="12700">
            <a:miter lim="400000"/>
          </a:ln>
        </p:spPr>
        <p:txBody>
          <a:bodyPr lIns="45719" rIns="45719"/>
          <a:lstStyle/>
          <a:p>
            <a:pPr/>
          </a:p>
        </p:txBody>
      </p:sp>
      <p:sp>
        <p:nvSpPr>
          <p:cNvPr id="147" name="Text 24"/>
          <p:cNvSpPr txBox="1"/>
          <p:nvPr/>
        </p:nvSpPr>
        <p:spPr>
          <a:xfrm>
            <a:off x="960119" y="4548431"/>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Heterogeneous Resource Assignment</a:t>
            </a:r>
          </a:p>
        </p:txBody>
      </p:sp>
      <p:sp>
        <p:nvSpPr>
          <p:cNvPr id="148" name="Text 25"/>
          <p:cNvSpPr txBox="1"/>
          <p:nvPr/>
        </p:nvSpPr>
        <p:spPr>
          <a:xfrm>
            <a:off x="3291840" y="4833182"/>
            <a:ext cx="914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49" name="Shape 26"/>
          <p:cNvSpPr/>
          <p:nvPr/>
        </p:nvSpPr>
        <p:spPr>
          <a:xfrm>
            <a:off x="502919" y="4928615"/>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50" name="Shape 27"/>
          <p:cNvSpPr/>
          <p:nvPr/>
        </p:nvSpPr>
        <p:spPr>
          <a:xfrm>
            <a:off x="640080" y="5020055"/>
            <a:ext cx="201169" cy="201169"/>
          </a:xfrm>
          <a:prstGeom prst="ellipse">
            <a:avLst/>
          </a:prstGeom>
          <a:solidFill>
            <a:srgbClr val="1F5FB0"/>
          </a:solidFill>
          <a:ln w="12700">
            <a:miter lim="400000"/>
          </a:ln>
        </p:spPr>
        <p:txBody>
          <a:bodyPr lIns="45719" rIns="45719"/>
          <a:lstStyle/>
          <a:p>
            <a:pPr/>
          </a:p>
        </p:txBody>
      </p:sp>
      <p:sp>
        <p:nvSpPr>
          <p:cNvPr id="151" name="Text 28"/>
          <p:cNvSpPr txBox="1"/>
          <p:nvPr/>
        </p:nvSpPr>
        <p:spPr>
          <a:xfrm>
            <a:off x="960119" y="5042207"/>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Parallel Execution</a:t>
            </a:r>
          </a:p>
        </p:txBody>
      </p:sp>
      <p:sp>
        <p:nvSpPr>
          <p:cNvPr id="152" name="Text 29"/>
          <p:cNvSpPr txBox="1"/>
          <p:nvPr/>
        </p:nvSpPr>
        <p:spPr>
          <a:xfrm>
            <a:off x="3291840" y="5326959"/>
            <a:ext cx="914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153" name="Shape 30"/>
          <p:cNvSpPr/>
          <p:nvPr/>
        </p:nvSpPr>
        <p:spPr>
          <a:xfrm>
            <a:off x="502919" y="5422391"/>
            <a:ext cx="6492242" cy="384049"/>
          </a:xfrm>
          <a:prstGeom prst="roundRect">
            <a:avLst>
              <a:gd name="adj" fmla="val 19048"/>
            </a:avLst>
          </a:prstGeom>
          <a:solidFill>
            <a:srgbClr val="F7F9FC"/>
          </a:solidFill>
          <a:ln w="12700">
            <a:solidFill>
              <a:srgbClr val="DCE2F0"/>
            </a:solidFill>
          </a:ln>
        </p:spPr>
        <p:txBody>
          <a:bodyPr lIns="45719" rIns="45719"/>
          <a:lstStyle/>
          <a:p>
            <a:pPr/>
          </a:p>
        </p:txBody>
      </p:sp>
      <p:sp>
        <p:nvSpPr>
          <p:cNvPr id="154" name="Shape 31"/>
          <p:cNvSpPr/>
          <p:nvPr/>
        </p:nvSpPr>
        <p:spPr>
          <a:xfrm>
            <a:off x="640080" y="5513832"/>
            <a:ext cx="201169" cy="201169"/>
          </a:xfrm>
          <a:prstGeom prst="ellipse">
            <a:avLst/>
          </a:prstGeom>
          <a:solidFill>
            <a:srgbClr val="0E7C86"/>
          </a:solidFill>
          <a:ln w="12700">
            <a:miter lim="400000"/>
          </a:ln>
        </p:spPr>
        <p:txBody>
          <a:bodyPr lIns="45719" rIns="45719"/>
          <a:lstStyle/>
          <a:p>
            <a:pPr/>
          </a:p>
        </p:txBody>
      </p:sp>
      <p:sp>
        <p:nvSpPr>
          <p:cNvPr id="155" name="Text 32"/>
          <p:cNvSpPr txBox="1"/>
          <p:nvPr/>
        </p:nvSpPr>
        <p:spPr>
          <a:xfrm>
            <a:off x="960119" y="5535983"/>
            <a:ext cx="58521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A4566"/>
                </a:solidFill>
              </a:defRPr>
            </a:lvl1pPr>
          </a:lstStyle>
          <a:p>
            <a:pPr/>
            <a:r>
              <a:t>Runtime Feedback</a:t>
            </a:r>
          </a:p>
        </p:txBody>
      </p:sp>
      <p:sp>
        <p:nvSpPr>
          <p:cNvPr id="156" name="Shape 33"/>
          <p:cNvSpPr/>
          <p:nvPr/>
        </p:nvSpPr>
        <p:spPr>
          <a:xfrm>
            <a:off x="7360919" y="1965960"/>
            <a:ext cx="4327856" cy="3977641"/>
          </a:xfrm>
          <a:prstGeom prst="roundRect">
            <a:avLst>
              <a:gd name="adj" fmla="val 1839"/>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157" name="Text 34"/>
          <p:cNvSpPr txBox="1"/>
          <p:nvPr/>
        </p:nvSpPr>
        <p:spPr>
          <a:xfrm>
            <a:off x="7635239" y="2189279"/>
            <a:ext cx="3779215"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6C4AB6"/>
                </a:solidFill>
              </a:defRPr>
            </a:lvl1pPr>
          </a:lstStyle>
          <a:p>
            <a:pPr/>
            <a:r>
              <a:t>WHAT'S NOVEL</a:t>
            </a:r>
          </a:p>
        </p:txBody>
      </p:sp>
      <p:sp>
        <p:nvSpPr>
          <p:cNvPr id="158" name="Shape 35"/>
          <p:cNvSpPr/>
          <p:nvPr/>
        </p:nvSpPr>
        <p:spPr>
          <a:xfrm>
            <a:off x="7589519" y="2679192"/>
            <a:ext cx="146305" cy="146305"/>
          </a:xfrm>
          <a:prstGeom prst="ellipse">
            <a:avLst/>
          </a:prstGeom>
          <a:solidFill>
            <a:srgbClr val="6C4AB6"/>
          </a:solidFill>
          <a:ln w="12700">
            <a:miter lim="400000"/>
          </a:ln>
        </p:spPr>
        <p:txBody>
          <a:bodyPr lIns="45719" rIns="45719"/>
          <a:lstStyle/>
          <a:p>
            <a:pPr/>
          </a:p>
        </p:txBody>
      </p:sp>
      <p:sp>
        <p:nvSpPr>
          <p:cNvPr id="159" name="Text 36"/>
          <p:cNvSpPr txBox="1"/>
          <p:nvPr/>
        </p:nvSpPr>
        <p:spPr>
          <a:xfrm>
            <a:off x="7845552" y="2606039"/>
            <a:ext cx="36146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Text algorithms unified under one scheduler</a:t>
            </a:r>
          </a:p>
        </p:txBody>
      </p:sp>
      <p:sp>
        <p:nvSpPr>
          <p:cNvPr id="160" name="Shape 37"/>
          <p:cNvSpPr/>
          <p:nvPr/>
        </p:nvSpPr>
        <p:spPr>
          <a:xfrm>
            <a:off x="7589519" y="3209544"/>
            <a:ext cx="146305" cy="146305"/>
          </a:xfrm>
          <a:prstGeom prst="ellipse">
            <a:avLst/>
          </a:prstGeom>
          <a:solidFill>
            <a:srgbClr val="6C4AB6"/>
          </a:solidFill>
          <a:ln w="12700">
            <a:miter lim="400000"/>
          </a:ln>
        </p:spPr>
        <p:txBody>
          <a:bodyPr lIns="45719" rIns="45719"/>
          <a:lstStyle/>
          <a:p>
            <a:pPr/>
          </a:p>
        </p:txBody>
      </p:sp>
      <p:sp>
        <p:nvSpPr>
          <p:cNvPr id="161" name="Text 38"/>
          <p:cNvSpPr txBox="1"/>
          <p:nvPr/>
        </p:nvSpPr>
        <p:spPr>
          <a:xfrm>
            <a:off x="7845552" y="3136392"/>
            <a:ext cx="3614624"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Task dependency awareness across pipeline stages</a:t>
            </a:r>
          </a:p>
        </p:txBody>
      </p:sp>
      <p:sp>
        <p:nvSpPr>
          <p:cNvPr id="162" name="Shape 39"/>
          <p:cNvSpPr/>
          <p:nvPr/>
        </p:nvSpPr>
        <p:spPr>
          <a:xfrm>
            <a:off x="7589519" y="3739896"/>
            <a:ext cx="146305" cy="146305"/>
          </a:xfrm>
          <a:prstGeom prst="ellipse">
            <a:avLst/>
          </a:prstGeom>
          <a:solidFill>
            <a:srgbClr val="6C4AB6"/>
          </a:solidFill>
          <a:ln w="12700">
            <a:miter lim="400000"/>
          </a:ln>
        </p:spPr>
        <p:txBody>
          <a:bodyPr lIns="45719" rIns="45719"/>
          <a:lstStyle/>
          <a:p>
            <a:pPr/>
          </a:p>
        </p:txBody>
      </p:sp>
      <p:sp>
        <p:nvSpPr>
          <p:cNvPr id="163" name="Text 40"/>
          <p:cNvSpPr txBox="1"/>
          <p:nvPr/>
        </p:nvSpPr>
        <p:spPr>
          <a:xfrm>
            <a:off x="7845552" y="3666744"/>
            <a:ext cx="3614624"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Heterogeneous resource-aware assignment</a:t>
            </a:r>
          </a:p>
        </p:txBody>
      </p:sp>
      <p:sp>
        <p:nvSpPr>
          <p:cNvPr id="164" name="Shape 41"/>
          <p:cNvSpPr/>
          <p:nvPr/>
        </p:nvSpPr>
        <p:spPr>
          <a:xfrm>
            <a:off x="7589519" y="4270247"/>
            <a:ext cx="146305" cy="146305"/>
          </a:xfrm>
          <a:prstGeom prst="ellipse">
            <a:avLst/>
          </a:prstGeom>
          <a:solidFill>
            <a:srgbClr val="6C4AB6"/>
          </a:solidFill>
          <a:ln w="12700">
            <a:miter lim="400000"/>
          </a:ln>
        </p:spPr>
        <p:txBody>
          <a:bodyPr lIns="45719" rIns="45719"/>
          <a:lstStyle/>
          <a:p>
            <a:pPr/>
          </a:p>
        </p:txBody>
      </p:sp>
      <p:sp>
        <p:nvSpPr>
          <p:cNvPr id="165" name="Text 42"/>
          <p:cNvSpPr txBox="1"/>
          <p:nvPr/>
        </p:nvSpPr>
        <p:spPr>
          <a:xfrm>
            <a:off x="7845552" y="4197096"/>
            <a:ext cx="3614624"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Actual runtime feedback updates estimates</a:t>
            </a:r>
          </a:p>
        </p:txBody>
      </p:sp>
      <p:sp>
        <p:nvSpPr>
          <p:cNvPr id="166" name="Shape 43"/>
          <p:cNvSpPr/>
          <p:nvPr/>
        </p:nvSpPr>
        <p:spPr>
          <a:xfrm>
            <a:off x="7589519" y="4800599"/>
            <a:ext cx="146305" cy="146306"/>
          </a:xfrm>
          <a:prstGeom prst="ellipse">
            <a:avLst/>
          </a:prstGeom>
          <a:solidFill>
            <a:srgbClr val="6C4AB6"/>
          </a:solidFill>
          <a:ln w="12700">
            <a:miter lim="400000"/>
          </a:ln>
        </p:spPr>
        <p:txBody>
          <a:bodyPr lIns="45719" rIns="45719"/>
          <a:lstStyle/>
          <a:p>
            <a:pPr/>
          </a:p>
        </p:txBody>
      </p:sp>
      <p:sp>
        <p:nvSpPr>
          <p:cNvPr id="167" name="Text 44"/>
          <p:cNvSpPr txBox="1"/>
          <p:nvPr/>
        </p:nvSpPr>
        <p:spPr>
          <a:xfrm>
            <a:off x="7845552" y="4727447"/>
            <a:ext cx="3614624"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Built-in failure / recovery architecture</a:t>
            </a:r>
          </a:p>
        </p:txBody>
      </p:sp>
      <p:sp>
        <p:nvSpPr>
          <p:cNvPr id="168" name="Text 45"/>
          <p:cNvSpPr txBox="1"/>
          <p:nvPr/>
        </p:nvSpPr>
        <p:spPr>
          <a:xfrm>
            <a:off x="7635239" y="5212079"/>
            <a:ext cx="3779215" cy="55871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i="1" sz="1000">
                <a:solidFill>
                  <a:srgbClr val="6C7690"/>
                </a:solidFill>
              </a:defRPr>
            </a:lvl1pPr>
          </a:lstStyle>
          <a:p>
            <a:pPr/>
            <a:r>
              <a:t>Novelty lies in the project-specific integration and adaptation of runtime-aware scheduling for text-processing pipelines — not in HEFT itself.</a:t>
            </a:r>
          </a:p>
        </p:txBody>
      </p:sp>
      <p:sp>
        <p:nvSpPr>
          <p:cNvPr id="169" name="Text 46"/>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04 / 14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0E7C86"/>
                </a:solidFill>
              </a:defRPr>
            </a:lvl1pPr>
          </a:lstStyle>
          <a:p>
            <a:pPr/>
            <a:r>
              <a:t>SYSTEM COMPONENTS</a:t>
            </a:r>
          </a:p>
        </p:txBody>
      </p:sp>
      <p:sp>
        <p:nvSpPr>
          <p:cNvPr id="17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DSA-3 ALGORITHM ENGINE</a:t>
            </a:r>
          </a:p>
        </p:txBody>
      </p:sp>
      <p:sp>
        <p:nvSpPr>
          <p:cNvPr id="175" name="Shape 2"/>
          <p:cNvSpPr/>
          <p:nvPr/>
        </p:nvSpPr>
        <p:spPr>
          <a:xfrm>
            <a:off x="502919" y="1783079"/>
            <a:ext cx="3520442" cy="2788921"/>
          </a:xfrm>
          <a:prstGeom prst="roundRect">
            <a:avLst>
              <a:gd name="adj" fmla="val 2623"/>
            </a:avLst>
          </a:prstGeom>
          <a:solidFill>
            <a:srgbClr val="FFFFFF"/>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176" name="Shape 3"/>
          <p:cNvSpPr/>
          <p:nvPr/>
        </p:nvSpPr>
        <p:spPr>
          <a:xfrm>
            <a:off x="502919" y="1783079"/>
            <a:ext cx="3520442" cy="475489"/>
          </a:xfrm>
          <a:prstGeom prst="roundRect">
            <a:avLst>
              <a:gd name="adj" fmla="val 15385"/>
            </a:avLst>
          </a:prstGeom>
          <a:solidFill>
            <a:srgbClr val="0E7C86"/>
          </a:solidFill>
          <a:ln w="12700">
            <a:miter lim="400000"/>
          </a:ln>
        </p:spPr>
        <p:txBody>
          <a:bodyPr lIns="45719" rIns="45719"/>
          <a:lstStyle/>
          <a:p>
            <a:pPr/>
          </a:p>
        </p:txBody>
      </p:sp>
      <p:sp>
        <p:nvSpPr>
          <p:cNvPr id="177" name="Text 4"/>
          <p:cNvSpPr txBox="1"/>
          <p:nvPr/>
        </p:nvSpPr>
        <p:spPr>
          <a:xfrm>
            <a:off x="502919" y="1942390"/>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STRING / TEXT</a:t>
            </a:r>
          </a:p>
        </p:txBody>
      </p:sp>
      <p:sp>
        <p:nvSpPr>
          <p:cNvPr id="178" name="Text 5"/>
          <p:cNvSpPr txBox="1"/>
          <p:nvPr/>
        </p:nvSpPr>
        <p:spPr>
          <a:xfrm>
            <a:off x="704087" y="2454455"/>
            <a:ext cx="311810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KMP</a:t>
            </a:r>
          </a:p>
        </p:txBody>
      </p:sp>
      <p:sp>
        <p:nvSpPr>
          <p:cNvPr id="179" name="Text 6"/>
          <p:cNvSpPr txBox="1"/>
          <p:nvPr/>
        </p:nvSpPr>
        <p:spPr>
          <a:xfrm>
            <a:off x="704087" y="2756960"/>
            <a:ext cx="31181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Exact pattern search</a:t>
            </a:r>
          </a:p>
        </p:txBody>
      </p:sp>
      <p:sp>
        <p:nvSpPr>
          <p:cNvPr id="180" name="Text 7"/>
          <p:cNvSpPr txBox="1"/>
          <p:nvPr/>
        </p:nvSpPr>
        <p:spPr>
          <a:xfrm>
            <a:off x="704087" y="2984807"/>
            <a:ext cx="311810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Rabin-Karp</a:t>
            </a:r>
          </a:p>
        </p:txBody>
      </p:sp>
      <p:sp>
        <p:nvSpPr>
          <p:cNvPr id="181" name="Text 8"/>
          <p:cNvSpPr txBox="1"/>
          <p:nvPr/>
        </p:nvSpPr>
        <p:spPr>
          <a:xfrm>
            <a:off x="704087" y="3287312"/>
            <a:ext cx="31181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Fast substring / keyword verification</a:t>
            </a:r>
          </a:p>
        </p:txBody>
      </p:sp>
      <p:sp>
        <p:nvSpPr>
          <p:cNvPr id="182" name="Text 9"/>
          <p:cNvSpPr txBox="1"/>
          <p:nvPr/>
        </p:nvSpPr>
        <p:spPr>
          <a:xfrm>
            <a:off x="704087" y="3515159"/>
            <a:ext cx="311810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Z Algorithm</a:t>
            </a:r>
          </a:p>
        </p:txBody>
      </p:sp>
      <p:sp>
        <p:nvSpPr>
          <p:cNvPr id="183" name="Text 10"/>
          <p:cNvSpPr txBox="1"/>
          <p:nvPr/>
        </p:nvSpPr>
        <p:spPr>
          <a:xfrm>
            <a:off x="704087" y="3817664"/>
            <a:ext cx="31181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Pattern structure analysis</a:t>
            </a:r>
          </a:p>
        </p:txBody>
      </p:sp>
      <p:sp>
        <p:nvSpPr>
          <p:cNvPr id="184" name="Text 11"/>
          <p:cNvSpPr txBox="1"/>
          <p:nvPr/>
        </p:nvSpPr>
        <p:spPr>
          <a:xfrm>
            <a:off x="704087" y="4045511"/>
            <a:ext cx="3118106"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Suffix Array + LCP</a:t>
            </a:r>
          </a:p>
        </p:txBody>
      </p:sp>
      <p:sp>
        <p:nvSpPr>
          <p:cNvPr id="185" name="Text 12"/>
          <p:cNvSpPr txBox="1"/>
          <p:nvPr/>
        </p:nvSpPr>
        <p:spPr>
          <a:xfrm>
            <a:off x="704087" y="4348016"/>
            <a:ext cx="3118106"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Text indexing &amp; structural similarity</a:t>
            </a:r>
          </a:p>
        </p:txBody>
      </p:sp>
      <p:sp>
        <p:nvSpPr>
          <p:cNvPr id="186" name="Shape 13"/>
          <p:cNvSpPr/>
          <p:nvPr/>
        </p:nvSpPr>
        <p:spPr>
          <a:xfrm>
            <a:off x="4315967" y="1783079"/>
            <a:ext cx="3520442" cy="2788921"/>
          </a:xfrm>
          <a:prstGeom prst="roundRect">
            <a:avLst>
              <a:gd name="adj" fmla="val 2623"/>
            </a:avLst>
          </a:prstGeom>
          <a:solidFill>
            <a:srgbClr val="FFFFFF"/>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187" name="Shape 14"/>
          <p:cNvSpPr/>
          <p:nvPr/>
        </p:nvSpPr>
        <p:spPr>
          <a:xfrm>
            <a:off x="4315967" y="1783079"/>
            <a:ext cx="3520442" cy="475489"/>
          </a:xfrm>
          <a:prstGeom prst="roundRect">
            <a:avLst>
              <a:gd name="adj" fmla="val 15385"/>
            </a:avLst>
          </a:prstGeom>
          <a:solidFill>
            <a:srgbClr val="1F5FB0"/>
          </a:solidFill>
          <a:ln w="12700">
            <a:miter lim="400000"/>
          </a:ln>
        </p:spPr>
        <p:txBody>
          <a:bodyPr lIns="45719" rIns="45719"/>
          <a:lstStyle/>
          <a:p>
            <a:pPr/>
          </a:p>
        </p:txBody>
      </p:sp>
      <p:sp>
        <p:nvSpPr>
          <p:cNvPr id="188" name="Text 15"/>
          <p:cNvSpPr txBox="1"/>
          <p:nvPr/>
        </p:nvSpPr>
        <p:spPr>
          <a:xfrm>
            <a:off x="4315967" y="1942390"/>
            <a:ext cx="35204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DYNAMIC PROGRAMMING</a:t>
            </a:r>
          </a:p>
        </p:txBody>
      </p:sp>
      <p:sp>
        <p:nvSpPr>
          <p:cNvPr id="189" name="Text 16"/>
          <p:cNvSpPr txBox="1"/>
          <p:nvPr/>
        </p:nvSpPr>
        <p:spPr>
          <a:xfrm>
            <a:off x="4517135" y="2454455"/>
            <a:ext cx="311810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Edit Distance</a:t>
            </a:r>
          </a:p>
        </p:txBody>
      </p:sp>
      <p:sp>
        <p:nvSpPr>
          <p:cNvPr id="190" name="Text 17"/>
          <p:cNvSpPr txBox="1"/>
          <p:nvPr/>
        </p:nvSpPr>
        <p:spPr>
          <a:xfrm>
            <a:off x="4517135" y="2756960"/>
            <a:ext cx="3118105"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Fuzzy document matching</a:t>
            </a:r>
          </a:p>
        </p:txBody>
      </p:sp>
      <p:sp>
        <p:nvSpPr>
          <p:cNvPr id="191" name="Text 18"/>
          <p:cNvSpPr txBox="1"/>
          <p:nvPr/>
        </p:nvSpPr>
        <p:spPr>
          <a:xfrm>
            <a:off x="4517135" y="2984807"/>
            <a:ext cx="311810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Sequence Alignment</a:t>
            </a:r>
          </a:p>
        </p:txBody>
      </p:sp>
      <p:sp>
        <p:nvSpPr>
          <p:cNvPr id="192" name="Text 19"/>
          <p:cNvSpPr txBox="1"/>
          <p:nvPr/>
        </p:nvSpPr>
        <p:spPr>
          <a:xfrm>
            <a:off x="4517135" y="3287312"/>
            <a:ext cx="3118105"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Cross-document alignment score</a:t>
            </a:r>
          </a:p>
        </p:txBody>
      </p:sp>
      <p:sp>
        <p:nvSpPr>
          <p:cNvPr id="193" name="Shape 21"/>
          <p:cNvSpPr/>
          <p:nvPr/>
        </p:nvSpPr>
        <p:spPr>
          <a:xfrm>
            <a:off x="595283" y="4823505"/>
            <a:ext cx="3520441" cy="475489"/>
          </a:xfrm>
          <a:prstGeom prst="roundRect">
            <a:avLst>
              <a:gd name="adj" fmla="val 15385"/>
            </a:avLst>
          </a:prstGeom>
          <a:solidFill>
            <a:srgbClr val="6C4AB6"/>
          </a:solidFill>
          <a:ln w="12700">
            <a:miter lim="400000"/>
          </a:ln>
        </p:spPr>
        <p:txBody>
          <a:bodyPr lIns="45719" rIns="45719"/>
          <a:lstStyle/>
          <a:p>
            <a:pPr/>
          </a:p>
        </p:txBody>
      </p:sp>
      <p:sp>
        <p:nvSpPr>
          <p:cNvPr id="194" name="Text 22"/>
          <p:cNvSpPr txBox="1"/>
          <p:nvPr/>
        </p:nvSpPr>
        <p:spPr>
          <a:xfrm>
            <a:off x="595283" y="4962197"/>
            <a:ext cx="3520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GRAPH / RANDOMIZED</a:t>
            </a:r>
          </a:p>
        </p:txBody>
      </p:sp>
      <p:sp>
        <p:nvSpPr>
          <p:cNvPr id="195" name="Text 23"/>
          <p:cNvSpPr txBox="1"/>
          <p:nvPr/>
        </p:nvSpPr>
        <p:spPr>
          <a:xfrm>
            <a:off x="704088" y="5408720"/>
            <a:ext cx="3118105"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Edmonds-Karp</a:t>
            </a:r>
          </a:p>
        </p:txBody>
      </p:sp>
      <p:sp>
        <p:nvSpPr>
          <p:cNvPr id="196" name="Text 25"/>
          <p:cNvSpPr txBox="1"/>
          <p:nvPr/>
        </p:nvSpPr>
        <p:spPr>
          <a:xfrm>
            <a:off x="704088" y="5739306"/>
            <a:ext cx="3118105"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2235C"/>
                </a:solidFill>
              </a:defRPr>
            </a:lvl1pPr>
          </a:lstStyle>
          <a:p>
            <a:pPr/>
            <a:r>
              <a:t>Miller-Rabin</a:t>
            </a:r>
          </a:p>
        </p:txBody>
      </p:sp>
      <p:sp>
        <p:nvSpPr>
          <p:cNvPr id="197" name="Text 32"/>
          <p:cNvSpPr txBox="1"/>
          <p:nvPr/>
        </p:nvSpPr>
        <p:spPr>
          <a:xfrm>
            <a:off x="548639" y="6126524"/>
            <a:ext cx="11094417"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C7690"/>
                </a:solidFill>
              </a:defRPr>
            </a:lvl1pPr>
          </a:lstStyle>
          <a:p>
            <a:pPr/>
            <a:r>
              <a:t>Console evidence of KMP execution on document D01, proving actual algorithm execution.</a:t>
            </a:r>
          </a:p>
        </p:txBody>
      </p:sp>
      <p:sp>
        <p:nvSpPr>
          <p:cNvPr id="198" name="Text 33"/>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05 / 14</a:t>
            </a:r>
          </a:p>
        </p:txBody>
      </p:sp>
      <p:pic>
        <p:nvPicPr>
          <p:cNvPr id="199" name="Screenshot 2026-09-14 at 4.12.55 PM.png" descr="Screenshot 2026-09-14 at 4.12.55 PM.png"/>
          <p:cNvPicPr>
            <a:picLocks noChangeAspect="1"/>
          </p:cNvPicPr>
          <p:nvPr/>
        </p:nvPicPr>
        <p:blipFill>
          <a:blip r:embed="rId3">
            <a:extLst/>
          </a:blip>
          <a:srcRect l="19288" t="16806" r="46709" b="15415"/>
          <a:stretch>
            <a:fillRect/>
          </a:stretch>
        </p:blipFill>
        <p:spPr>
          <a:xfrm>
            <a:off x="8174990" y="1268102"/>
            <a:ext cx="3587745" cy="4650966"/>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1F5FB0"/>
                </a:solidFill>
              </a:defRPr>
            </a:lvl1pPr>
          </a:lstStyle>
          <a:p>
            <a:pPr/>
            <a:r>
              <a:t>RUBRIC: ADAPTABILITY OF METHODOLOGY (10)</a:t>
            </a:r>
          </a:p>
        </p:txBody>
      </p:sp>
      <p:sp>
        <p:nvSpPr>
          <p:cNvPr id="20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ADAPTABILITY — ONE SCHEDULER, MULTIPLE TEXT WORKLOADS</a:t>
            </a:r>
          </a:p>
        </p:txBody>
      </p:sp>
      <p:sp>
        <p:nvSpPr>
          <p:cNvPr id="205" name="Shape 2"/>
          <p:cNvSpPr/>
          <p:nvPr/>
        </p:nvSpPr>
        <p:spPr>
          <a:xfrm>
            <a:off x="502919" y="1874520"/>
            <a:ext cx="1727151"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06" name="Shape 3"/>
          <p:cNvSpPr/>
          <p:nvPr/>
        </p:nvSpPr>
        <p:spPr>
          <a:xfrm>
            <a:off x="630936" y="2020823"/>
            <a:ext cx="128017" cy="128017"/>
          </a:xfrm>
          <a:prstGeom prst="ellipse">
            <a:avLst/>
          </a:prstGeom>
          <a:solidFill>
            <a:srgbClr val="0E7C86"/>
          </a:solidFill>
          <a:ln w="12700">
            <a:miter lim="400000"/>
          </a:ln>
        </p:spPr>
        <p:txBody>
          <a:bodyPr lIns="45719" rIns="45719"/>
          <a:lstStyle/>
          <a:p>
            <a:pPr/>
          </a:p>
        </p:txBody>
      </p:sp>
      <p:sp>
        <p:nvSpPr>
          <p:cNvPr id="207" name="Text 4"/>
          <p:cNvSpPr txBox="1"/>
          <p:nvPr/>
        </p:nvSpPr>
        <p:spPr>
          <a:xfrm>
            <a:off x="594359"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Exact Search</a:t>
            </a:r>
          </a:p>
        </p:txBody>
      </p:sp>
      <p:sp>
        <p:nvSpPr>
          <p:cNvPr id="208" name="Text 5"/>
          <p:cNvSpPr txBox="1"/>
          <p:nvPr/>
        </p:nvSpPr>
        <p:spPr>
          <a:xfrm>
            <a:off x="594359"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E7C86"/>
                </a:solidFill>
              </a:defRPr>
            </a:lvl1pPr>
          </a:lstStyle>
          <a:p>
            <a:pPr/>
            <a:r>
              <a:t>KMP</a:t>
            </a:r>
          </a:p>
        </p:txBody>
      </p:sp>
      <p:sp>
        <p:nvSpPr>
          <p:cNvPr id="209" name="Shape 6"/>
          <p:cNvSpPr/>
          <p:nvPr/>
        </p:nvSpPr>
        <p:spPr>
          <a:xfrm>
            <a:off x="2394661" y="1874520"/>
            <a:ext cx="1727150"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10" name="Shape 7"/>
          <p:cNvSpPr/>
          <p:nvPr/>
        </p:nvSpPr>
        <p:spPr>
          <a:xfrm>
            <a:off x="2522677" y="2020823"/>
            <a:ext cx="128017" cy="128017"/>
          </a:xfrm>
          <a:prstGeom prst="ellipse">
            <a:avLst/>
          </a:prstGeom>
          <a:solidFill>
            <a:srgbClr val="0E7C86"/>
          </a:solidFill>
          <a:ln w="12700">
            <a:miter lim="400000"/>
          </a:ln>
        </p:spPr>
        <p:txBody>
          <a:bodyPr lIns="45719" rIns="45719"/>
          <a:lstStyle/>
          <a:p>
            <a:pPr/>
          </a:p>
        </p:txBody>
      </p:sp>
      <p:sp>
        <p:nvSpPr>
          <p:cNvPr id="211" name="Text 8"/>
          <p:cNvSpPr txBox="1"/>
          <p:nvPr/>
        </p:nvSpPr>
        <p:spPr>
          <a:xfrm>
            <a:off x="2486100"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Fast Keyword Search</a:t>
            </a:r>
          </a:p>
        </p:txBody>
      </p:sp>
      <p:sp>
        <p:nvSpPr>
          <p:cNvPr id="212" name="Text 9"/>
          <p:cNvSpPr txBox="1"/>
          <p:nvPr/>
        </p:nvSpPr>
        <p:spPr>
          <a:xfrm>
            <a:off x="2486100"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0E7C86"/>
                </a:solidFill>
              </a:defRPr>
            </a:lvl1pPr>
          </a:lstStyle>
          <a:p>
            <a:pPr/>
            <a:r>
              <a:t>Rabin-Karp</a:t>
            </a:r>
          </a:p>
        </p:txBody>
      </p:sp>
      <p:sp>
        <p:nvSpPr>
          <p:cNvPr id="213" name="Shape 10"/>
          <p:cNvSpPr/>
          <p:nvPr/>
        </p:nvSpPr>
        <p:spPr>
          <a:xfrm>
            <a:off x="4286401" y="1874520"/>
            <a:ext cx="1727150"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14" name="Shape 11"/>
          <p:cNvSpPr/>
          <p:nvPr/>
        </p:nvSpPr>
        <p:spPr>
          <a:xfrm>
            <a:off x="4414418" y="2020823"/>
            <a:ext cx="128017" cy="128017"/>
          </a:xfrm>
          <a:prstGeom prst="ellipse">
            <a:avLst/>
          </a:prstGeom>
          <a:solidFill>
            <a:srgbClr val="1F5FB0"/>
          </a:solidFill>
          <a:ln w="12700">
            <a:miter lim="400000"/>
          </a:ln>
        </p:spPr>
        <p:txBody>
          <a:bodyPr lIns="45719" rIns="45719"/>
          <a:lstStyle/>
          <a:p>
            <a:pPr/>
          </a:p>
        </p:txBody>
      </p:sp>
      <p:sp>
        <p:nvSpPr>
          <p:cNvPr id="215" name="Text 12"/>
          <p:cNvSpPr txBox="1"/>
          <p:nvPr/>
        </p:nvSpPr>
        <p:spPr>
          <a:xfrm>
            <a:off x="4377842"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Fuzzy Matching</a:t>
            </a:r>
          </a:p>
        </p:txBody>
      </p:sp>
      <p:sp>
        <p:nvSpPr>
          <p:cNvPr id="216" name="Text 13"/>
          <p:cNvSpPr txBox="1"/>
          <p:nvPr/>
        </p:nvSpPr>
        <p:spPr>
          <a:xfrm>
            <a:off x="4377842"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1F5FB0"/>
                </a:solidFill>
              </a:defRPr>
            </a:lvl1pPr>
          </a:lstStyle>
          <a:p>
            <a:pPr/>
            <a:r>
              <a:t>Edit Distance</a:t>
            </a:r>
          </a:p>
        </p:txBody>
      </p:sp>
      <p:sp>
        <p:nvSpPr>
          <p:cNvPr id="217" name="Shape 14"/>
          <p:cNvSpPr/>
          <p:nvPr/>
        </p:nvSpPr>
        <p:spPr>
          <a:xfrm>
            <a:off x="6178143" y="1874520"/>
            <a:ext cx="1727150"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18" name="Shape 15"/>
          <p:cNvSpPr/>
          <p:nvPr/>
        </p:nvSpPr>
        <p:spPr>
          <a:xfrm>
            <a:off x="6306160" y="2020823"/>
            <a:ext cx="128017" cy="128017"/>
          </a:xfrm>
          <a:prstGeom prst="ellipse">
            <a:avLst/>
          </a:prstGeom>
          <a:solidFill>
            <a:srgbClr val="1F5FB0"/>
          </a:solidFill>
          <a:ln w="12700">
            <a:miter lim="400000"/>
          </a:ln>
        </p:spPr>
        <p:txBody>
          <a:bodyPr lIns="45719" rIns="45719"/>
          <a:lstStyle/>
          <a:p>
            <a:pPr/>
          </a:p>
        </p:txBody>
      </p:sp>
      <p:sp>
        <p:nvSpPr>
          <p:cNvPr id="219" name="Text 16"/>
          <p:cNvSpPr txBox="1"/>
          <p:nvPr/>
        </p:nvSpPr>
        <p:spPr>
          <a:xfrm>
            <a:off x="6269583"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Text Indexing</a:t>
            </a:r>
          </a:p>
        </p:txBody>
      </p:sp>
      <p:sp>
        <p:nvSpPr>
          <p:cNvPr id="220" name="Text 17"/>
          <p:cNvSpPr txBox="1"/>
          <p:nvPr/>
        </p:nvSpPr>
        <p:spPr>
          <a:xfrm>
            <a:off x="6269583"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1F5FB0"/>
                </a:solidFill>
              </a:defRPr>
            </a:lvl1pPr>
          </a:lstStyle>
          <a:p>
            <a:pPr/>
            <a:r>
              <a:t>Suffix Array</a:t>
            </a:r>
          </a:p>
        </p:txBody>
      </p:sp>
      <p:sp>
        <p:nvSpPr>
          <p:cNvPr id="221" name="Shape 18"/>
          <p:cNvSpPr/>
          <p:nvPr/>
        </p:nvSpPr>
        <p:spPr>
          <a:xfrm>
            <a:off x="8069884" y="1874520"/>
            <a:ext cx="1727150"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22" name="Shape 19"/>
          <p:cNvSpPr/>
          <p:nvPr/>
        </p:nvSpPr>
        <p:spPr>
          <a:xfrm>
            <a:off x="8197901" y="2020823"/>
            <a:ext cx="128017" cy="128017"/>
          </a:xfrm>
          <a:prstGeom prst="ellipse">
            <a:avLst/>
          </a:prstGeom>
          <a:solidFill>
            <a:srgbClr val="6C4AB6"/>
          </a:solidFill>
          <a:ln w="12700">
            <a:miter lim="400000"/>
          </a:ln>
        </p:spPr>
        <p:txBody>
          <a:bodyPr lIns="45719" rIns="45719"/>
          <a:lstStyle/>
          <a:p>
            <a:pPr/>
          </a:p>
        </p:txBody>
      </p:sp>
      <p:sp>
        <p:nvSpPr>
          <p:cNvPr id="223" name="Text 20"/>
          <p:cNvSpPr txBox="1"/>
          <p:nvPr/>
        </p:nvSpPr>
        <p:spPr>
          <a:xfrm>
            <a:off x="8161325"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Alignment</a:t>
            </a:r>
          </a:p>
        </p:txBody>
      </p:sp>
      <p:sp>
        <p:nvSpPr>
          <p:cNvPr id="224" name="Text 21"/>
          <p:cNvSpPr txBox="1"/>
          <p:nvPr/>
        </p:nvSpPr>
        <p:spPr>
          <a:xfrm>
            <a:off x="8161325"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4AB6"/>
                </a:solidFill>
              </a:defRPr>
            </a:lvl1pPr>
          </a:lstStyle>
          <a:p>
            <a:pPr/>
            <a:r>
              <a:t>Dynamic Programming</a:t>
            </a:r>
          </a:p>
        </p:txBody>
      </p:sp>
      <p:sp>
        <p:nvSpPr>
          <p:cNvPr id="225" name="Shape 22"/>
          <p:cNvSpPr/>
          <p:nvPr/>
        </p:nvSpPr>
        <p:spPr>
          <a:xfrm>
            <a:off x="9961626" y="1874520"/>
            <a:ext cx="1727150" cy="1051561"/>
          </a:xfrm>
          <a:prstGeom prst="roundRect">
            <a:avLst>
              <a:gd name="adj" fmla="val 6957"/>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26" name="Shape 23"/>
          <p:cNvSpPr/>
          <p:nvPr/>
        </p:nvSpPr>
        <p:spPr>
          <a:xfrm>
            <a:off x="10089642" y="2020823"/>
            <a:ext cx="128017" cy="128017"/>
          </a:xfrm>
          <a:prstGeom prst="ellipse">
            <a:avLst/>
          </a:prstGeom>
          <a:solidFill>
            <a:srgbClr val="6C4AB6"/>
          </a:solidFill>
          <a:ln w="12700">
            <a:miter lim="400000"/>
          </a:ln>
        </p:spPr>
        <p:txBody>
          <a:bodyPr lIns="45719" rIns="45719"/>
          <a:lstStyle/>
          <a:p>
            <a:pPr/>
          </a:p>
        </p:txBody>
      </p:sp>
      <p:sp>
        <p:nvSpPr>
          <p:cNvPr id="227" name="Text 24"/>
          <p:cNvSpPr txBox="1"/>
          <p:nvPr/>
        </p:nvSpPr>
        <p:spPr>
          <a:xfrm>
            <a:off x="10053066" y="2203704"/>
            <a:ext cx="1544270"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000">
                <a:solidFill>
                  <a:srgbClr val="12235C"/>
                </a:solidFill>
              </a:defRPr>
            </a:lvl1pPr>
          </a:lstStyle>
          <a:p>
            <a:pPr/>
            <a:r>
              <a:t>Graph Analysis</a:t>
            </a:r>
          </a:p>
        </p:txBody>
      </p:sp>
      <p:sp>
        <p:nvSpPr>
          <p:cNvPr id="228" name="Text 25"/>
          <p:cNvSpPr txBox="1"/>
          <p:nvPr/>
        </p:nvSpPr>
        <p:spPr>
          <a:xfrm>
            <a:off x="10053066" y="2587751"/>
            <a:ext cx="15442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4AB6"/>
                </a:solidFill>
              </a:defRPr>
            </a:lvl1pPr>
          </a:lstStyle>
          <a:p>
            <a:pPr/>
            <a:r>
              <a:t>Edmonds-Karp</a:t>
            </a:r>
          </a:p>
        </p:txBody>
      </p:sp>
      <p:sp>
        <p:nvSpPr>
          <p:cNvPr id="229" name="Shape 26"/>
          <p:cNvSpPr/>
          <p:nvPr/>
        </p:nvSpPr>
        <p:spPr>
          <a:xfrm>
            <a:off x="502919" y="3337559"/>
            <a:ext cx="2453565" cy="502921"/>
          </a:xfrm>
          <a:prstGeom prst="roundRect">
            <a:avLst>
              <a:gd name="adj" fmla="val 50000"/>
            </a:avLst>
          </a:prstGeom>
          <a:solidFill>
            <a:srgbClr val="E7EEFB"/>
          </a:solidFill>
          <a:ln w="12700">
            <a:miter lim="400000"/>
          </a:ln>
        </p:spPr>
        <p:txBody>
          <a:bodyPr lIns="45719" rIns="45719"/>
          <a:lstStyle/>
          <a:p>
            <a:pPr/>
          </a:p>
        </p:txBody>
      </p:sp>
      <p:sp>
        <p:nvSpPr>
          <p:cNvPr id="230" name="Text 27"/>
          <p:cNvSpPr txBox="1"/>
          <p:nvPr/>
        </p:nvSpPr>
        <p:spPr>
          <a:xfrm>
            <a:off x="557783" y="3520483"/>
            <a:ext cx="234383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1F5FB0"/>
                </a:solidFill>
              </a:defRPr>
            </a:lvl1pPr>
          </a:lstStyle>
          <a:p>
            <a:pPr/>
            <a:r>
              <a:t>Different workload</a:t>
            </a:r>
          </a:p>
        </p:txBody>
      </p:sp>
      <p:sp>
        <p:nvSpPr>
          <p:cNvPr id="231" name="Text 28"/>
          <p:cNvSpPr txBox="1"/>
          <p:nvPr/>
        </p:nvSpPr>
        <p:spPr>
          <a:xfrm>
            <a:off x="2956484" y="3484442"/>
            <a:ext cx="4572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232" name="Shape 29"/>
          <p:cNvSpPr/>
          <p:nvPr/>
        </p:nvSpPr>
        <p:spPr>
          <a:xfrm>
            <a:off x="3413683" y="3337559"/>
            <a:ext cx="2453565" cy="502921"/>
          </a:xfrm>
          <a:prstGeom prst="roundRect">
            <a:avLst>
              <a:gd name="adj" fmla="val 50000"/>
            </a:avLst>
          </a:prstGeom>
          <a:solidFill>
            <a:srgbClr val="E7EEFB"/>
          </a:solidFill>
          <a:ln w="12700">
            <a:miter lim="400000"/>
          </a:ln>
        </p:spPr>
        <p:txBody>
          <a:bodyPr lIns="45719" rIns="45719"/>
          <a:lstStyle/>
          <a:p>
            <a:pPr/>
          </a:p>
        </p:txBody>
      </p:sp>
      <p:sp>
        <p:nvSpPr>
          <p:cNvPr id="233" name="Text 30"/>
          <p:cNvSpPr txBox="1"/>
          <p:nvPr/>
        </p:nvSpPr>
        <p:spPr>
          <a:xfrm>
            <a:off x="3468547" y="3520483"/>
            <a:ext cx="234383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1F5FB0"/>
                </a:solidFill>
              </a:defRPr>
            </a:lvl1pPr>
          </a:lstStyle>
          <a:p>
            <a:pPr/>
            <a:r>
              <a:t>Different task profile</a:t>
            </a:r>
          </a:p>
        </p:txBody>
      </p:sp>
      <p:sp>
        <p:nvSpPr>
          <p:cNvPr id="234" name="Text 31"/>
          <p:cNvSpPr txBox="1"/>
          <p:nvPr/>
        </p:nvSpPr>
        <p:spPr>
          <a:xfrm>
            <a:off x="5867248" y="3484442"/>
            <a:ext cx="4572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235" name="Shape 32"/>
          <p:cNvSpPr/>
          <p:nvPr/>
        </p:nvSpPr>
        <p:spPr>
          <a:xfrm>
            <a:off x="6324448" y="3337559"/>
            <a:ext cx="2453565" cy="502921"/>
          </a:xfrm>
          <a:prstGeom prst="roundRect">
            <a:avLst>
              <a:gd name="adj" fmla="val 50000"/>
            </a:avLst>
          </a:prstGeom>
          <a:solidFill>
            <a:srgbClr val="E7EEFB"/>
          </a:solidFill>
          <a:ln w="12700">
            <a:miter lim="400000"/>
          </a:ln>
        </p:spPr>
        <p:txBody>
          <a:bodyPr lIns="45719" rIns="45719"/>
          <a:lstStyle/>
          <a:p>
            <a:pPr/>
          </a:p>
        </p:txBody>
      </p:sp>
      <p:sp>
        <p:nvSpPr>
          <p:cNvPr id="236" name="Text 33"/>
          <p:cNvSpPr txBox="1"/>
          <p:nvPr/>
        </p:nvSpPr>
        <p:spPr>
          <a:xfrm>
            <a:off x="6379312" y="3520483"/>
            <a:ext cx="234383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1F5FB0"/>
                </a:solidFill>
              </a:defRPr>
            </a:lvl1pPr>
          </a:lstStyle>
          <a:p>
            <a:pPr/>
            <a:r>
              <a:t>Different CPU / RAM requirement</a:t>
            </a:r>
          </a:p>
        </p:txBody>
      </p:sp>
      <p:sp>
        <p:nvSpPr>
          <p:cNvPr id="237" name="Text 34"/>
          <p:cNvSpPr txBox="1"/>
          <p:nvPr/>
        </p:nvSpPr>
        <p:spPr>
          <a:xfrm>
            <a:off x="8778010" y="3484442"/>
            <a:ext cx="4572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238" name="Shape 35"/>
          <p:cNvSpPr/>
          <p:nvPr/>
        </p:nvSpPr>
        <p:spPr>
          <a:xfrm>
            <a:off x="9235210" y="3337559"/>
            <a:ext cx="2453565" cy="502921"/>
          </a:xfrm>
          <a:prstGeom prst="roundRect">
            <a:avLst>
              <a:gd name="adj" fmla="val 50000"/>
            </a:avLst>
          </a:prstGeom>
          <a:solidFill>
            <a:srgbClr val="12235C"/>
          </a:solidFill>
          <a:ln w="12700">
            <a:miter lim="400000"/>
          </a:ln>
        </p:spPr>
        <p:txBody>
          <a:bodyPr lIns="45719" rIns="45719"/>
          <a:lstStyle/>
          <a:p>
            <a:pPr/>
          </a:p>
        </p:txBody>
      </p:sp>
      <p:sp>
        <p:nvSpPr>
          <p:cNvPr id="239" name="Text 36"/>
          <p:cNvSpPr txBox="1"/>
          <p:nvPr/>
        </p:nvSpPr>
        <p:spPr>
          <a:xfrm>
            <a:off x="9290074" y="3520483"/>
            <a:ext cx="2343837"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Scheduler adapts resource assignment</a:t>
            </a:r>
          </a:p>
        </p:txBody>
      </p:sp>
      <p:sp>
        <p:nvSpPr>
          <p:cNvPr id="240" name="Shape 37"/>
          <p:cNvSpPr/>
          <p:nvPr/>
        </p:nvSpPr>
        <p:spPr>
          <a:xfrm>
            <a:off x="502919" y="4160520"/>
            <a:ext cx="11185857" cy="777241"/>
          </a:xfrm>
          <a:prstGeom prst="roundRect">
            <a:avLst>
              <a:gd name="adj" fmla="val 9412"/>
            </a:avLst>
          </a:prstGeom>
          <a:solidFill>
            <a:srgbClr val="EFE9F8"/>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241" name="Text 38"/>
          <p:cNvSpPr txBox="1"/>
          <p:nvPr/>
        </p:nvSpPr>
        <p:spPr>
          <a:xfrm>
            <a:off x="777239" y="4353736"/>
            <a:ext cx="10637217" cy="3908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6C4AB6"/>
                </a:solidFill>
              </a:defRPr>
            </a:lvl1pPr>
          </a:lstStyle>
          <a:p>
            <a:pPr/>
            <a:r>
              <a:t>10-document corpus spans Operating Systems, Networks, DSA, ISRO, Databases, AI, plus Indian &amp; multilingual content — Telugu literature, Indian classical dance, the Constitution, Indian rivers &amp; geography — proving the scheduler generalizes beyond a single domain.</a:t>
            </a:r>
          </a:p>
        </p:txBody>
      </p:sp>
      <p:sp>
        <p:nvSpPr>
          <p:cNvPr id="242" name="Text 39"/>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06 / 14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12235C"/>
                </a:solidFill>
              </a:defRPr>
            </a:lvl1pPr>
          </a:lstStyle>
          <a:p>
            <a:pPr/>
            <a:r>
              <a:t>SCHEDULING LAYER</a:t>
            </a:r>
          </a:p>
        </p:txBody>
      </p:sp>
      <p:sp>
        <p:nvSpPr>
          <p:cNvPr id="247"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RUNTIME-AWARE HEFT V3 SCHEDULING</a:t>
            </a:r>
          </a:p>
        </p:txBody>
      </p:sp>
      <p:sp>
        <p:nvSpPr>
          <p:cNvPr id="248" name="Shape 2"/>
          <p:cNvSpPr/>
          <p:nvPr/>
        </p:nvSpPr>
        <p:spPr>
          <a:xfrm>
            <a:off x="502919" y="1920239"/>
            <a:ext cx="292609" cy="292609"/>
          </a:xfrm>
          <a:prstGeom prst="ellipse">
            <a:avLst/>
          </a:prstGeom>
          <a:solidFill>
            <a:srgbClr val="12235C"/>
          </a:solidFill>
          <a:ln w="12700">
            <a:miter lim="400000"/>
          </a:ln>
        </p:spPr>
        <p:txBody>
          <a:bodyPr lIns="45719" rIns="45719"/>
          <a:lstStyle/>
          <a:p>
            <a:pPr/>
          </a:p>
        </p:txBody>
      </p:sp>
      <p:sp>
        <p:nvSpPr>
          <p:cNvPr id="249" name="Text 3"/>
          <p:cNvSpPr txBox="1"/>
          <p:nvPr/>
        </p:nvSpPr>
        <p:spPr>
          <a:xfrm>
            <a:off x="502919" y="19881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1</a:t>
            </a:r>
          </a:p>
        </p:txBody>
      </p:sp>
      <p:sp>
        <p:nvSpPr>
          <p:cNvPr id="250" name="Text 4"/>
          <p:cNvSpPr txBox="1"/>
          <p:nvPr/>
        </p:nvSpPr>
        <p:spPr>
          <a:xfrm>
            <a:off x="886967" y="19994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Generate tasks</a:t>
            </a:r>
          </a:p>
        </p:txBody>
      </p:sp>
      <p:sp>
        <p:nvSpPr>
          <p:cNvPr id="251" name="Shape 5"/>
          <p:cNvSpPr/>
          <p:nvPr/>
        </p:nvSpPr>
        <p:spPr>
          <a:xfrm>
            <a:off x="502919" y="2377439"/>
            <a:ext cx="292609" cy="292609"/>
          </a:xfrm>
          <a:prstGeom prst="ellipse">
            <a:avLst/>
          </a:prstGeom>
          <a:solidFill>
            <a:srgbClr val="12235C"/>
          </a:solidFill>
          <a:ln w="12700">
            <a:miter lim="400000"/>
          </a:ln>
        </p:spPr>
        <p:txBody>
          <a:bodyPr lIns="45719" rIns="45719"/>
          <a:lstStyle/>
          <a:p>
            <a:pPr/>
          </a:p>
        </p:txBody>
      </p:sp>
      <p:sp>
        <p:nvSpPr>
          <p:cNvPr id="252" name="Text 6"/>
          <p:cNvSpPr txBox="1"/>
          <p:nvPr/>
        </p:nvSpPr>
        <p:spPr>
          <a:xfrm>
            <a:off x="502919" y="24453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2</a:t>
            </a:r>
          </a:p>
        </p:txBody>
      </p:sp>
      <p:sp>
        <p:nvSpPr>
          <p:cNvPr id="253" name="Text 7"/>
          <p:cNvSpPr txBox="1"/>
          <p:nvPr/>
        </p:nvSpPr>
        <p:spPr>
          <a:xfrm>
            <a:off x="886967" y="24566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Detect dependencies</a:t>
            </a:r>
          </a:p>
        </p:txBody>
      </p:sp>
      <p:sp>
        <p:nvSpPr>
          <p:cNvPr id="254" name="Shape 8"/>
          <p:cNvSpPr/>
          <p:nvPr/>
        </p:nvSpPr>
        <p:spPr>
          <a:xfrm>
            <a:off x="502919" y="2834639"/>
            <a:ext cx="292609" cy="292609"/>
          </a:xfrm>
          <a:prstGeom prst="ellipse">
            <a:avLst/>
          </a:prstGeom>
          <a:solidFill>
            <a:srgbClr val="12235C"/>
          </a:solidFill>
          <a:ln w="12700">
            <a:miter lim="400000"/>
          </a:ln>
        </p:spPr>
        <p:txBody>
          <a:bodyPr lIns="45719" rIns="45719"/>
          <a:lstStyle/>
          <a:p>
            <a:pPr/>
          </a:p>
        </p:txBody>
      </p:sp>
      <p:sp>
        <p:nvSpPr>
          <p:cNvPr id="255" name="Text 9"/>
          <p:cNvSpPr txBox="1"/>
          <p:nvPr/>
        </p:nvSpPr>
        <p:spPr>
          <a:xfrm>
            <a:off x="502919" y="29025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3</a:t>
            </a:r>
          </a:p>
        </p:txBody>
      </p:sp>
      <p:sp>
        <p:nvSpPr>
          <p:cNvPr id="256" name="Text 10"/>
          <p:cNvSpPr txBox="1"/>
          <p:nvPr/>
        </p:nvSpPr>
        <p:spPr>
          <a:xfrm>
            <a:off x="886967" y="29138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Compute upward rank</a:t>
            </a:r>
          </a:p>
        </p:txBody>
      </p:sp>
      <p:sp>
        <p:nvSpPr>
          <p:cNvPr id="257" name="Shape 11"/>
          <p:cNvSpPr/>
          <p:nvPr/>
        </p:nvSpPr>
        <p:spPr>
          <a:xfrm>
            <a:off x="502919" y="3291840"/>
            <a:ext cx="292609" cy="292609"/>
          </a:xfrm>
          <a:prstGeom prst="ellipse">
            <a:avLst/>
          </a:prstGeom>
          <a:solidFill>
            <a:srgbClr val="12235C"/>
          </a:solidFill>
          <a:ln w="12700">
            <a:miter lim="400000"/>
          </a:ln>
        </p:spPr>
        <p:txBody>
          <a:bodyPr lIns="45719" rIns="45719"/>
          <a:lstStyle/>
          <a:p>
            <a:pPr/>
          </a:p>
        </p:txBody>
      </p:sp>
      <p:sp>
        <p:nvSpPr>
          <p:cNvPr id="258" name="Text 12"/>
          <p:cNvSpPr txBox="1"/>
          <p:nvPr/>
        </p:nvSpPr>
        <p:spPr>
          <a:xfrm>
            <a:off x="502919" y="33597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4</a:t>
            </a:r>
          </a:p>
        </p:txBody>
      </p:sp>
      <p:sp>
        <p:nvSpPr>
          <p:cNvPr id="259" name="Text 13"/>
          <p:cNvSpPr txBox="1"/>
          <p:nvPr/>
        </p:nvSpPr>
        <p:spPr>
          <a:xfrm>
            <a:off x="886967" y="3371010"/>
            <a:ext cx="269748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Identify ready tasks</a:t>
            </a:r>
          </a:p>
        </p:txBody>
      </p:sp>
      <p:sp>
        <p:nvSpPr>
          <p:cNvPr id="260" name="Shape 14"/>
          <p:cNvSpPr/>
          <p:nvPr/>
        </p:nvSpPr>
        <p:spPr>
          <a:xfrm>
            <a:off x="502919" y="3749040"/>
            <a:ext cx="292609" cy="292609"/>
          </a:xfrm>
          <a:prstGeom prst="ellipse">
            <a:avLst/>
          </a:prstGeom>
          <a:solidFill>
            <a:srgbClr val="12235C"/>
          </a:solidFill>
          <a:ln w="12700">
            <a:miter lim="400000"/>
          </a:ln>
        </p:spPr>
        <p:txBody>
          <a:bodyPr lIns="45719" rIns="45719"/>
          <a:lstStyle/>
          <a:p>
            <a:pPr/>
          </a:p>
        </p:txBody>
      </p:sp>
      <p:sp>
        <p:nvSpPr>
          <p:cNvPr id="261" name="Text 15"/>
          <p:cNvSpPr txBox="1"/>
          <p:nvPr/>
        </p:nvSpPr>
        <p:spPr>
          <a:xfrm>
            <a:off x="502919" y="38169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5</a:t>
            </a:r>
          </a:p>
        </p:txBody>
      </p:sp>
      <p:sp>
        <p:nvSpPr>
          <p:cNvPr id="262" name="Text 16"/>
          <p:cNvSpPr txBox="1"/>
          <p:nvPr/>
        </p:nvSpPr>
        <p:spPr>
          <a:xfrm>
            <a:off x="886967" y="3828210"/>
            <a:ext cx="269748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Check CPU / RAM compatibility</a:t>
            </a:r>
          </a:p>
        </p:txBody>
      </p:sp>
      <p:sp>
        <p:nvSpPr>
          <p:cNvPr id="263" name="Shape 17"/>
          <p:cNvSpPr/>
          <p:nvPr/>
        </p:nvSpPr>
        <p:spPr>
          <a:xfrm>
            <a:off x="3749040" y="1920239"/>
            <a:ext cx="292609" cy="292609"/>
          </a:xfrm>
          <a:prstGeom prst="ellipse">
            <a:avLst/>
          </a:prstGeom>
          <a:solidFill>
            <a:srgbClr val="12235C"/>
          </a:solidFill>
          <a:ln w="12700">
            <a:miter lim="400000"/>
          </a:ln>
        </p:spPr>
        <p:txBody>
          <a:bodyPr lIns="45719" rIns="45719"/>
          <a:lstStyle/>
          <a:p>
            <a:pPr/>
          </a:p>
        </p:txBody>
      </p:sp>
      <p:sp>
        <p:nvSpPr>
          <p:cNvPr id="264" name="Text 18"/>
          <p:cNvSpPr txBox="1"/>
          <p:nvPr/>
        </p:nvSpPr>
        <p:spPr>
          <a:xfrm>
            <a:off x="3749040" y="19881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6</a:t>
            </a:r>
          </a:p>
        </p:txBody>
      </p:sp>
      <p:sp>
        <p:nvSpPr>
          <p:cNvPr id="265" name="Text 19"/>
          <p:cNvSpPr txBox="1"/>
          <p:nvPr/>
        </p:nvSpPr>
        <p:spPr>
          <a:xfrm>
            <a:off x="4133087" y="19994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Predict execution time</a:t>
            </a:r>
          </a:p>
        </p:txBody>
      </p:sp>
      <p:sp>
        <p:nvSpPr>
          <p:cNvPr id="266" name="Shape 20"/>
          <p:cNvSpPr/>
          <p:nvPr/>
        </p:nvSpPr>
        <p:spPr>
          <a:xfrm>
            <a:off x="3749040" y="2377439"/>
            <a:ext cx="292609" cy="292609"/>
          </a:xfrm>
          <a:prstGeom prst="ellipse">
            <a:avLst/>
          </a:prstGeom>
          <a:solidFill>
            <a:srgbClr val="12235C"/>
          </a:solidFill>
          <a:ln w="12700">
            <a:miter lim="400000"/>
          </a:ln>
        </p:spPr>
        <p:txBody>
          <a:bodyPr lIns="45719" rIns="45719"/>
          <a:lstStyle/>
          <a:p>
            <a:pPr/>
          </a:p>
        </p:txBody>
      </p:sp>
      <p:sp>
        <p:nvSpPr>
          <p:cNvPr id="267" name="Text 21"/>
          <p:cNvSpPr txBox="1"/>
          <p:nvPr/>
        </p:nvSpPr>
        <p:spPr>
          <a:xfrm>
            <a:off x="3749040" y="24453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7</a:t>
            </a:r>
          </a:p>
        </p:txBody>
      </p:sp>
      <p:sp>
        <p:nvSpPr>
          <p:cNvPr id="268" name="Text 22"/>
          <p:cNvSpPr txBox="1"/>
          <p:nvPr/>
        </p:nvSpPr>
        <p:spPr>
          <a:xfrm>
            <a:off x="4133087" y="24566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Assign heterogeneous resource</a:t>
            </a:r>
          </a:p>
        </p:txBody>
      </p:sp>
      <p:sp>
        <p:nvSpPr>
          <p:cNvPr id="269" name="Shape 23"/>
          <p:cNvSpPr/>
          <p:nvPr/>
        </p:nvSpPr>
        <p:spPr>
          <a:xfrm>
            <a:off x="3749040" y="2834639"/>
            <a:ext cx="292609" cy="292609"/>
          </a:xfrm>
          <a:prstGeom prst="ellipse">
            <a:avLst/>
          </a:prstGeom>
          <a:solidFill>
            <a:srgbClr val="12235C"/>
          </a:solidFill>
          <a:ln w="12700">
            <a:miter lim="400000"/>
          </a:ln>
        </p:spPr>
        <p:txBody>
          <a:bodyPr lIns="45719" rIns="45719"/>
          <a:lstStyle/>
          <a:p>
            <a:pPr/>
          </a:p>
        </p:txBody>
      </p:sp>
      <p:sp>
        <p:nvSpPr>
          <p:cNvPr id="270" name="Text 24"/>
          <p:cNvSpPr txBox="1"/>
          <p:nvPr/>
        </p:nvSpPr>
        <p:spPr>
          <a:xfrm>
            <a:off x="3749040" y="29025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8</a:t>
            </a:r>
          </a:p>
        </p:txBody>
      </p:sp>
      <p:sp>
        <p:nvSpPr>
          <p:cNvPr id="271" name="Text 25"/>
          <p:cNvSpPr txBox="1"/>
          <p:nvPr/>
        </p:nvSpPr>
        <p:spPr>
          <a:xfrm>
            <a:off x="4133087" y="2913810"/>
            <a:ext cx="2697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Execute in parallel</a:t>
            </a:r>
          </a:p>
        </p:txBody>
      </p:sp>
      <p:sp>
        <p:nvSpPr>
          <p:cNvPr id="272" name="Shape 26"/>
          <p:cNvSpPr/>
          <p:nvPr/>
        </p:nvSpPr>
        <p:spPr>
          <a:xfrm>
            <a:off x="3749040" y="3291840"/>
            <a:ext cx="292609" cy="292609"/>
          </a:xfrm>
          <a:prstGeom prst="ellipse">
            <a:avLst/>
          </a:prstGeom>
          <a:solidFill>
            <a:srgbClr val="12235C"/>
          </a:solidFill>
          <a:ln w="12700">
            <a:miter lim="400000"/>
          </a:ln>
        </p:spPr>
        <p:txBody>
          <a:bodyPr lIns="45719" rIns="45719"/>
          <a:lstStyle/>
          <a:p>
            <a:pPr/>
          </a:p>
        </p:txBody>
      </p:sp>
      <p:sp>
        <p:nvSpPr>
          <p:cNvPr id="273" name="Text 27"/>
          <p:cNvSpPr txBox="1"/>
          <p:nvPr/>
        </p:nvSpPr>
        <p:spPr>
          <a:xfrm>
            <a:off x="3749040" y="33597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9</a:t>
            </a:r>
          </a:p>
        </p:txBody>
      </p:sp>
      <p:sp>
        <p:nvSpPr>
          <p:cNvPr id="274" name="Text 28"/>
          <p:cNvSpPr txBox="1"/>
          <p:nvPr/>
        </p:nvSpPr>
        <p:spPr>
          <a:xfrm>
            <a:off x="4133087" y="3371010"/>
            <a:ext cx="269748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Measure actual runtime</a:t>
            </a:r>
          </a:p>
        </p:txBody>
      </p:sp>
      <p:sp>
        <p:nvSpPr>
          <p:cNvPr id="275" name="Shape 29"/>
          <p:cNvSpPr/>
          <p:nvPr/>
        </p:nvSpPr>
        <p:spPr>
          <a:xfrm>
            <a:off x="3749040" y="3749040"/>
            <a:ext cx="292609" cy="292609"/>
          </a:xfrm>
          <a:prstGeom prst="ellipse">
            <a:avLst/>
          </a:prstGeom>
          <a:solidFill>
            <a:srgbClr val="12235C"/>
          </a:solidFill>
          <a:ln w="12700">
            <a:miter lim="400000"/>
          </a:ln>
        </p:spPr>
        <p:txBody>
          <a:bodyPr lIns="45719" rIns="45719"/>
          <a:lstStyle/>
          <a:p>
            <a:pPr/>
          </a:p>
        </p:txBody>
      </p:sp>
      <p:sp>
        <p:nvSpPr>
          <p:cNvPr id="276" name="Text 30"/>
          <p:cNvSpPr txBox="1"/>
          <p:nvPr/>
        </p:nvSpPr>
        <p:spPr>
          <a:xfrm>
            <a:off x="3749040" y="3816911"/>
            <a:ext cx="292609"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10</a:t>
            </a:r>
          </a:p>
        </p:txBody>
      </p:sp>
      <p:sp>
        <p:nvSpPr>
          <p:cNvPr id="277" name="Text 31"/>
          <p:cNvSpPr txBox="1"/>
          <p:nvPr/>
        </p:nvSpPr>
        <p:spPr>
          <a:xfrm>
            <a:off x="4133087" y="3828210"/>
            <a:ext cx="269748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A4566"/>
                </a:solidFill>
              </a:defRPr>
            </a:lvl1pPr>
          </a:lstStyle>
          <a:p>
            <a:pPr/>
            <a:r>
              <a:t>Update runtime estimate</a:t>
            </a:r>
          </a:p>
        </p:txBody>
      </p:sp>
      <p:sp>
        <p:nvSpPr>
          <p:cNvPr id="278" name="Text 32"/>
          <p:cNvSpPr txBox="1"/>
          <p:nvPr/>
        </p:nvSpPr>
        <p:spPr>
          <a:xfrm>
            <a:off x="7223760" y="1898826"/>
            <a:ext cx="4419296"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100">
                <a:solidFill>
                  <a:srgbClr val="6C7690"/>
                </a:solidFill>
              </a:defRPr>
            </a:lvl1pPr>
          </a:lstStyle>
          <a:p>
            <a:pPr/>
            <a:r>
              <a:t>LOGICAL SCHEDULER RESOURCES</a:t>
            </a:r>
          </a:p>
        </p:txBody>
      </p:sp>
      <p:sp>
        <p:nvSpPr>
          <p:cNvPr id="279" name="Shape 33"/>
          <p:cNvSpPr/>
          <p:nvPr/>
        </p:nvSpPr>
        <p:spPr>
          <a:xfrm>
            <a:off x="7178040" y="2240279"/>
            <a:ext cx="4510736" cy="566929"/>
          </a:xfrm>
          <a:prstGeom prst="roundRect">
            <a:avLst>
              <a:gd name="adj" fmla="val 12903"/>
            </a:avLst>
          </a:prstGeom>
          <a:solidFill>
            <a:srgbClr val="F7F9FC"/>
          </a:solidFill>
          <a:ln w="12700">
            <a:solidFill>
              <a:srgbClr val="DCE2F0"/>
            </a:solidFill>
          </a:ln>
        </p:spPr>
        <p:txBody>
          <a:bodyPr lIns="45719" rIns="45719"/>
          <a:lstStyle/>
          <a:p>
            <a:pPr/>
          </a:p>
        </p:txBody>
      </p:sp>
      <p:sp>
        <p:nvSpPr>
          <p:cNvPr id="280" name="Shape 34"/>
          <p:cNvSpPr/>
          <p:nvPr/>
        </p:nvSpPr>
        <p:spPr>
          <a:xfrm>
            <a:off x="7315199" y="2377439"/>
            <a:ext cx="292610" cy="292609"/>
          </a:xfrm>
          <a:prstGeom prst="ellipse">
            <a:avLst/>
          </a:prstGeom>
          <a:solidFill>
            <a:srgbClr val="0E7C86"/>
          </a:solidFill>
          <a:ln w="12700">
            <a:miter lim="400000"/>
          </a:ln>
        </p:spPr>
        <p:txBody>
          <a:bodyPr lIns="45719" rIns="45719"/>
          <a:lstStyle/>
          <a:p>
            <a:pPr/>
          </a:p>
        </p:txBody>
      </p:sp>
      <p:sp>
        <p:nvSpPr>
          <p:cNvPr id="281" name="Text 35"/>
          <p:cNvSpPr txBox="1"/>
          <p:nvPr/>
        </p:nvSpPr>
        <p:spPr>
          <a:xfrm>
            <a:off x="7315199" y="2455208"/>
            <a:ext cx="29261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R01</a:t>
            </a:r>
          </a:p>
        </p:txBody>
      </p:sp>
      <p:sp>
        <p:nvSpPr>
          <p:cNvPr id="282" name="Text 36"/>
          <p:cNvSpPr txBox="1"/>
          <p:nvPr/>
        </p:nvSpPr>
        <p:spPr>
          <a:xfrm>
            <a:off x="7708392" y="2365170"/>
            <a:ext cx="3870655"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High Performance Worker</a:t>
            </a:r>
          </a:p>
        </p:txBody>
      </p:sp>
      <p:sp>
        <p:nvSpPr>
          <p:cNvPr id="283" name="Text 37"/>
          <p:cNvSpPr txBox="1"/>
          <p:nvPr/>
        </p:nvSpPr>
        <p:spPr>
          <a:xfrm>
            <a:off x="7708392" y="2583224"/>
            <a:ext cx="387065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4 CPU · 4096 MB</a:t>
            </a:r>
          </a:p>
        </p:txBody>
      </p:sp>
      <p:sp>
        <p:nvSpPr>
          <p:cNvPr id="284" name="Shape 38"/>
          <p:cNvSpPr/>
          <p:nvPr/>
        </p:nvSpPr>
        <p:spPr>
          <a:xfrm>
            <a:off x="7178040" y="2926079"/>
            <a:ext cx="4510736" cy="566929"/>
          </a:xfrm>
          <a:prstGeom prst="roundRect">
            <a:avLst>
              <a:gd name="adj" fmla="val 12903"/>
            </a:avLst>
          </a:prstGeom>
          <a:solidFill>
            <a:srgbClr val="F7F9FC"/>
          </a:solidFill>
          <a:ln w="12700">
            <a:solidFill>
              <a:srgbClr val="DCE2F0"/>
            </a:solidFill>
          </a:ln>
        </p:spPr>
        <p:txBody>
          <a:bodyPr lIns="45719" rIns="45719"/>
          <a:lstStyle/>
          <a:p>
            <a:pPr/>
          </a:p>
        </p:txBody>
      </p:sp>
      <p:sp>
        <p:nvSpPr>
          <p:cNvPr id="285" name="Shape 39"/>
          <p:cNvSpPr/>
          <p:nvPr/>
        </p:nvSpPr>
        <p:spPr>
          <a:xfrm>
            <a:off x="7315199" y="3063239"/>
            <a:ext cx="292610" cy="292609"/>
          </a:xfrm>
          <a:prstGeom prst="ellipse">
            <a:avLst/>
          </a:prstGeom>
          <a:solidFill>
            <a:srgbClr val="1F5FB0"/>
          </a:solidFill>
          <a:ln w="12700">
            <a:miter lim="400000"/>
          </a:ln>
        </p:spPr>
        <p:txBody>
          <a:bodyPr lIns="45719" rIns="45719"/>
          <a:lstStyle/>
          <a:p>
            <a:pPr/>
          </a:p>
        </p:txBody>
      </p:sp>
      <p:sp>
        <p:nvSpPr>
          <p:cNvPr id="286" name="Text 40"/>
          <p:cNvSpPr txBox="1"/>
          <p:nvPr/>
        </p:nvSpPr>
        <p:spPr>
          <a:xfrm>
            <a:off x="7315199" y="3141008"/>
            <a:ext cx="29261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R02</a:t>
            </a:r>
          </a:p>
        </p:txBody>
      </p:sp>
      <p:sp>
        <p:nvSpPr>
          <p:cNvPr id="287" name="Text 41"/>
          <p:cNvSpPr txBox="1"/>
          <p:nvPr/>
        </p:nvSpPr>
        <p:spPr>
          <a:xfrm>
            <a:off x="7708392" y="3050970"/>
            <a:ext cx="3870655"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Balanced Worker</a:t>
            </a:r>
          </a:p>
        </p:txBody>
      </p:sp>
      <p:sp>
        <p:nvSpPr>
          <p:cNvPr id="288" name="Text 42"/>
          <p:cNvSpPr txBox="1"/>
          <p:nvPr/>
        </p:nvSpPr>
        <p:spPr>
          <a:xfrm>
            <a:off x="7708392" y="3269024"/>
            <a:ext cx="387065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2 CPU · 2048 MB</a:t>
            </a:r>
          </a:p>
        </p:txBody>
      </p:sp>
      <p:sp>
        <p:nvSpPr>
          <p:cNvPr id="289" name="Shape 43"/>
          <p:cNvSpPr/>
          <p:nvPr/>
        </p:nvSpPr>
        <p:spPr>
          <a:xfrm>
            <a:off x="7178040" y="3611879"/>
            <a:ext cx="4510736" cy="566929"/>
          </a:xfrm>
          <a:prstGeom prst="roundRect">
            <a:avLst>
              <a:gd name="adj" fmla="val 12903"/>
            </a:avLst>
          </a:prstGeom>
          <a:solidFill>
            <a:srgbClr val="F7F9FC"/>
          </a:solidFill>
          <a:ln w="12700">
            <a:solidFill>
              <a:srgbClr val="DCE2F0"/>
            </a:solidFill>
          </a:ln>
        </p:spPr>
        <p:txBody>
          <a:bodyPr lIns="45719" rIns="45719"/>
          <a:lstStyle/>
          <a:p>
            <a:pPr/>
          </a:p>
        </p:txBody>
      </p:sp>
      <p:sp>
        <p:nvSpPr>
          <p:cNvPr id="290" name="Shape 44"/>
          <p:cNvSpPr/>
          <p:nvPr/>
        </p:nvSpPr>
        <p:spPr>
          <a:xfrm>
            <a:off x="7315199" y="3749040"/>
            <a:ext cx="292610" cy="292609"/>
          </a:xfrm>
          <a:prstGeom prst="ellipse">
            <a:avLst/>
          </a:prstGeom>
          <a:solidFill>
            <a:srgbClr val="6C4AB6"/>
          </a:solidFill>
          <a:ln w="12700">
            <a:miter lim="400000"/>
          </a:ln>
        </p:spPr>
        <p:txBody>
          <a:bodyPr lIns="45719" rIns="45719"/>
          <a:lstStyle/>
          <a:p>
            <a:pPr/>
          </a:p>
        </p:txBody>
      </p:sp>
      <p:sp>
        <p:nvSpPr>
          <p:cNvPr id="291" name="Text 45"/>
          <p:cNvSpPr txBox="1"/>
          <p:nvPr/>
        </p:nvSpPr>
        <p:spPr>
          <a:xfrm>
            <a:off x="7315199" y="3826808"/>
            <a:ext cx="29261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R03</a:t>
            </a:r>
          </a:p>
        </p:txBody>
      </p:sp>
      <p:sp>
        <p:nvSpPr>
          <p:cNvPr id="292" name="Text 46"/>
          <p:cNvSpPr txBox="1"/>
          <p:nvPr/>
        </p:nvSpPr>
        <p:spPr>
          <a:xfrm>
            <a:off x="7708392" y="3736770"/>
            <a:ext cx="3870655"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Lightweight Worker</a:t>
            </a:r>
          </a:p>
        </p:txBody>
      </p:sp>
      <p:sp>
        <p:nvSpPr>
          <p:cNvPr id="293" name="Text 47"/>
          <p:cNvSpPr txBox="1"/>
          <p:nvPr/>
        </p:nvSpPr>
        <p:spPr>
          <a:xfrm>
            <a:off x="7708392" y="3954824"/>
            <a:ext cx="3870655"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C7690"/>
                </a:solidFill>
              </a:defRPr>
            </a:lvl1pPr>
          </a:lstStyle>
          <a:p>
            <a:pPr/>
            <a:r>
              <a:t>1 CPU · 1024 MB</a:t>
            </a:r>
          </a:p>
        </p:txBody>
      </p:sp>
      <p:sp>
        <p:nvSpPr>
          <p:cNvPr id="294" name="Text 53"/>
          <p:cNvSpPr txBox="1"/>
          <p:nvPr/>
        </p:nvSpPr>
        <p:spPr>
          <a:xfrm>
            <a:off x="6164587" y="5483274"/>
            <a:ext cx="4419296" cy="2285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C7690"/>
                </a:solidFill>
              </a:defRPr>
            </a:lvl1pPr>
          </a:lstStyle>
          <a:p>
            <a:pPr/>
            <a:r>
              <a:t>R01–R03 assignment vs. actual JVM host snapshot.</a:t>
            </a:r>
          </a:p>
        </p:txBody>
      </p:sp>
      <p:sp>
        <p:nvSpPr>
          <p:cNvPr id="295" name="Text 54"/>
          <p:cNvSpPr txBox="1"/>
          <p:nvPr/>
        </p:nvSpPr>
        <p:spPr>
          <a:xfrm>
            <a:off x="11129284" y="6595600"/>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07 / 14</a:t>
            </a:r>
          </a:p>
        </p:txBody>
      </p:sp>
      <p:pic>
        <p:nvPicPr>
          <p:cNvPr id="296" name="Screenshot 2026-09-14 at 4.16.49 PM.png" descr="Screenshot 2026-09-14 at 4.16.49 PM.png"/>
          <p:cNvPicPr>
            <a:picLocks noChangeAspect="1"/>
          </p:cNvPicPr>
          <p:nvPr/>
        </p:nvPicPr>
        <p:blipFill>
          <a:blip r:embed="rId3">
            <a:extLst/>
          </a:blip>
          <a:srcRect l="11100" t="15326" r="43142" b="48879"/>
          <a:stretch>
            <a:fillRect/>
          </a:stretch>
        </p:blipFill>
        <p:spPr>
          <a:xfrm>
            <a:off x="846613" y="4198681"/>
            <a:ext cx="4798835" cy="244134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0"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0E7C86"/>
                </a:solidFill>
              </a:defRPr>
            </a:lvl1pPr>
          </a:lstStyle>
          <a:p>
            <a:pPr/>
            <a:r>
              <a:t>HERO DEMONSTRATION</a:t>
            </a:r>
          </a:p>
        </p:txBody>
      </p:sp>
      <p:sp>
        <p:nvSpPr>
          <p:cNvPr id="301"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FROM USER REQUEST TO RESULT</a:t>
            </a:r>
          </a:p>
        </p:txBody>
      </p:sp>
      <p:sp>
        <p:nvSpPr>
          <p:cNvPr id="302" name="Shape 2"/>
          <p:cNvSpPr/>
          <p:nvPr/>
        </p:nvSpPr>
        <p:spPr>
          <a:xfrm>
            <a:off x="3169767" y="1481327"/>
            <a:ext cx="5852161" cy="457201"/>
          </a:xfrm>
          <a:prstGeom prst="roundRect">
            <a:avLst>
              <a:gd name="adj" fmla="val 50000"/>
            </a:avLst>
          </a:prstGeom>
          <a:solidFill>
            <a:srgbClr val="12235C"/>
          </a:solidFill>
          <a:ln w="12700">
            <a:miter lim="400000"/>
          </a:ln>
        </p:spPr>
        <p:txBody>
          <a:bodyPr lIns="45719" rIns="45719"/>
          <a:lstStyle/>
          <a:p>
            <a:pPr/>
          </a:p>
        </p:txBody>
      </p:sp>
      <p:sp>
        <p:nvSpPr>
          <p:cNvPr id="303" name="Text 3"/>
          <p:cNvSpPr txBox="1"/>
          <p:nvPr/>
        </p:nvSpPr>
        <p:spPr>
          <a:xfrm>
            <a:off x="3224632" y="1631495"/>
            <a:ext cx="5742433"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D04 + D10   •   Pattern: "data"</a:t>
            </a:r>
          </a:p>
        </p:txBody>
      </p:sp>
      <p:sp>
        <p:nvSpPr>
          <p:cNvPr id="304" name="Shape 4"/>
          <p:cNvSpPr/>
          <p:nvPr/>
        </p:nvSpPr>
        <p:spPr>
          <a:xfrm>
            <a:off x="502919" y="2148839"/>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05" name="Shape 5"/>
          <p:cNvSpPr/>
          <p:nvPr/>
        </p:nvSpPr>
        <p:spPr>
          <a:xfrm>
            <a:off x="612648" y="2240279"/>
            <a:ext cx="274321" cy="274321"/>
          </a:xfrm>
          <a:prstGeom prst="ellipse">
            <a:avLst/>
          </a:prstGeom>
          <a:solidFill>
            <a:srgbClr val="0E7C86"/>
          </a:solidFill>
          <a:ln w="12700">
            <a:miter lim="400000"/>
          </a:ln>
        </p:spPr>
        <p:txBody>
          <a:bodyPr lIns="45719" rIns="45719"/>
          <a:lstStyle/>
          <a:p>
            <a:pPr/>
          </a:p>
        </p:txBody>
      </p:sp>
      <p:sp>
        <p:nvSpPr>
          <p:cNvPr id="306" name="Text 6"/>
          <p:cNvSpPr txBox="1"/>
          <p:nvPr/>
        </p:nvSpPr>
        <p:spPr>
          <a:xfrm>
            <a:off x="612648" y="2310306"/>
            <a:ext cx="274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1</a:t>
            </a:r>
          </a:p>
        </p:txBody>
      </p:sp>
      <p:sp>
        <p:nvSpPr>
          <p:cNvPr id="307" name="Text 7"/>
          <p:cNvSpPr txBox="1"/>
          <p:nvPr/>
        </p:nvSpPr>
        <p:spPr>
          <a:xfrm>
            <a:off x="1005839" y="2228009"/>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Exact Pattern Search</a:t>
            </a:r>
          </a:p>
        </p:txBody>
      </p:sp>
      <p:sp>
        <p:nvSpPr>
          <p:cNvPr id="308" name="Text 8"/>
          <p:cNvSpPr txBox="1"/>
          <p:nvPr/>
        </p:nvSpPr>
        <p:spPr>
          <a:xfrm>
            <a:off x="1005839" y="2432811"/>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KMP · R01</a:t>
            </a:r>
          </a:p>
        </p:txBody>
      </p:sp>
      <p:sp>
        <p:nvSpPr>
          <p:cNvPr id="309" name="Text 9"/>
          <p:cNvSpPr txBox="1"/>
          <p:nvPr/>
        </p:nvSpPr>
        <p:spPr>
          <a:xfrm>
            <a:off x="4709159" y="2299007"/>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0E7C86"/>
                </a:solidFill>
              </a:defRPr>
            </a:lvl1pPr>
          </a:lstStyle>
          <a:p>
            <a:pPr/>
            <a:r>
              <a:t>FOUND × 1</a:t>
            </a:r>
          </a:p>
        </p:txBody>
      </p:sp>
      <p:sp>
        <p:nvSpPr>
          <p:cNvPr id="310" name="Shape 10"/>
          <p:cNvSpPr/>
          <p:nvPr/>
        </p:nvSpPr>
        <p:spPr>
          <a:xfrm>
            <a:off x="502919" y="2660904"/>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11" name="Shape 11"/>
          <p:cNvSpPr/>
          <p:nvPr/>
        </p:nvSpPr>
        <p:spPr>
          <a:xfrm>
            <a:off x="612648" y="2752344"/>
            <a:ext cx="274321" cy="274321"/>
          </a:xfrm>
          <a:prstGeom prst="ellipse">
            <a:avLst/>
          </a:prstGeom>
          <a:solidFill>
            <a:srgbClr val="0E7C86"/>
          </a:solidFill>
          <a:ln w="12700">
            <a:miter lim="400000"/>
          </a:ln>
        </p:spPr>
        <p:txBody>
          <a:bodyPr lIns="45719" rIns="45719"/>
          <a:lstStyle/>
          <a:p>
            <a:pPr/>
          </a:p>
        </p:txBody>
      </p:sp>
      <p:sp>
        <p:nvSpPr>
          <p:cNvPr id="312" name="Text 12"/>
          <p:cNvSpPr txBox="1"/>
          <p:nvPr/>
        </p:nvSpPr>
        <p:spPr>
          <a:xfrm>
            <a:off x="612648" y="2822370"/>
            <a:ext cx="274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2</a:t>
            </a:r>
          </a:p>
        </p:txBody>
      </p:sp>
      <p:sp>
        <p:nvSpPr>
          <p:cNvPr id="313" name="Text 13"/>
          <p:cNvSpPr txBox="1"/>
          <p:nvPr/>
        </p:nvSpPr>
        <p:spPr>
          <a:xfrm>
            <a:off x="1005839" y="2740073"/>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Keyword Verification</a:t>
            </a:r>
          </a:p>
        </p:txBody>
      </p:sp>
      <p:sp>
        <p:nvSpPr>
          <p:cNvPr id="314" name="Text 14"/>
          <p:cNvSpPr txBox="1"/>
          <p:nvPr/>
        </p:nvSpPr>
        <p:spPr>
          <a:xfrm>
            <a:off x="1005839" y="2944876"/>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Rabin-Karp · R02</a:t>
            </a:r>
          </a:p>
        </p:txBody>
      </p:sp>
      <p:sp>
        <p:nvSpPr>
          <p:cNvPr id="315" name="Text 15"/>
          <p:cNvSpPr txBox="1"/>
          <p:nvPr/>
        </p:nvSpPr>
        <p:spPr>
          <a:xfrm>
            <a:off x="4709159" y="2811071"/>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0E7C86"/>
                </a:solidFill>
              </a:defRPr>
            </a:lvl1pPr>
          </a:lstStyle>
          <a:p>
            <a:pPr/>
            <a:r>
              <a:t>FOUND × 1</a:t>
            </a:r>
          </a:p>
        </p:txBody>
      </p:sp>
      <p:sp>
        <p:nvSpPr>
          <p:cNvPr id="316" name="Shape 16"/>
          <p:cNvSpPr/>
          <p:nvPr/>
        </p:nvSpPr>
        <p:spPr>
          <a:xfrm>
            <a:off x="502919" y="3172967"/>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17" name="Shape 17"/>
          <p:cNvSpPr/>
          <p:nvPr/>
        </p:nvSpPr>
        <p:spPr>
          <a:xfrm>
            <a:off x="612648" y="3264408"/>
            <a:ext cx="274321" cy="274321"/>
          </a:xfrm>
          <a:prstGeom prst="ellipse">
            <a:avLst/>
          </a:prstGeom>
          <a:solidFill>
            <a:srgbClr val="0E7C86"/>
          </a:solidFill>
          <a:ln w="12700">
            <a:miter lim="400000"/>
          </a:ln>
        </p:spPr>
        <p:txBody>
          <a:bodyPr lIns="45719" rIns="45719"/>
          <a:lstStyle/>
          <a:p>
            <a:pPr/>
          </a:p>
        </p:txBody>
      </p:sp>
      <p:sp>
        <p:nvSpPr>
          <p:cNvPr id="318" name="Text 18"/>
          <p:cNvSpPr txBox="1"/>
          <p:nvPr/>
        </p:nvSpPr>
        <p:spPr>
          <a:xfrm>
            <a:off x="612648" y="3334434"/>
            <a:ext cx="274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3</a:t>
            </a:r>
          </a:p>
        </p:txBody>
      </p:sp>
      <p:sp>
        <p:nvSpPr>
          <p:cNvPr id="319" name="Text 19"/>
          <p:cNvSpPr txBox="1"/>
          <p:nvPr/>
        </p:nvSpPr>
        <p:spPr>
          <a:xfrm>
            <a:off x="1005839" y="3252137"/>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Pattern Structure Analysis</a:t>
            </a:r>
          </a:p>
        </p:txBody>
      </p:sp>
      <p:sp>
        <p:nvSpPr>
          <p:cNvPr id="320" name="Text 20"/>
          <p:cNvSpPr txBox="1"/>
          <p:nvPr/>
        </p:nvSpPr>
        <p:spPr>
          <a:xfrm>
            <a:off x="1005839" y="3456939"/>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Z Algorithm · R03</a:t>
            </a:r>
          </a:p>
        </p:txBody>
      </p:sp>
      <p:sp>
        <p:nvSpPr>
          <p:cNvPr id="321" name="Text 21"/>
          <p:cNvSpPr txBox="1"/>
          <p:nvPr/>
        </p:nvSpPr>
        <p:spPr>
          <a:xfrm>
            <a:off x="4709159" y="3323135"/>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0E7C86"/>
                </a:solidFill>
              </a:defRPr>
            </a:lvl1pPr>
          </a:lstStyle>
          <a:p>
            <a:pPr/>
            <a:r>
              <a:t>FOUND × 1</a:t>
            </a:r>
          </a:p>
        </p:txBody>
      </p:sp>
      <p:sp>
        <p:nvSpPr>
          <p:cNvPr id="322" name="Shape 22"/>
          <p:cNvSpPr/>
          <p:nvPr/>
        </p:nvSpPr>
        <p:spPr>
          <a:xfrm>
            <a:off x="502919" y="3685032"/>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23" name="Shape 23"/>
          <p:cNvSpPr/>
          <p:nvPr/>
        </p:nvSpPr>
        <p:spPr>
          <a:xfrm>
            <a:off x="612648" y="3776471"/>
            <a:ext cx="274321" cy="274321"/>
          </a:xfrm>
          <a:prstGeom prst="ellipse">
            <a:avLst/>
          </a:prstGeom>
          <a:solidFill>
            <a:srgbClr val="1F5FB0"/>
          </a:solidFill>
          <a:ln w="12700">
            <a:miter lim="400000"/>
          </a:ln>
        </p:spPr>
        <p:txBody>
          <a:bodyPr lIns="45719" rIns="45719"/>
          <a:lstStyle/>
          <a:p>
            <a:pPr/>
          </a:p>
        </p:txBody>
      </p:sp>
      <p:sp>
        <p:nvSpPr>
          <p:cNvPr id="324" name="Text 24"/>
          <p:cNvSpPr txBox="1"/>
          <p:nvPr/>
        </p:nvSpPr>
        <p:spPr>
          <a:xfrm>
            <a:off x="612648" y="3846497"/>
            <a:ext cx="27432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4</a:t>
            </a:r>
          </a:p>
        </p:txBody>
      </p:sp>
      <p:sp>
        <p:nvSpPr>
          <p:cNvPr id="325" name="Text 25"/>
          <p:cNvSpPr txBox="1"/>
          <p:nvPr/>
        </p:nvSpPr>
        <p:spPr>
          <a:xfrm>
            <a:off x="1005839" y="3764201"/>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Text Index Construction</a:t>
            </a:r>
          </a:p>
        </p:txBody>
      </p:sp>
      <p:sp>
        <p:nvSpPr>
          <p:cNvPr id="326" name="Text 26"/>
          <p:cNvSpPr txBox="1"/>
          <p:nvPr/>
        </p:nvSpPr>
        <p:spPr>
          <a:xfrm>
            <a:off x="1005839" y="3969004"/>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Suffix Array · R01</a:t>
            </a:r>
          </a:p>
        </p:txBody>
      </p:sp>
      <p:sp>
        <p:nvSpPr>
          <p:cNvPr id="327" name="Text 27"/>
          <p:cNvSpPr txBox="1"/>
          <p:nvPr/>
        </p:nvSpPr>
        <p:spPr>
          <a:xfrm>
            <a:off x="4709159" y="3835199"/>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1F5FB0"/>
                </a:solidFill>
              </a:defRPr>
            </a:lvl1pPr>
          </a:lstStyle>
          <a:p>
            <a:pPr/>
            <a:r>
              <a:t>COMPLETED</a:t>
            </a:r>
          </a:p>
        </p:txBody>
      </p:sp>
      <p:sp>
        <p:nvSpPr>
          <p:cNvPr id="328" name="Shape 28"/>
          <p:cNvSpPr/>
          <p:nvPr/>
        </p:nvSpPr>
        <p:spPr>
          <a:xfrm>
            <a:off x="502919" y="4197096"/>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29" name="Shape 29"/>
          <p:cNvSpPr/>
          <p:nvPr/>
        </p:nvSpPr>
        <p:spPr>
          <a:xfrm>
            <a:off x="612648" y="4288535"/>
            <a:ext cx="274321" cy="274321"/>
          </a:xfrm>
          <a:prstGeom prst="ellipse">
            <a:avLst/>
          </a:prstGeom>
          <a:solidFill>
            <a:srgbClr val="1F5FB0"/>
          </a:solidFill>
          <a:ln w="12700">
            <a:miter lim="400000"/>
          </a:ln>
        </p:spPr>
        <p:txBody>
          <a:bodyPr lIns="45719" rIns="45719"/>
          <a:lstStyle/>
          <a:p>
            <a:pPr/>
          </a:p>
        </p:txBody>
      </p:sp>
      <p:sp>
        <p:nvSpPr>
          <p:cNvPr id="330" name="Text 30"/>
          <p:cNvSpPr txBox="1"/>
          <p:nvPr/>
        </p:nvSpPr>
        <p:spPr>
          <a:xfrm>
            <a:off x="612648" y="4358562"/>
            <a:ext cx="274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5</a:t>
            </a:r>
          </a:p>
        </p:txBody>
      </p:sp>
      <p:sp>
        <p:nvSpPr>
          <p:cNvPr id="331" name="Text 31"/>
          <p:cNvSpPr txBox="1"/>
          <p:nvPr/>
        </p:nvSpPr>
        <p:spPr>
          <a:xfrm>
            <a:off x="1005839" y="4276265"/>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Fuzzy Document Similarity</a:t>
            </a:r>
          </a:p>
        </p:txBody>
      </p:sp>
      <p:sp>
        <p:nvSpPr>
          <p:cNvPr id="332" name="Text 32"/>
          <p:cNvSpPr txBox="1"/>
          <p:nvPr/>
        </p:nvSpPr>
        <p:spPr>
          <a:xfrm>
            <a:off x="1005839" y="4481068"/>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Edit Distance · R02</a:t>
            </a:r>
          </a:p>
        </p:txBody>
      </p:sp>
      <p:sp>
        <p:nvSpPr>
          <p:cNvPr id="333" name="Text 33"/>
          <p:cNvSpPr txBox="1"/>
          <p:nvPr/>
        </p:nvSpPr>
        <p:spPr>
          <a:xfrm>
            <a:off x="4709159" y="4347263"/>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1F5FB0"/>
                </a:solidFill>
              </a:defRPr>
            </a:lvl1pPr>
          </a:lstStyle>
          <a:p>
            <a:pPr/>
            <a:r>
              <a:t>Distance = 244</a:t>
            </a:r>
          </a:p>
        </p:txBody>
      </p:sp>
      <p:sp>
        <p:nvSpPr>
          <p:cNvPr id="334" name="Shape 34"/>
          <p:cNvSpPr/>
          <p:nvPr/>
        </p:nvSpPr>
        <p:spPr>
          <a:xfrm>
            <a:off x="502919" y="4709159"/>
            <a:ext cx="7680961" cy="457201"/>
          </a:xfrm>
          <a:prstGeom prst="roundRect">
            <a:avLst>
              <a:gd name="adj" fmla="val 16000"/>
            </a:avLst>
          </a:prstGeom>
          <a:solidFill>
            <a:srgbClr val="F7F9FC"/>
          </a:solidFill>
          <a:ln w="12700">
            <a:solidFill>
              <a:srgbClr val="DCE2F0"/>
            </a:solidFill>
          </a:ln>
        </p:spPr>
        <p:txBody>
          <a:bodyPr lIns="45719" rIns="45719"/>
          <a:lstStyle/>
          <a:p>
            <a:pPr/>
          </a:p>
        </p:txBody>
      </p:sp>
      <p:sp>
        <p:nvSpPr>
          <p:cNvPr id="335" name="Shape 35"/>
          <p:cNvSpPr/>
          <p:nvPr/>
        </p:nvSpPr>
        <p:spPr>
          <a:xfrm>
            <a:off x="612648" y="4800599"/>
            <a:ext cx="274321" cy="274322"/>
          </a:xfrm>
          <a:prstGeom prst="ellipse">
            <a:avLst/>
          </a:prstGeom>
          <a:solidFill>
            <a:srgbClr val="6C4AB6"/>
          </a:solidFill>
          <a:ln w="12700">
            <a:miter lim="400000"/>
          </a:ln>
        </p:spPr>
        <p:txBody>
          <a:bodyPr lIns="45719" rIns="45719"/>
          <a:lstStyle/>
          <a:p>
            <a:pPr/>
          </a:p>
        </p:txBody>
      </p:sp>
      <p:sp>
        <p:nvSpPr>
          <p:cNvPr id="336" name="Text 36"/>
          <p:cNvSpPr txBox="1"/>
          <p:nvPr/>
        </p:nvSpPr>
        <p:spPr>
          <a:xfrm>
            <a:off x="612648" y="4870626"/>
            <a:ext cx="274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6</a:t>
            </a:r>
          </a:p>
        </p:txBody>
      </p:sp>
      <p:sp>
        <p:nvSpPr>
          <p:cNvPr id="337" name="Text 37"/>
          <p:cNvSpPr txBox="1"/>
          <p:nvPr/>
        </p:nvSpPr>
        <p:spPr>
          <a:xfrm>
            <a:off x="1005839" y="4788329"/>
            <a:ext cx="356616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12235C"/>
                </a:solidFill>
              </a:defRPr>
            </a:lvl1pPr>
          </a:lstStyle>
          <a:p>
            <a:pPr/>
            <a:r>
              <a:t>Cross-Document Alignment</a:t>
            </a:r>
          </a:p>
        </p:txBody>
      </p:sp>
      <p:sp>
        <p:nvSpPr>
          <p:cNvPr id="338" name="Text 38"/>
          <p:cNvSpPr txBox="1"/>
          <p:nvPr/>
        </p:nvSpPr>
        <p:spPr>
          <a:xfrm>
            <a:off x="1005839" y="4993131"/>
            <a:ext cx="356616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6C7690"/>
                </a:solidFill>
              </a:defRPr>
            </a:lvl1pPr>
          </a:lstStyle>
          <a:p>
            <a:pPr/>
            <a:r>
              <a:t>Sequence Alignment · R01</a:t>
            </a:r>
          </a:p>
        </p:txBody>
      </p:sp>
      <p:sp>
        <p:nvSpPr>
          <p:cNvPr id="339" name="Text 39"/>
          <p:cNvSpPr txBox="1"/>
          <p:nvPr/>
        </p:nvSpPr>
        <p:spPr>
          <a:xfrm>
            <a:off x="4709159" y="4859327"/>
            <a:ext cx="33375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z="1200">
                <a:solidFill>
                  <a:srgbClr val="6C4AB6"/>
                </a:solidFill>
              </a:defRPr>
            </a:lvl1pPr>
          </a:lstStyle>
          <a:p>
            <a:pPr/>
            <a:r>
              <a:t>Score = -88</a:t>
            </a:r>
          </a:p>
        </p:txBody>
      </p:sp>
      <p:sp>
        <p:nvSpPr>
          <p:cNvPr id="340" name="Text 41"/>
          <p:cNvSpPr txBox="1"/>
          <p:nvPr/>
        </p:nvSpPr>
        <p:spPr>
          <a:xfrm>
            <a:off x="8686800" y="2632009"/>
            <a:ext cx="2819096" cy="77102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ts val="1800"/>
              </a:lnSpc>
              <a:defRPr sz="1400">
                <a:solidFill>
                  <a:srgbClr val="FFFFFF"/>
                </a:solidFill>
                <a:latin typeface="Cambria"/>
                <a:ea typeface="Cambria"/>
                <a:cs typeface="Cambria"/>
                <a:sym typeface="Cambria"/>
              </a:defRPr>
            </a:pPr>
            <a:r>
              <a:t>PIPELINE</a:t>
            </a:r>
          </a:p>
          <a:p>
            <a:pPr algn="ctr">
              <a:lnSpc>
                <a:spcPts val="1800"/>
              </a:lnSpc>
              <a:defRPr sz="1400">
                <a:solidFill>
                  <a:srgbClr val="FFFFFF"/>
                </a:solidFill>
                <a:latin typeface="Cambria"/>
                <a:ea typeface="Cambria"/>
                <a:cs typeface="Cambria"/>
                <a:sym typeface="Cambria"/>
              </a:defRPr>
            </a:pPr>
            <a:r>
              <a:t>COMPLETED</a:t>
            </a:r>
          </a:p>
          <a:p>
            <a:pPr algn="ctr">
              <a:lnSpc>
                <a:spcPts val="1800"/>
              </a:lnSpc>
              <a:defRPr sz="1400">
                <a:solidFill>
                  <a:srgbClr val="FFFFFF"/>
                </a:solidFill>
                <a:latin typeface="Cambria"/>
                <a:ea typeface="Cambria"/>
                <a:cs typeface="Cambria"/>
                <a:sym typeface="Cambria"/>
              </a:defRPr>
            </a:pPr>
            <a:r>
              <a:t>SUCCESSFULLY</a:t>
            </a:r>
          </a:p>
        </p:txBody>
      </p:sp>
      <p:sp>
        <p:nvSpPr>
          <p:cNvPr id="341" name="Shape 43"/>
          <p:cNvSpPr/>
          <p:nvPr/>
        </p:nvSpPr>
        <p:spPr>
          <a:xfrm>
            <a:off x="502919" y="5449823"/>
            <a:ext cx="2625015" cy="868681"/>
          </a:xfrm>
          <a:prstGeom prst="roundRect">
            <a:avLst>
              <a:gd name="adj" fmla="val 8421"/>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42" name="Text 44"/>
          <p:cNvSpPr txBox="1"/>
          <p:nvPr/>
        </p:nvSpPr>
        <p:spPr>
          <a:xfrm>
            <a:off x="497332" y="5567049"/>
            <a:ext cx="262501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500">
                <a:solidFill>
                  <a:srgbClr val="0E7C86"/>
                </a:solidFill>
                <a:latin typeface="Cambria"/>
                <a:ea typeface="Cambria"/>
                <a:cs typeface="Cambria"/>
                <a:sym typeface="Cambria"/>
              </a:defRPr>
            </a:lvl1pPr>
          </a:lstStyle>
          <a:p>
            <a:pPr/>
            <a:r>
              <a:t>6 / 6</a:t>
            </a:r>
          </a:p>
        </p:txBody>
      </p:sp>
      <p:sp>
        <p:nvSpPr>
          <p:cNvPr id="343" name="Text 45"/>
          <p:cNvSpPr txBox="1"/>
          <p:nvPr/>
        </p:nvSpPr>
        <p:spPr>
          <a:xfrm>
            <a:off x="576072" y="5971032"/>
            <a:ext cx="247871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COMPLETED</a:t>
            </a:r>
          </a:p>
        </p:txBody>
      </p:sp>
      <p:sp>
        <p:nvSpPr>
          <p:cNvPr id="344" name="Shape 46"/>
          <p:cNvSpPr/>
          <p:nvPr/>
        </p:nvSpPr>
        <p:spPr>
          <a:xfrm>
            <a:off x="3356533" y="5449823"/>
            <a:ext cx="2625015" cy="868681"/>
          </a:xfrm>
          <a:prstGeom prst="roundRect">
            <a:avLst>
              <a:gd name="adj" fmla="val 8421"/>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45" name="Text 47"/>
          <p:cNvSpPr txBox="1"/>
          <p:nvPr/>
        </p:nvSpPr>
        <p:spPr>
          <a:xfrm>
            <a:off x="3350945" y="5571870"/>
            <a:ext cx="262501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500">
                <a:solidFill>
                  <a:srgbClr val="0E7C86"/>
                </a:solidFill>
                <a:latin typeface="Cambria"/>
                <a:ea typeface="Cambria"/>
                <a:cs typeface="Cambria"/>
                <a:sym typeface="Cambria"/>
              </a:defRPr>
            </a:lvl1pPr>
          </a:lstStyle>
          <a:p>
            <a:pPr/>
            <a:r>
              <a:t>3</a:t>
            </a:r>
          </a:p>
        </p:txBody>
      </p:sp>
      <p:sp>
        <p:nvSpPr>
          <p:cNvPr id="346" name="Text 48"/>
          <p:cNvSpPr txBox="1"/>
          <p:nvPr/>
        </p:nvSpPr>
        <p:spPr>
          <a:xfrm>
            <a:off x="3429686" y="5971032"/>
            <a:ext cx="247871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ROUNDS</a:t>
            </a:r>
          </a:p>
        </p:txBody>
      </p:sp>
      <p:sp>
        <p:nvSpPr>
          <p:cNvPr id="347" name="Shape 49"/>
          <p:cNvSpPr/>
          <p:nvPr/>
        </p:nvSpPr>
        <p:spPr>
          <a:xfrm>
            <a:off x="6210148" y="5449823"/>
            <a:ext cx="2625015" cy="868681"/>
          </a:xfrm>
          <a:prstGeom prst="roundRect">
            <a:avLst>
              <a:gd name="adj" fmla="val 8421"/>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48" name="Text 50"/>
          <p:cNvSpPr txBox="1"/>
          <p:nvPr/>
        </p:nvSpPr>
        <p:spPr>
          <a:xfrm>
            <a:off x="6215735" y="5571870"/>
            <a:ext cx="262501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500">
                <a:solidFill>
                  <a:srgbClr val="0E7C86"/>
                </a:solidFill>
                <a:latin typeface="Cambria"/>
                <a:ea typeface="Cambria"/>
                <a:cs typeface="Cambria"/>
                <a:sym typeface="Cambria"/>
              </a:defRPr>
            </a:lvl1pPr>
          </a:lstStyle>
          <a:p>
            <a:pPr/>
            <a:r>
              <a:t>31 ms</a:t>
            </a:r>
          </a:p>
        </p:txBody>
      </p:sp>
      <p:sp>
        <p:nvSpPr>
          <p:cNvPr id="349" name="Text 51"/>
          <p:cNvSpPr txBox="1"/>
          <p:nvPr/>
        </p:nvSpPr>
        <p:spPr>
          <a:xfrm>
            <a:off x="6283299" y="5971032"/>
            <a:ext cx="24787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MAKESPAN</a:t>
            </a:r>
          </a:p>
        </p:txBody>
      </p:sp>
      <p:sp>
        <p:nvSpPr>
          <p:cNvPr id="350" name="Shape 52"/>
          <p:cNvSpPr/>
          <p:nvPr/>
        </p:nvSpPr>
        <p:spPr>
          <a:xfrm>
            <a:off x="9063760" y="5449823"/>
            <a:ext cx="2625015" cy="868681"/>
          </a:xfrm>
          <a:prstGeom prst="roundRect">
            <a:avLst>
              <a:gd name="adj" fmla="val 8421"/>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51" name="Text 53"/>
          <p:cNvSpPr txBox="1"/>
          <p:nvPr/>
        </p:nvSpPr>
        <p:spPr>
          <a:xfrm>
            <a:off x="9068587" y="5567049"/>
            <a:ext cx="262501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500">
                <a:solidFill>
                  <a:srgbClr val="0E7C86"/>
                </a:solidFill>
                <a:latin typeface="Cambria"/>
                <a:ea typeface="Cambria"/>
                <a:cs typeface="Cambria"/>
                <a:sym typeface="Cambria"/>
              </a:defRPr>
            </a:lvl1pPr>
          </a:lstStyle>
          <a:p>
            <a:pPr/>
            <a:r>
              <a:t>193.55</a:t>
            </a:r>
          </a:p>
        </p:txBody>
      </p:sp>
      <p:sp>
        <p:nvSpPr>
          <p:cNvPr id="352" name="Text 54"/>
          <p:cNvSpPr txBox="1"/>
          <p:nvPr/>
        </p:nvSpPr>
        <p:spPr>
          <a:xfrm>
            <a:off x="9136913" y="5977050"/>
            <a:ext cx="24787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TASKS / SEC</a:t>
            </a:r>
          </a:p>
        </p:txBody>
      </p:sp>
      <p:sp>
        <p:nvSpPr>
          <p:cNvPr id="353" name="Text 55"/>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08 / 14</a:t>
            </a:r>
          </a:p>
        </p:txBody>
      </p:sp>
      <p:pic>
        <p:nvPicPr>
          <p:cNvPr id="354" name="Screenshot 2026-09-14 at 4.19.04 PM.png" descr="Screenshot 2026-09-14 at 4.19.04 PM.png"/>
          <p:cNvPicPr>
            <a:picLocks noChangeAspect="1"/>
          </p:cNvPicPr>
          <p:nvPr/>
        </p:nvPicPr>
        <p:blipFill>
          <a:blip r:embed="rId3">
            <a:extLst/>
          </a:blip>
          <a:srcRect l="10930" t="59321" r="56723" b="21065"/>
          <a:stretch>
            <a:fillRect/>
          </a:stretch>
        </p:blipFill>
        <p:spPr>
          <a:xfrm>
            <a:off x="8302112" y="2630831"/>
            <a:ext cx="3386479" cy="1335405"/>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0E7C86"/>
                </a:solidFill>
              </a:defRPr>
            </a:lvl1pPr>
          </a:lstStyle>
          <a:p>
            <a:pPr/>
            <a:r>
              <a:t>RUBRIC: METHODOLOGY EVALUATION (10)</a:t>
            </a:r>
          </a:p>
        </p:txBody>
      </p:sp>
      <p:sp>
        <p:nvSpPr>
          <p:cNvPr id="359"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METHODOLOGY EVALUATION — WORKING EVIDENCE</a:t>
            </a:r>
          </a:p>
        </p:txBody>
      </p:sp>
      <p:sp>
        <p:nvSpPr>
          <p:cNvPr id="360" name="Shape 2"/>
          <p:cNvSpPr/>
          <p:nvPr/>
        </p:nvSpPr>
        <p:spPr>
          <a:xfrm>
            <a:off x="502919" y="1874520"/>
            <a:ext cx="2659305" cy="914401"/>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61" name="Text 3"/>
          <p:cNvSpPr txBox="1"/>
          <p:nvPr/>
        </p:nvSpPr>
        <p:spPr>
          <a:xfrm>
            <a:off x="509271" y="2064140"/>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6 / 6</a:t>
            </a:r>
          </a:p>
        </p:txBody>
      </p:sp>
      <p:sp>
        <p:nvSpPr>
          <p:cNvPr id="362" name="Text 4"/>
          <p:cNvSpPr txBox="1"/>
          <p:nvPr/>
        </p:nvSpPr>
        <p:spPr>
          <a:xfrm>
            <a:off x="576072" y="242316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TASKS COMPLETED</a:t>
            </a:r>
          </a:p>
        </p:txBody>
      </p:sp>
      <p:sp>
        <p:nvSpPr>
          <p:cNvPr id="363" name="Shape 5"/>
          <p:cNvSpPr/>
          <p:nvPr/>
        </p:nvSpPr>
        <p:spPr>
          <a:xfrm>
            <a:off x="3345103" y="1874520"/>
            <a:ext cx="2659305" cy="914401"/>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64" name="Text 6"/>
          <p:cNvSpPr txBox="1"/>
          <p:nvPr/>
        </p:nvSpPr>
        <p:spPr>
          <a:xfrm>
            <a:off x="3351453" y="2068107"/>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0</a:t>
            </a:r>
          </a:p>
        </p:txBody>
      </p:sp>
      <p:sp>
        <p:nvSpPr>
          <p:cNvPr id="365" name="Text 7"/>
          <p:cNvSpPr txBox="1"/>
          <p:nvPr/>
        </p:nvSpPr>
        <p:spPr>
          <a:xfrm>
            <a:off x="3418256" y="242316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FAILED</a:t>
            </a:r>
          </a:p>
        </p:txBody>
      </p:sp>
      <p:sp>
        <p:nvSpPr>
          <p:cNvPr id="366" name="Shape 8"/>
          <p:cNvSpPr/>
          <p:nvPr/>
        </p:nvSpPr>
        <p:spPr>
          <a:xfrm>
            <a:off x="6187287" y="1874520"/>
            <a:ext cx="2659305" cy="914401"/>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67" name="Text 9"/>
          <p:cNvSpPr txBox="1"/>
          <p:nvPr/>
        </p:nvSpPr>
        <p:spPr>
          <a:xfrm>
            <a:off x="6193637" y="2110232"/>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0</a:t>
            </a:r>
          </a:p>
        </p:txBody>
      </p:sp>
      <p:sp>
        <p:nvSpPr>
          <p:cNvPr id="368" name="Text 10"/>
          <p:cNvSpPr txBox="1"/>
          <p:nvPr/>
        </p:nvSpPr>
        <p:spPr>
          <a:xfrm>
            <a:off x="6260440" y="242316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BLOCKED</a:t>
            </a:r>
          </a:p>
        </p:txBody>
      </p:sp>
      <p:sp>
        <p:nvSpPr>
          <p:cNvPr id="369" name="Shape 11"/>
          <p:cNvSpPr/>
          <p:nvPr/>
        </p:nvSpPr>
        <p:spPr>
          <a:xfrm>
            <a:off x="9029471" y="1874520"/>
            <a:ext cx="2659305" cy="914401"/>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70" name="Text 12"/>
          <p:cNvSpPr txBox="1"/>
          <p:nvPr/>
        </p:nvSpPr>
        <p:spPr>
          <a:xfrm>
            <a:off x="9029472" y="2110232"/>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3</a:t>
            </a:r>
          </a:p>
        </p:txBody>
      </p:sp>
      <p:sp>
        <p:nvSpPr>
          <p:cNvPr id="371" name="Text 13"/>
          <p:cNvSpPr txBox="1"/>
          <p:nvPr/>
        </p:nvSpPr>
        <p:spPr>
          <a:xfrm>
            <a:off x="9102622" y="2423160"/>
            <a:ext cx="2513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ROUNDS</a:t>
            </a:r>
          </a:p>
        </p:txBody>
      </p:sp>
      <p:sp>
        <p:nvSpPr>
          <p:cNvPr id="372" name="Shape 14"/>
          <p:cNvSpPr/>
          <p:nvPr/>
        </p:nvSpPr>
        <p:spPr>
          <a:xfrm>
            <a:off x="502919" y="2971800"/>
            <a:ext cx="2659305" cy="914400"/>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73" name="Text 15"/>
          <p:cNvSpPr txBox="1"/>
          <p:nvPr/>
        </p:nvSpPr>
        <p:spPr>
          <a:xfrm>
            <a:off x="509271" y="3188491"/>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31 ms</a:t>
            </a:r>
          </a:p>
        </p:txBody>
      </p:sp>
      <p:sp>
        <p:nvSpPr>
          <p:cNvPr id="374" name="Text 16"/>
          <p:cNvSpPr txBox="1"/>
          <p:nvPr/>
        </p:nvSpPr>
        <p:spPr>
          <a:xfrm>
            <a:off x="576072" y="352044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MAKESPAN</a:t>
            </a:r>
          </a:p>
        </p:txBody>
      </p:sp>
      <p:sp>
        <p:nvSpPr>
          <p:cNvPr id="375" name="Shape 17"/>
          <p:cNvSpPr/>
          <p:nvPr/>
        </p:nvSpPr>
        <p:spPr>
          <a:xfrm>
            <a:off x="3345103" y="2971800"/>
            <a:ext cx="2659305" cy="914400"/>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76" name="Text 18"/>
          <p:cNvSpPr txBox="1"/>
          <p:nvPr/>
        </p:nvSpPr>
        <p:spPr>
          <a:xfrm>
            <a:off x="3351453" y="3182016"/>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193.55</a:t>
            </a:r>
          </a:p>
        </p:txBody>
      </p:sp>
      <p:sp>
        <p:nvSpPr>
          <p:cNvPr id="377" name="Text 19"/>
          <p:cNvSpPr txBox="1"/>
          <p:nvPr/>
        </p:nvSpPr>
        <p:spPr>
          <a:xfrm>
            <a:off x="3418256" y="352044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TASKS / SEC</a:t>
            </a:r>
          </a:p>
        </p:txBody>
      </p:sp>
      <p:sp>
        <p:nvSpPr>
          <p:cNvPr id="378" name="Shape 20"/>
          <p:cNvSpPr/>
          <p:nvPr/>
        </p:nvSpPr>
        <p:spPr>
          <a:xfrm>
            <a:off x="6187287" y="2971800"/>
            <a:ext cx="2659305" cy="914400"/>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79" name="Text 21"/>
          <p:cNvSpPr txBox="1"/>
          <p:nvPr/>
        </p:nvSpPr>
        <p:spPr>
          <a:xfrm>
            <a:off x="6193638" y="3188491"/>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13</a:t>
            </a:r>
          </a:p>
        </p:txBody>
      </p:sp>
      <p:sp>
        <p:nvSpPr>
          <p:cNvPr id="380" name="Text 22"/>
          <p:cNvSpPr txBox="1"/>
          <p:nvPr/>
        </p:nvSpPr>
        <p:spPr>
          <a:xfrm>
            <a:off x="6260440" y="3520440"/>
            <a:ext cx="25130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SAVED REQUESTS</a:t>
            </a:r>
          </a:p>
        </p:txBody>
      </p:sp>
      <p:sp>
        <p:nvSpPr>
          <p:cNvPr id="381" name="Shape 23"/>
          <p:cNvSpPr/>
          <p:nvPr/>
        </p:nvSpPr>
        <p:spPr>
          <a:xfrm>
            <a:off x="9029471" y="2971800"/>
            <a:ext cx="2659305" cy="914400"/>
          </a:xfrm>
          <a:prstGeom prst="roundRect">
            <a:avLst>
              <a:gd name="adj" fmla="val 8000"/>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382" name="Text 24"/>
          <p:cNvSpPr txBox="1"/>
          <p:nvPr/>
        </p:nvSpPr>
        <p:spPr>
          <a:xfrm>
            <a:off x="9029472" y="3188491"/>
            <a:ext cx="2659305"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sz="2200">
                <a:solidFill>
                  <a:srgbClr val="12235C"/>
                </a:solidFill>
                <a:latin typeface="Cambria"/>
                <a:ea typeface="Cambria"/>
                <a:cs typeface="Cambria"/>
                <a:sym typeface="Cambria"/>
              </a:defRPr>
            </a:lvl1pPr>
          </a:lstStyle>
          <a:p>
            <a:pPr/>
            <a:r>
              <a:t>10</a:t>
            </a:r>
          </a:p>
        </p:txBody>
      </p:sp>
      <p:sp>
        <p:nvSpPr>
          <p:cNvPr id="383" name="Text 25"/>
          <p:cNvSpPr txBox="1"/>
          <p:nvPr/>
        </p:nvSpPr>
        <p:spPr>
          <a:xfrm>
            <a:off x="9102622" y="3520440"/>
            <a:ext cx="2513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pc="50" sz="900">
                <a:solidFill>
                  <a:srgbClr val="6C7690"/>
                </a:solidFill>
              </a:defRPr>
            </a:lvl1pPr>
          </a:lstStyle>
          <a:p>
            <a:pPr/>
            <a:r>
              <a:t>HOST CPU THREADS</a:t>
            </a:r>
          </a:p>
        </p:txBody>
      </p:sp>
      <p:sp>
        <p:nvSpPr>
          <p:cNvPr id="384" name="Text 26"/>
          <p:cNvSpPr txBox="1"/>
          <p:nvPr/>
        </p:nvSpPr>
        <p:spPr>
          <a:xfrm>
            <a:off x="548639" y="4312842"/>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100">
                <a:solidFill>
                  <a:srgbClr val="6C7690"/>
                </a:solidFill>
              </a:defRPr>
            </a:lvl1pPr>
          </a:lstStyle>
          <a:p>
            <a:pPr/>
            <a:r>
              <a:t>ALGORITHM EVIDENCE</a:t>
            </a:r>
          </a:p>
        </p:txBody>
      </p:sp>
      <p:sp>
        <p:nvSpPr>
          <p:cNvPr id="385" name="Shape 27"/>
          <p:cNvSpPr/>
          <p:nvPr/>
        </p:nvSpPr>
        <p:spPr>
          <a:xfrm>
            <a:off x="502919" y="4617720"/>
            <a:ext cx="2105499" cy="1051561"/>
          </a:xfrm>
          <a:prstGeom prst="roundRect">
            <a:avLst>
              <a:gd name="adj" fmla="val 6957"/>
            </a:avLst>
          </a:prstGeom>
          <a:solidFill>
            <a:srgbClr val="F7F9FC"/>
          </a:solidFill>
          <a:ln w="12700">
            <a:solidFill>
              <a:srgbClr val="DCE2F0"/>
            </a:solidFill>
          </a:ln>
        </p:spPr>
        <p:txBody>
          <a:bodyPr lIns="45719" rIns="45719"/>
          <a:lstStyle/>
          <a:p>
            <a:pPr/>
          </a:p>
        </p:txBody>
      </p:sp>
      <p:sp>
        <p:nvSpPr>
          <p:cNvPr id="386" name="Text 28"/>
          <p:cNvSpPr txBox="1"/>
          <p:nvPr/>
        </p:nvSpPr>
        <p:spPr>
          <a:xfrm>
            <a:off x="612647" y="4727447"/>
            <a:ext cx="1886043"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2235C"/>
                </a:solidFill>
              </a:defRPr>
            </a:lvl1pPr>
          </a:lstStyle>
          <a:p>
            <a:pPr/>
            <a:r>
              <a:t>KMP</a:t>
            </a:r>
          </a:p>
        </p:txBody>
      </p:sp>
      <p:sp>
        <p:nvSpPr>
          <p:cNvPr id="387" name="Text 29"/>
          <p:cNvSpPr txBox="1"/>
          <p:nvPr/>
        </p:nvSpPr>
        <p:spPr>
          <a:xfrm>
            <a:off x="612647" y="5093208"/>
            <a:ext cx="188604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7690"/>
                </a:solidFill>
              </a:defRPr>
            </a:lvl1pPr>
          </a:lstStyle>
          <a:p>
            <a:pPr/>
            <a:r>
              <a:t>"systems" → FOUND, position 10</a:t>
            </a:r>
          </a:p>
        </p:txBody>
      </p:sp>
      <p:sp>
        <p:nvSpPr>
          <p:cNvPr id="388" name="Shape 30"/>
          <p:cNvSpPr/>
          <p:nvPr/>
        </p:nvSpPr>
        <p:spPr>
          <a:xfrm>
            <a:off x="2773009" y="4617720"/>
            <a:ext cx="2105498" cy="1051561"/>
          </a:xfrm>
          <a:prstGeom prst="roundRect">
            <a:avLst>
              <a:gd name="adj" fmla="val 6957"/>
            </a:avLst>
          </a:prstGeom>
          <a:solidFill>
            <a:srgbClr val="F7F9FC"/>
          </a:solidFill>
          <a:ln w="12700">
            <a:solidFill>
              <a:srgbClr val="DCE2F0"/>
            </a:solidFill>
          </a:ln>
        </p:spPr>
        <p:txBody>
          <a:bodyPr lIns="45719" rIns="45719"/>
          <a:lstStyle/>
          <a:p>
            <a:pPr/>
          </a:p>
        </p:txBody>
      </p:sp>
      <p:sp>
        <p:nvSpPr>
          <p:cNvPr id="389" name="Text 31"/>
          <p:cNvSpPr txBox="1"/>
          <p:nvPr/>
        </p:nvSpPr>
        <p:spPr>
          <a:xfrm>
            <a:off x="2882736" y="4727447"/>
            <a:ext cx="1886043"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2235C"/>
                </a:solidFill>
              </a:defRPr>
            </a:lvl1pPr>
          </a:lstStyle>
          <a:p>
            <a:pPr/>
            <a:r>
              <a:t>KMP (negative case)</a:t>
            </a:r>
          </a:p>
        </p:txBody>
      </p:sp>
      <p:sp>
        <p:nvSpPr>
          <p:cNvPr id="390" name="Text 32"/>
          <p:cNvSpPr txBox="1"/>
          <p:nvPr/>
        </p:nvSpPr>
        <p:spPr>
          <a:xfrm>
            <a:off x="2882736" y="5093208"/>
            <a:ext cx="188604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7690"/>
                </a:solidFill>
              </a:defRPr>
            </a:lvl1pPr>
          </a:lstStyle>
          <a:p>
            <a:pPr/>
            <a:r>
              <a:t>"data" → NOT FOUND</a:t>
            </a:r>
          </a:p>
        </p:txBody>
      </p:sp>
      <p:sp>
        <p:nvSpPr>
          <p:cNvPr id="391" name="Shape 33"/>
          <p:cNvSpPr/>
          <p:nvPr/>
        </p:nvSpPr>
        <p:spPr>
          <a:xfrm>
            <a:off x="5043099" y="4617720"/>
            <a:ext cx="2105498" cy="1051561"/>
          </a:xfrm>
          <a:prstGeom prst="roundRect">
            <a:avLst>
              <a:gd name="adj" fmla="val 6957"/>
            </a:avLst>
          </a:prstGeom>
          <a:solidFill>
            <a:srgbClr val="F7F9FC"/>
          </a:solidFill>
          <a:ln w="12700">
            <a:solidFill>
              <a:srgbClr val="DCE2F0"/>
            </a:solidFill>
          </a:ln>
        </p:spPr>
        <p:txBody>
          <a:bodyPr lIns="45719" rIns="45719"/>
          <a:lstStyle/>
          <a:p>
            <a:pPr/>
          </a:p>
        </p:txBody>
      </p:sp>
      <p:sp>
        <p:nvSpPr>
          <p:cNvPr id="392" name="Text 34"/>
          <p:cNvSpPr txBox="1"/>
          <p:nvPr/>
        </p:nvSpPr>
        <p:spPr>
          <a:xfrm>
            <a:off x="5152826" y="4727447"/>
            <a:ext cx="1886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2235C"/>
                </a:solidFill>
              </a:defRPr>
            </a:lvl1pPr>
          </a:lstStyle>
          <a:p>
            <a:pPr/>
            <a:r>
              <a:t>Edit Distance</a:t>
            </a:r>
          </a:p>
        </p:txBody>
      </p:sp>
      <p:sp>
        <p:nvSpPr>
          <p:cNvPr id="393" name="Text 35"/>
          <p:cNvSpPr txBox="1"/>
          <p:nvPr/>
        </p:nvSpPr>
        <p:spPr>
          <a:xfrm>
            <a:off x="5152826" y="5093208"/>
            <a:ext cx="1886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7690"/>
                </a:solidFill>
              </a:defRPr>
            </a:lvl1pPr>
          </a:lstStyle>
          <a:p>
            <a:pPr/>
            <a:r>
              <a:t>D01 vs D05 → 239 dist. / 17.87% sim.</a:t>
            </a:r>
          </a:p>
        </p:txBody>
      </p:sp>
      <p:sp>
        <p:nvSpPr>
          <p:cNvPr id="394" name="Shape 36"/>
          <p:cNvSpPr/>
          <p:nvPr/>
        </p:nvSpPr>
        <p:spPr>
          <a:xfrm>
            <a:off x="7313187" y="4617720"/>
            <a:ext cx="2105498" cy="1051561"/>
          </a:xfrm>
          <a:prstGeom prst="roundRect">
            <a:avLst>
              <a:gd name="adj" fmla="val 6957"/>
            </a:avLst>
          </a:prstGeom>
          <a:solidFill>
            <a:srgbClr val="F7F9FC"/>
          </a:solidFill>
          <a:ln w="12700">
            <a:solidFill>
              <a:srgbClr val="DCE2F0"/>
            </a:solidFill>
          </a:ln>
        </p:spPr>
        <p:txBody>
          <a:bodyPr lIns="45719" rIns="45719"/>
          <a:lstStyle/>
          <a:p>
            <a:pPr/>
          </a:p>
        </p:txBody>
      </p:sp>
      <p:sp>
        <p:nvSpPr>
          <p:cNvPr id="395" name="Text 37"/>
          <p:cNvSpPr txBox="1"/>
          <p:nvPr/>
        </p:nvSpPr>
        <p:spPr>
          <a:xfrm>
            <a:off x="7422915" y="4727447"/>
            <a:ext cx="1886042"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2235C"/>
                </a:solidFill>
              </a:defRPr>
            </a:lvl1pPr>
          </a:lstStyle>
          <a:p>
            <a:pPr/>
            <a:r>
              <a:t>Edmonds-Karp</a:t>
            </a:r>
          </a:p>
        </p:txBody>
      </p:sp>
      <p:sp>
        <p:nvSpPr>
          <p:cNvPr id="396" name="Text 38"/>
          <p:cNvSpPr txBox="1"/>
          <p:nvPr/>
        </p:nvSpPr>
        <p:spPr>
          <a:xfrm>
            <a:off x="7422915" y="5093208"/>
            <a:ext cx="188604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7690"/>
                </a:solidFill>
              </a:defRPr>
            </a:lvl1pPr>
          </a:lstStyle>
          <a:p>
            <a:pPr/>
            <a:r>
              <a:t>D01 → D10, max flow = 10</a:t>
            </a:r>
          </a:p>
        </p:txBody>
      </p:sp>
      <p:sp>
        <p:nvSpPr>
          <p:cNvPr id="397" name="Shape 39"/>
          <p:cNvSpPr/>
          <p:nvPr/>
        </p:nvSpPr>
        <p:spPr>
          <a:xfrm>
            <a:off x="9583277" y="4617720"/>
            <a:ext cx="2105498" cy="1051561"/>
          </a:xfrm>
          <a:prstGeom prst="roundRect">
            <a:avLst>
              <a:gd name="adj" fmla="val 6957"/>
            </a:avLst>
          </a:prstGeom>
          <a:solidFill>
            <a:srgbClr val="F7F9FC"/>
          </a:solidFill>
          <a:ln w="12700">
            <a:solidFill>
              <a:srgbClr val="DCE2F0"/>
            </a:solidFill>
          </a:ln>
        </p:spPr>
        <p:txBody>
          <a:bodyPr lIns="45719" rIns="45719"/>
          <a:lstStyle/>
          <a:p>
            <a:pPr/>
          </a:p>
        </p:txBody>
      </p:sp>
      <p:sp>
        <p:nvSpPr>
          <p:cNvPr id="398" name="Text 40"/>
          <p:cNvSpPr txBox="1"/>
          <p:nvPr/>
        </p:nvSpPr>
        <p:spPr>
          <a:xfrm>
            <a:off x="9693005" y="4727447"/>
            <a:ext cx="1886043"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12235C"/>
                </a:solidFill>
              </a:defRPr>
            </a:lvl1pPr>
          </a:lstStyle>
          <a:p>
            <a:pPr/>
            <a:r>
              <a:t>Miller-Rabin</a:t>
            </a:r>
          </a:p>
        </p:txBody>
      </p:sp>
      <p:sp>
        <p:nvSpPr>
          <p:cNvPr id="399" name="Text 41"/>
          <p:cNvSpPr txBox="1"/>
          <p:nvPr/>
        </p:nvSpPr>
        <p:spPr>
          <a:xfrm>
            <a:off x="9693005" y="5093208"/>
            <a:ext cx="188604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6C7690"/>
                </a:solidFill>
              </a:defRPr>
            </a:lvl1pPr>
          </a:lstStyle>
          <a:p>
            <a:pPr/>
            <a:r>
              <a:t>400 → COMPOSITE</a:t>
            </a:r>
          </a:p>
        </p:txBody>
      </p:sp>
      <p:sp>
        <p:nvSpPr>
          <p:cNvPr id="400" name="Text 42"/>
          <p:cNvSpPr txBox="1"/>
          <p:nvPr/>
        </p:nvSpPr>
        <p:spPr>
          <a:xfrm>
            <a:off x="548639" y="5829344"/>
            <a:ext cx="11094417"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C7690"/>
                </a:solidFill>
              </a:defRPr>
            </a:lvl1pPr>
          </a:lstStyle>
          <a:p>
            <a:pPr/>
            <a:r>
              <a:t>Figures reflect this demonstration run on the development machine — not universal performance guarantees.</a:t>
            </a:r>
          </a:p>
        </p:txBody>
      </p:sp>
      <p:sp>
        <p:nvSpPr>
          <p:cNvPr id="401" name="Text 43"/>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09 / 14</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5"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12235C"/>
                </a:solidFill>
              </a:defRPr>
            </a:lvl1pPr>
          </a:lstStyle>
          <a:p>
            <a:pPr/>
            <a:r>
              <a:t>VALIDATION</a:t>
            </a:r>
          </a:p>
        </p:txBody>
      </p:sp>
      <p:sp>
        <p:nvSpPr>
          <p:cNvPr id="406"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VALIDATION ACROSS MULTIPLE ALGORITHMS</a:t>
            </a:r>
          </a:p>
        </p:txBody>
      </p:sp>
      <p:sp>
        <p:nvSpPr>
          <p:cNvPr id="407" name="Text 2"/>
          <p:cNvSpPr txBox="1"/>
          <p:nvPr/>
        </p:nvSpPr>
        <p:spPr>
          <a:xfrm>
            <a:off x="548639" y="1224211"/>
            <a:ext cx="11094417"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6C7690"/>
                </a:solidFill>
              </a:defRPr>
            </a:lvl1pPr>
          </a:lstStyle>
          <a:p>
            <a:pPr/>
            <a:r>
              <a:t>Nine independent runs across the DSA-3 algorithm engine.</a:t>
            </a:r>
          </a:p>
        </p:txBody>
      </p:sp>
      <p:graphicFrame>
        <p:nvGraphicFramePr>
          <p:cNvPr id="408" name="Table 0"/>
          <p:cNvGraphicFramePr/>
          <p:nvPr/>
        </p:nvGraphicFramePr>
        <p:xfrm>
          <a:off x="502919" y="1920239"/>
          <a:ext cx="11185857" cy="4023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3017520"/>
                <a:gridCol w="4876495"/>
              </a:tblGrid>
              <a:tr h="402336">
                <a:tc>
                  <a:txBody>
                    <a:bodyPr/>
                    <a:lstStyle/>
                    <a:p>
                      <a:pPr algn="l">
                        <a:defRPr sz="1800"/>
                      </a:pPr>
                      <a:r>
                        <a:rPr b="1" sz="1200">
                          <a:solidFill>
                            <a:srgbClr val="FFFFFF"/>
                          </a:solidFill>
                        </a:rPr>
                        <a:t>Algorithm</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12235C"/>
                    </a:solidFill>
                  </a:tcPr>
                </a:tc>
                <a:tc>
                  <a:txBody>
                    <a:bodyPr/>
                    <a:lstStyle/>
                    <a:p>
                      <a:pPr algn="l">
                        <a:defRPr sz="1800"/>
                      </a:pPr>
                      <a:r>
                        <a:rPr b="1" sz="1200">
                          <a:solidFill>
                            <a:srgbClr val="FFFFFF"/>
                          </a:solidFill>
                        </a:rPr>
                        <a:t>Input</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12235C"/>
                    </a:solidFill>
                  </a:tcPr>
                </a:tc>
                <a:tc>
                  <a:txBody>
                    <a:bodyPr/>
                    <a:lstStyle/>
                    <a:p>
                      <a:pPr algn="l">
                        <a:defRPr sz="1800"/>
                      </a:pPr>
                      <a:r>
                        <a:rPr b="1" sz="1200">
                          <a:solidFill>
                            <a:srgbClr val="FFFFFF"/>
                          </a:solidFill>
                        </a:rPr>
                        <a:t>Result</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12235C"/>
                    </a:solidFill>
                  </a:tcPr>
                </a:tc>
              </a:tr>
              <a:tr h="402336">
                <a:tc>
                  <a:txBody>
                    <a:bodyPr/>
                    <a:lstStyle/>
                    <a:p>
                      <a:pPr algn="l">
                        <a:defRPr sz="1800"/>
                      </a:pPr>
                      <a:r>
                        <a:rPr sz="1200">
                          <a:solidFill>
                            <a:srgbClr val="3A4566"/>
                          </a:solidFill>
                        </a:rPr>
                        <a:t>KMP</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3A4566"/>
                          </a:solidFill>
                        </a:rPr>
                        <a:t>"systems"</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12235C"/>
                          </a:solidFill>
                        </a:rPr>
                        <a:t>FOUND — position 10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r>
              <a:tr h="402336">
                <a:tc>
                  <a:txBody>
                    <a:bodyPr/>
                    <a:lstStyle/>
                    <a:p>
                      <a:pPr algn="l">
                        <a:defRPr sz="1800"/>
                      </a:pPr>
                      <a:r>
                        <a:rPr sz="1200">
                          <a:solidFill>
                            <a:srgbClr val="3A4566"/>
                          </a:solidFill>
                        </a:rPr>
                        <a:t>KMP</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3A4566"/>
                          </a:solidFill>
                        </a:rPr>
                        <a:t>"data"</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12235C"/>
                          </a:solidFill>
                        </a:rPr>
                        <a:t>NOT FOUND</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r>
              <a:tr h="402336">
                <a:tc>
                  <a:txBody>
                    <a:bodyPr/>
                    <a:lstStyle/>
                    <a:p>
                      <a:pPr algn="l">
                        <a:defRPr sz="1800"/>
                      </a:pPr>
                      <a:r>
                        <a:rPr sz="1200">
                          <a:solidFill>
                            <a:srgbClr val="3A4566"/>
                          </a:solidFill>
                        </a:rPr>
                        <a:t>Rabin-Karp</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3A4566"/>
                          </a:solidFill>
                        </a:rPr>
                        <a:t>"system"</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12235C"/>
                          </a:solidFill>
                        </a:rPr>
                        <a:t>FOUND — position 10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r>
              <a:tr h="402336">
                <a:tc>
                  <a:txBody>
                    <a:bodyPr/>
                    <a:lstStyle/>
                    <a:p>
                      <a:pPr algn="l">
                        <a:defRPr sz="1800"/>
                      </a:pPr>
                      <a:r>
                        <a:rPr sz="1200">
                          <a:solidFill>
                            <a:srgbClr val="3A4566"/>
                          </a:solidFill>
                        </a:rPr>
                        <a:t>Edit Distance</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3A4566"/>
                          </a:solidFill>
                        </a:rPr>
                        <a:t>D01 vs D05</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12235C"/>
                          </a:solidFill>
                        </a:rPr>
                        <a:t>Distance 239 / 17.87% similarity</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r>
              <a:tr h="402336">
                <a:tc>
                  <a:txBody>
                    <a:bodyPr/>
                    <a:lstStyle/>
                    <a:p>
                      <a:pPr algn="l">
                        <a:defRPr sz="1800"/>
                      </a:pPr>
                      <a:r>
                        <a:rPr sz="1200">
                          <a:solidFill>
                            <a:srgbClr val="3A4566"/>
                          </a:solidFill>
                        </a:rPr>
                        <a:t>Z Algorithm</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3A4566"/>
                          </a:solidFill>
                        </a:rPr>
                        <a:t>"abcd"</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12235C"/>
                          </a:solidFill>
                        </a:rPr>
                        <a:t>NOT FOUND</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r>
              <a:tr h="402336">
                <a:tc>
                  <a:txBody>
                    <a:bodyPr/>
                    <a:lstStyle/>
                    <a:p>
                      <a:pPr algn="l">
                        <a:defRPr sz="1800"/>
                      </a:pPr>
                      <a:r>
                        <a:rPr sz="1200">
                          <a:solidFill>
                            <a:srgbClr val="3A4566"/>
                          </a:solidFill>
                        </a:rPr>
                        <a:t>Suffix Array</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3A4566"/>
                          </a:solidFill>
                        </a:rPr>
                        <a:t>D01 vs D04</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12235C"/>
                          </a:solidFill>
                        </a:rPr>
                        <a:t>13.70% structural similarity</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r>
              <a:tr h="402336">
                <a:tc>
                  <a:txBody>
                    <a:bodyPr/>
                    <a:lstStyle/>
                    <a:p>
                      <a:pPr algn="l">
                        <a:defRPr sz="1800"/>
                      </a:pPr>
                      <a:r>
                        <a:rPr sz="1200">
                          <a:solidFill>
                            <a:srgbClr val="3A4566"/>
                          </a:solidFill>
                        </a:rPr>
                        <a:t>Sequence Alignment</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3A4566"/>
                          </a:solidFill>
                        </a:rPr>
                        <a:t>D05 vs D08</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12235C"/>
                          </a:solidFill>
                        </a:rPr>
                        <a:t>Score −110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r>
              <a:tr h="402336">
                <a:tc>
                  <a:txBody>
                    <a:bodyPr/>
                    <a:lstStyle/>
                    <a:p>
                      <a:pPr algn="l">
                        <a:defRPr sz="1800"/>
                      </a:pPr>
                      <a:r>
                        <a:rPr sz="1200">
                          <a:solidFill>
                            <a:srgbClr val="3A4566"/>
                          </a:solidFill>
                        </a:rPr>
                        <a:t>Edmonds-Karp</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3A4566"/>
                          </a:solidFill>
                        </a:rPr>
                        <a:t>D01 → D10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c>
                  <a:txBody>
                    <a:bodyPr/>
                    <a:lstStyle/>
                    <a:p>
                      <a:pPr algn="l">
                        <a:defRPr sz="1800"/>
                      </a:pPr>
                      <a:r>
                        <a:rPr sz="1200">
                          <a:solidFill>
                            <a:srgbClr val="12235C"/>
                          </a:solidFill>
                        </a:rPr>
                        <a:t>Max flow = 10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7F9FC"/>
                    </a:solidFill>
                  </a:tcPr>
                </a:tc>
              </a:tr>
              <a:tr h="402336">
                <a:tc>
                  <a:txBody>
                    <a:bodyPr/>
                    <a:lstStyle/>
                    <a:p>
                      <a:pPr algn="l">
                        <a:defRPr sz="1800"/>
                      </a:pPr>
                      <a:r>
                        <a:rPr sz="1200">
                          <a:solidFill>
                            <a:srgbClr val="3A4566"/>
                          </a:solidFill>
                        </a:rPr>
                        <a:t>Miller-Rabin</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3A4566"/>
                          </a:solidFill>
                        </a:rPr>
                        <a:t>400</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c>
                  <a:txBody>
                    <a:bodyPr/>
                    <a:lstStyle/>
                    <a:p>
                      <a:pPr algn="l">
                        <a:defRPr sz="1800"/>
                      </a:pPr>
                      <a:r>
                        <a:rPr sz="1200">
                          <a:solidFill>
                            <a:srgbClr val="12235C"/>
                          </a:solidFill>
                        </a:rPr>
                        <a:t>COMPOSITE</a:t>
                      </a:r>
                    </a:p>
                  </a:txBody>
                  <a:tcPr marL="50800" marR="50800" marT="50800" marB="50800" anchor="ctr" anchorCtr="0" horzOverflow="overflow">
                    <a:lnL w="12700">
                      <a:solidFill>
                        <a:srgbClr val="DCE2F0"/>
                      </a:solidFill>
                    </a:lnL>
                    <a:lnR w="12700">
                      <a:solidFill>
                        <a:srgbClr val="DCE2F0"/>
                      </a:solidFill>
                    </a:lnR>
                    <a:lnT w="12700">
                      <a:solidFill>
                        <a:srgbClr val="DCE2F0"/>
                      </a:solidFill>
                    </a:lnT>
                    <a:lnB w="12700">
                      <a:solidFill>
                        <a:srgbClr val="DCE2F0"/>
                      </a:solidFill>
                    </a:lnB>
                    <a:solidFill>
                      <a:srgbClr val="FFFFFF"/>
                    </a:solidFill>
                  </a:tcPr>
                </a:tc>
              </a:tr>
            </a:tbl>
          </a:graphicData>
        </a:graphic>
      </p:graphicFrame>
      <p:sp>
        <p:nvSpPr>
          <p:cNvPr id="409" name="Text 3"/>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10 / 14</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0E7C86"/>
                </a:solidFill>
              </a:defRPr>
            </a:lvl1pPr>
          </a:lstStyle>
          <a:p>
            <a:pPr/>
            <a:r>
              <a:t>LIVE SYSTEM</a:t>
            </a:r>
          </a:p>
        </p:txBody>
      </p:sp>
      <p:sp>
        <p:nvSpPr>
          <p:cNvPr id="41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IMPLEMENTATION EVIDENCE</a:t>
            </a:r>
          </a:p>
        </p:txBody>
      </p:sp>
      <p:sp>
        <p:nvSpPr>
          <p:cNvPr id="415" name="Text 7"/>
          <p:cNvSpPr txBox="1"/>
          <p:nvPr/>
        </p:nvSpPr>
        <p:spPr>
          <a:xfrm>
            <a:off x="548639" y="5349284"/>
            <a:ext cx="11094417"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i="1" sz="1000">
                <a:solidFill>
                  <a:srgbClr val="6C7690"/>
                </a:solidFill>
              </a:defRPr>
            </a:lvl1pPr>
          </a:lstStyle>
          <a:p>
            <a:pPr/>
            <a:r>
              <a:t>"Working Java console prototype executing a six-stage text-processing pipeline with runtime-aware scheduling."</a:t>
            </a:r>
          </a:p>
        </p:txBody>
      </p:sp>
      <p:sp>
        <p:nvSpPr>
          <p:cNvPr id="416" name="Shape 8"/>
          <p:cNvSpPr/>
          <p:nvPr/>
        </p:nvSpPr>
        <p:spPr>
          <a:xfrm>
            <a:off x="502919" y="5623559"/>
            <a:ext cx="3545739" cy="457201"/>
          </a:xfrm>
          <a:prstGeom prst="roundRect">
            <a:avLst>
              <a:gd name="adj" fmla="val 50000"/>
            </a:avLst>
          </a:prstGeom>
          <a:solidFill>
            <a:srgbClr val="F7F9FC"/>
          </a:solidFill>
          <a:ln w="12700">
            <a:miter lim="400000"/>
          </a:ln>
        </p:spPr>
        <p:txBody>
          <a:bodyPr lIns="45719" rIns="45719"/>
          <a:lstStyle/>
          <a:p>
            <a:pPr/>
          </a:p>
        </p:txBody>
      </p:sp>
      <p:sp>
        <p:nvSpPr>
          <p:cNvPr id="417" name="Text 9"/>
          <p:cNvSpPr txBox="1"/>
          <p:nvPr/>
        </p:nvSpPr>
        <p:spPr>
          <a:xfrm>
            <a:off x="557783" y="5785025"/>
            <a:ext cx="343601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2235C"/>
                </a:solidFill>
              </a:defRPr>
            </a:lvl1pPr>
          </a:lstStyle>
          <a:p>
            <a:pPr/>
            <a:r>
              <a:t>①  Task generation</a:t>
            </a:r>
          </a:p>
        </p:txBody>
      </p:sp>
      <p:sp>
        <p:nvSpPr>
          <p:cNvPr id="418" name="Shape 10"/>
          <p:cNvSpPr/>
          <p:nvPr/>
        </p:nvSpPr>
        <p:spPr>
          <a:xfrm>
            <a:off x="4322977" y="5623559"/>
            <a:ext cx="3545739" cy="457201"/>
          </a:xfrm>
          <a:prstGeom prst="roundRect">
            <a:avLst>
              <a:gd name="adj" fmla="val 50000"/>
            </a:avLst>
          </a:prstGeom>
          <a:solidFill>
            <a:srgbClr val="F7F9FC"/>
          </a:solidFill>
          <a:ln w="12700">
            <a:miter lim="400000"/>
          </a:ln>
        </p:spPr>
        <p:txBody>
          <a:bodyPr lIns="45719" rIns="45719"/>
          <a:lstStyle/>
          <a:p>
            <a:pPr/>
          </a:p>
        </p:txBody>
      </p:sp>
      <p:sp>
        <p:nvSpPr>
          <p:cNvPr id="419" name="Text 11"/>
          <p:cNvSpPr txBox="1"/>
          <p:nvPr/>
        </p:nvSpPr>
        <p:spPr>
          <a:xfrm>
            <a:off x="4377842" y="5785025"/>
            <a:ext cx="343601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2235C"/>
                </a:solidFill>
              </a:defRPr>
            </a:lvl1pPr>
          </a:lstStyle>
          <a:p>
            <a:pPr/>
            <a:r>
              <a:t>②  Resource assignment</a:t>
            </a:r>
          </a:p>
        </p:txBody>
      </p:sp>
      <p:sp>
        <p:nvSpPr>
          <p:cNvPr id="420" name="Shape 12"/>
          <p:cNvSpPr/>
          <p:nvPr/>
        </p:nvSpPr>
        <p:spPr>
          <a:xfrm>
            <a:off x="8143037" y="5623559"/>
            <a:ext cx="3545738" cy="457201"/>
          </a:xfrm>
          <a:prstGeom prst="roundRect">
            <a:avLst>
              <a:gd name="adj" fmla="val 50000"/>
            </a:avLst>
          </a:prstGeom>
          <a:solidFill>
            <a:srgbClr val="F7F9FC"/>
          </a:solidFill>
          <a:ln w="12700">
            <a:miter lim="400000"/>
          </a:ln>
        </p:spPr>
        <p:txBody>
          <a:bodyPr lIns="45719" rIns="45719"/>
          <a:lstStyle/>
          <a:p>
            <a:pPr/>
          </a:p>
        </p:txBody>
      </p:sp>
      <p:sp>
        <p:nvSpPr>
          <p:cNvPr id="421" name="Text 13"/>
          <p:cNvSpPr txBox="1"/>
          <p:nvPr/>
        </p:nvSpPr>
        <p:spPr>
          <a:xfrm>
            <a:off x="8197901" y="5785025"/>
            <a:ext cx="343601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12235C"/>
                </a:solidFill>
              </a:defRPr>
            </a:lvl1pPr>
          </a:lstStyle>
          <a:p>
            <a:pPr/>
            <a:r>
              <a:t>③  Parallel pipeline completion</a:t>
            </a:r>
          </a:p>
        </p:txBody>
      </p:sp>
      <p:sp>
        <p:nvSpPr>
          <p:cNvPr id="422" name="Text 14"/>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11 / 14</a:t>
            </a:r>
          </a:p>
        </p:txBody>
      </p:sp>
      <p:pic>
        <p:nvPicPr>
          <p:cNvPr id="423" name="Screenshot 2026-09-14 at 4.19.04 PM.png" descr="Screenshot 2026-09-14 at 4.19.04 PM.png"/>
          <p:cNvPicPr>
            <a:picLocks noChangeAspect="1"/>
          </p:cNvPicPr>
          <p:nvPr/>
        </p:nvPicPr>
        <p:blipFill>
          <a:blip r:embed="rId3">
            <a:extLst/>
          </a:blip>
          <a:srcRect l="10874" t="21558" r="24698" b="19760"/>
          <a:stretch>
            <a:fillRect/>
          </a:stretch>
        </p:blipFill>
        <p:spPr>
          <a:xfrm>
            <a:off x="2698948" y="1188243"/>
            <a:ext cx="6793941" cy="4024339"/>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1F5FB0"/>
                </a:solidFill>
              </a:defRPr>
            </a:lvl1pPr>
          </a:lstStyle>
          <a:p>
            <a:pPr/>
            <a:r>
              <a:t>RUBRIC: DISSEMINATION AND ACCESSIBILITY (10)</a:t>
            </a:r>
          </a:p>
        </p:txBody>
      </p:sp>
      <p:sp>
        <p:nvSpPr>
          <p:cNvPr id="428"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DISSEMINATION &amp; ACCESSIBILITY</a:t>
            </a:r>
          </a:p>
        </p:txBody>
      </p:sp>
      <p:sp>
        <p:nvSpPr>
          <p:cNvPr id="429" name="Shape 2"/>
          <p:cNvSpPr/>
          <p:nvPr/>
        </p:nvSpPr>
        <p:spPr>
          <a:xfrm>
            <a:off x="502919" y="1499614"/>
            <a:ext cx="6309361" cy="3318828"/>
          </a:xfrm>
          <a:prstGeom prst="roundRect">
            <a:avLst>
              <a:gd name="adj" fmla="val 2204"/>
            </a:avLst>
          </a:prstGeom>
          <a:solidFill>
            <a:srgbClr val="F7F9FC"/>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430" name="Shape 3"/>
          <p:cNvSpPr/>
          <p:nvPr/>
        </p:nvSpPr>
        <p:spPr>
          <a:xfrm>
            <a:off x="777240" y="1817559"/>
            <a:ext cx="146305" cy="146305"/>
          </a:xfrm>
          <a:prstGeom prst="ellipse">
            <a:avLst/>
          </a:prstGeom>
          <a:solidFill>
            <a:srgbClr val="1F5FB0"/>
          </a:solidFill>
          <a:ln w="12700">
            <a:miter lim="400000"/>
          </a:ln>
        </p:spPr>
        <p:txBody>
          <a:bodyPr lIns="45719" rIns="45719"/>
          <a:lstStyle/>
          <a:p>
            <a:pPr/>
          </a:p>
        </p:txBody>
      </p:sp>
      <p:sp>
        <p:nvSpPr>
          <p:cNvPr id="431" name="Text 4"/>
          <p:cNvSpPr txBox="1"/>
          <p:nvPr/>
        </p:nvSpPr>
        <p:spPr>
          <a:xfrm>
            <a:off x="1033271" y="1817559"/>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Java console application</a:t>
            </a:r>
          </a:p>
        </p:txBody>
      </p:sp>
      <p:sp>
        <p:nvSpPr>
          <p:cNvPr id="432" name="Shape 5"/>
          <p:cNvSpPr/>
          <p:nvPr/>
        </p:nvSpPr>
        <p:spPr>
          <a:xfrm>
            <a:off x="777240" y="2202316"/>
            <a:ext cx="146305" cy="146305"/>
          </a:xfrm>
          <a:prstGeom prst="ellipse">
            <a:avLst/>
          </a:prstGeom>
          <a:solidFill>
            <a:srgbClr val="1F5FB0"/>
          </a:solidFill>
          <a:ln w="12700">
            <a:miter lim="400000"/>
          </a:ln>
        </p:spPr>
        <p:txBody>
          <a:bodyPr lIns="45719" rIns="45719"/>
          <a:lstStyle/>
          <a:p>
            <a:pPr/>
          </a:p>
        </p:txBody>
      </p:sp>
      <p:sp>
        <p:nvSpPr>
          <p:cNvPr id="433" name="Text 6"/>
          <p:cNvSpPr txBox="1"/>
          <p:nvPr/>
        </p:nvSpPr>
        <p:spPr>
          <a:xfrm>
            <a:off x="1033271" y="2199986"/>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TXT-based corpus — no proprietary dataset required</a:t>
            </a:r>
          </a:p>
        </p:txBody>
      </p:sp>
      <p:sp>
        <p:nvSpPr>
          <p:cNvPr id="434" name="Shape 7"/>
          <p:cNvSpPr/>
          <p:nvPr/>
        </p:nvSpPr>
        <p:spPr>
          <a:xfrm>
            <a:off x="777240" y="2587072"/>
            <a:ext cx="146305" cy="146305"/>
          </a:xfrm>
          <a:prstGeom prst="ellipse">
            <a:avLst/>
          </a:prstGeom>
          <a:solidFill>
            <a:srgbClr val="1F5FB0"/>
          </a:solidFill>
          <a:ln w="12700">
            <a:miter lim="400000"/>
          </a:ln>
        </p:spPr>
        <p:txBody>
          <a:bodyPr lIns="45719" rIns="45719"/>
          <a:lstStyle/>
          <a:p>
            <a:pPr/>
          </a:p>
        </p:txBody>
      </p:sp>
      <p:sp>
        <p:nvSpPr>
          <p:cNvPr id="435" name="Text 8"/>
          <p:cNvSpPr txBox="1"/>
          <p:nvPr/>
        </p:nvSpPr>
        <p:spPr>
          <a:xfrm>
            <a:off x="1033271" y="2587072"/>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Modular algorithm classes</a:t>
            </a:r>
          </a:p>
        </p:txBody>
      </p:sp>
      <p:sp>
        <p:nvSpPr>
          <p:cNvPr id="436" name="Shape 9"/>
          <p:cNvSpPr/>
          <p:nvPr/>
        </p:nvSpPr>
        <p:spPr>
          <a:xfrm>
            <a:off x="777240" y="2990087"/>
            <a:ext cx="146305" cy="146305"/>
          </a:xfrm>
          <a:prstGeom prst="ellipse">
            <a:avLst/>
          </a:prstGeom>
          <a:solidFill>
            <a:srgbClr val="1F5FB0"/>
          </a:solidFill>
          <a:ln w="12700">
            <a:miter lim="400000"/>
          </a:ln>
        </p:spPr>
        <p:txBody>
          <a:bodyPr lIns="45719" rIns="45719"/>
          <a:lstStyle/>
          <a:p>
            <a:pPr/>
          </a:p>
        </p:txBody>
      </p:sp>
      <p:sp>
        <p:nvSpPr>
          <p:cNvPr id="437" name="Text 10"/>
          <p:cNvSpPr txBox="1"/>
          <p:nvPr/>
        </p:nvSpPr>
        <p:spPr>
          <a:xfrm>
            <a:off x="1033271" y="2969499"/>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Reproducible document inputs</a:t>
            </a:r>
          </a:p>
        </p:txBody>
      </p:sp>
      <p:sp>
        <p:nvSpPr>
          <p:cNvPr id="438" name="Shape 11"/>
          <p:cNvSpPr/>
          <p:nvPr/>
        </p:nvSpPr>
        <p:spPr>
          <a:xfrm>
            <a:off x="777240" y="3351275"/>
            <a:ext cx="146305" cy="146305"/>
          </a:xfrm>
          <a:prstGeom prst="ellipse">
            <a:avLst/>
          </a:prstGeom>
          <a:solidFill>
            <a:srgbClr val="1F5FB0"/>
          </a:solidFill>
          <a:ln w="12700">
            <a:miter lim="400000"/>
          </a:ln>
        </p:spPr>
        <p:txBody>
          <a:bodyPr lIns="45719" rIns="45719"/>
          <a:lstStyle/>
          <a:p>
            <a:pPr/>
          </a:p>
        </p:txBody>
      </p:sp>
      <p:sp>
        <p:nvSpPr>
          <p:cNvPr id="439" name="Text 12"/>
          <p:cNvSpPr txBox="1"/>
          <p:nvPr/>
        </p:nvSpPr>
        <p:spPr>
          <a:xfrm>
            <a:off x="1033271" y="3369563"/>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Clear request history</a:t>
            </a:r>
          </a:p>
        </p:txBody>
      </p:sp>
      <p:sp>
        <p:nvSpPr>
          <p:cNvPr id="440" name="Shape 13"/>
          <p:cNvSpPr/>
          <p:nvPr/>
        </p:nvSpPr>
        <p:spPr>
          <a:xfrm>
            <a:off x="777240" y="3706094"/>
            <a:ext cx="146305" cy="146305"/>
          </a:xfrm>
          <a:prstGeom prst="ellipse">
            <a:avLst/>
          </a:prstGeom>
          <a:solidFill>
            <a:srgbClr val="1F5FB0"/>
          </a:solidFill>
          <a:ln w="12700">
            <a:miter lim="400000"/>
          </a:ln>
        </p:spPr>
        <p:txBody>
          <a:bodyPr lIns="45719" rIns="45719"/>
          <a:lstStyle/>
          <a:p>
            <a:pPr/>
          </a:p>
        </p:txBody>
      </p:sp>
      <p:sp>
        <p:nvSpPr>
          <p:cNvPr id="441" name="Text 14"/>
          <p:cNvSpPr txBox="1"/>
          <p:nvPr/>
        </p:nvSpPr>
        <p:spPr>
          <a:xfrm>
            <a:off x="1033271" y="3720146"/>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Demonstrable outputs</a:t>
            </a:r>
          </a:p>
        </p:txBody>
      </p:sp>
      <p:sp>
        <p:nvSpPr>
          <p:cNvPr id="442" name="Shape 15"/>
          <p:cNvSpPr/>
          <p:nvPr/>
        </p:nvSpPr>
        <p:spPr>
          <a:xfrm>
            <a:off x="777240" y="4053566"/>
            <a:ext cx="146305" cy="146305"/>
          </a:xfrm>
          <a:prstGeom prst="ellipse">
            <a:avLst/>
          </a:prstGeom>
          <a:solidFill>
            <a:srgbClr val="1F5FB0"/>
          </a:solidFill>
          <a:ln w="12700">
            <a:miter lim="400000"/>
          </a:ln>
        </p:spPr>
        <p:txBody>
          <a:bodyPr lIns="45719" rIns="45719"/>
          <a:lstStyle/>
          <a:p>
            <a:pPr/>
          </a:p>
        </p:txBody>
      </p:sp>
      <p:sp>
        <p:nvSpPr>
          <p:cNvPr id="443" name="Text 16"/>
          <p:cNvSpPr txBox="1"/>
          <p:nvPr/>
        </p:nvSpPr>
        <p:spPr>
          <a:xfrm>
            <a:off x="1033271" y="4048286"/>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Suitable for academic demonstration</a:t>
            </a:r>
          </a:p>
        </p:txBody>
      </p:sp>
      <p:sp>
        <p:nvSpPr>
          <p:cNvPr id="444" name="Shape 17"/>
          <p:cNvSpPr/>
          <p:nvPr/>
        </p:nvSpPr>
        <p:spPr>
          <a:xfrm>
            <a:off x="777240" y="4419937"/>
            <a:ext cx="146305" cy="146305"/>
          </a:xfrm>
          <a:prstGeom prst="ellipse">
            <a:avLst/>
          </a:prstGeom>
          <a:solidFill>
            <a:srgbClr val="1F5FB0"/>
          </a:solidFill>
          <a:ln w="12700">
            <a:miter lim="400000"/>
          </a:ln>
        </p:spPr>
        <p:txBody>
          <a:bodyPr lIns="45719" rIns="45719"/>
          <a:lstStyle/>
          <a:p>
            <a:pPr/>
          </a:p>
        </p:txBody>
      </p:sp>
      <p:sp>
        <p:nvSpPr>
          <p:cNvPr id="445" name="Text 18"/>
          <p:cNvSpPr txBox="1"/>
          <p:nvPr/>
        </p:nvSpPr>
        <p:spPr>
          <a:xfrm>
            <a:off x="1033271" y="4414657"/>
            <a:ext cx="550469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Structured as modular Java packages/classes; demonstrable via Eclipse</a:t>
            </a:r>
          </a:p>
        </p:txBody>
      </p:sp>
      <p:sp>
        <p:nvSpPr>
          <p:cNvPr id="446" name="Shape 19"/>
          <p:cNvSpPr/>
          <p:nvPr/>
        </p:nvSpPr>
        <p:spPr>
          <a:xfrm>
            <a:off x="7178040" y="1920239"/>
            <a:ext cx="4510736" cy="411481"/>
          </a:xfrm>
          <a:prstGeom prst="roundRect">
            <a:avLst>
              <a:gd name="adj" fmla="val 50000"/>
            </a:avLst>
          </a:prstGeom>
          <a:solidFill>
            <a:srgbClr val="E7EEFB"/>
          </a:solidFill>
          <a:ln w="12700">
            <a:miter lim="400000"/>
          </a:ln>
        </p:spPr>
        <p:txBody>
          <a:bodyPr lIns="45719" rIns="45719"/>
          <a:lstStyle/>
          <a:p>
            <a:pPr/>
          </a:p>
        </p:txBody>
      </p:sp>
      <p:sp>
        <p:nvSpPr>
          <p:cNvPr id="447" name="Text 20"/>
          <p:cNvSpPr txBox="1"/>
          <p:nvPr/>
        </p:nvSpPr>
        <p:spPr>
          <a:xfrm>
            <a:off x="7232904" y="2047547"/>
            <a:ext cx="440100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F5FB0"/>
                </a:solidFill>
              </a:defRPr>
            </a:lvl1pPr>
          </a:lstStyle>
          <a:p>
            <a:pPr/>
            <a:r>
              <a:t>Input</a:t>
            </a:r>
          </a:p>
        </p:txBody>
      </p:sp>
      <p:sp>
        <p:nvSpPr>
          <p:cNvPr id="448" name="Text 21"/>
          <p:cNvSpPr txBox="1"/>
          <p:nvPr/>
        </p:nvSpPr>
        <p:spPr>
          <a:xfrm>
            <a:off x="7178040" y="2346015"/>
            <a:ext cx="451073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449" name="Shape 22"/>
          <p:cNvSpPr/>
          <p:nvPr/>
        </p:nvSpPr>
        <p:spPr>
          <a:xfrm>
            <a:off x="7178040" y="2532888"/>
            <a:ext cx="4510736" cy="411481"/>
          </a:xfrm>
          <a:prstGeom prst="roundRect">
            <a:avLst>
              <a:gd name="adj" fmla="val 50000"/>
            </a:avLst>
          </a:prstGeom>
          <a:solidFill>
            <a:srgbClr val="E4F2F2"/>
          </a:solidFill>
          <a:ln w="12700">
            <a:miter lim="400000"/>
          </a:ln>
        </p:spPr>
        <p:txBody>
          <a:bodyPr lIns="45719" rIns="45719"/>
          <a:lstStyle/>
          <a:p>
            <a:pPr/>
          </a:p>
        </p:txBody>
      </p:sp>
      <p:sp>
        <p:nvSpPr>
          <p:cNvPr id="450" name="Text 23"/>
          <p:cNvSpPr txBox="1"/>
          <p:nvPr/>
        </p:nvSpPr>
        <p:spPr>
          <a:xfrm>
            <a:off x="7232904" y="2660195"/>
            <a:ext cx="440100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E7C86"/>
                </a:solidFill>
              </a:defRPr>
            </a:lvl1pPr>
          </a:lstStyle>
          <a:p>
            <a:pPr/>
            <a:r>
              <a:t>Processing</a:t>
            </a:r>
          </a:p>
        </p:txBody>
      </p:sp>
      <p:sp>
        <p:nvSpPr>
          <p:cNvPr id="451" name="Text 24"/>
          <p:cNvSpPr txBox="1"/>
          <p:nvPr/>
        </p:nvSpPr>
        <p:spPr>
          <a:xfrm>
            <a:off x="7178040" y="2958662"/>
            <a:ext cx="4510736"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452" name="Shape 25"/>
          <p:cNvSpPr/>
          <p:nvPr/>
        </p:nvSpPr>
        <p:spPr>
          <a:xfrm>
            <a:off x="7178040" y="3145535"/>
            <a:ext cx="4510736" cy="411481"/>
          </a:xfrm>
          <a:prstGeom prst="roundRect">
            <a:avLst>
              <a:gd name="adj" fmla="val 50000"/>
            </a:avLst>
          </a:prstGeom>
          <a:solidFill>
            <a:srgbClr val="E7EEFB"/>
          </a:solidFill>
          <a:ln w="12700">
            <a:miter lim="400000"/>
          </a:ln>
        </p:spPr>
        <p:txBody>
          <a:bodyPr lIns="45719" rIns="45719"/>
          <a:lstStyle/>
          <a:p>
            <a:pPr/>
          </a:p>
        </p:txBody>
      </p:sp>
      <p:sp>
        <p:nvSpPr>
          <p:cNvPr id="453" name="Text 26"/>
          <p:cNvSpPr txBox="1"/>
          <p:nvPr/>
        </p:nvSpPr>
        <p:spPr>
          <a:xfrm>
            <a:off x="7232904" y="3272843"/>
            <a:ext cx="440100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1F5FB0"/>
                </a:solidFill>
              </a:defRPr>
            </a:lvl1pPr>
          </a:lstStyle>
          <a:p>
            <a:pPr/>
            <a:r>
              <a:t>Scheduling</a:t>
            </a:r>
          </a:p>
        </p:txBody>
      </p:sp>
      <p:sp>
        <p:nvSpPr>
          <p:cNvPr id="454" name="Text 27"/>
          <p:cNvSpPr txBox="1"/>
          <p:nvPr/>
        </p:nvSpPr>
        <p:spPr>
          <a:xfrm>
            <a:off x="7178040" y="3571310"/>
            <a:ext cx="4510736"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6C7690"/>
                </a:solidFill>
              </a:defRPr>
            </a:lvl1pPr>
          </a:lstStyle>
          <a:p>
            <a:pPr/>
            <a:r>
              <a:t>↓</a:t>
            </a:r>
          </a:p>
        </p:txBody>
      </p:sp>
      <p:sp>
        <p:nvSpPr>
          <p:cNvPr id="455" name="Shape 28"/>
          <p:cNvSpPr/>
          <p:nvPr/>
        </p:nvSpPr>
        <p:spPr>
          <a:xfrm>
            <a:off x="7178040" y="3758184"/>
            <a:ext cx="4510736" cy="411481"/>
          </a:xfrm>
          <a:prstGeom prst="roundRect">
            <a:avLst>
              <a:gd name="adj" fmla="val 50000"/>
            </a:avLst>
          </a:prstGeom>
          <a:solidFill>
            <a:srgbClr val="E4F2F2"/>
          </a:solidFill>
          <a:ln w="12700">
            <a:miter lim="400000"/>
          </a:ln>
        </p:spPr>
        <p:txBody>
          <a:bodyPr lIns="45719" rIns="45719"/>
          <a:lstStyle/>
          <a:p>
            <a:pPr/>
          </a:p>
        </p:txBody>
      </p:sp>
      <p:sp>
        <p:nvSpPr>
          <p:cNvPr id="456" name="Text 29"/>
          <p:cNvSpPr txBox="1"/>
          <p:nvPr/>
        </p:nvSpPr>
        <p:spPr>
          <a:xfrm>
            <a:off x="7232904" y="3885491"/>
            <a:ext cx="440100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E7C86"/>
                </a:solidFill>
              </a:defRPr>
            </a:lvl1pPr>
          </a:lstStyle>
          <a:p>
            <a:pPr/>
            <a:r>
              <a:t>Result</a:t>
            </a:r>
          </a:p>
        </p:txBody>
      </p:sp>
      <p:sp>
        <p:nvSpPr>
          <p:cNvPr id="457" name="Text 36"/>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12 / 14</a:t>
            </a:r>
          </a:p>
        </p:txBody>
      </p:sp>
      <p:pic>
        <p:nvPicPr>
          <p:cNvPr id="458" name="Screenshot 2026-09-14 at 4.21.49 PM.png" descr="Screenshot 2026-09-14 at 4.21.49 PM.png"/>
          <p:cNvPicPr>
            <a:picLocks noChangeAspect="1"/>
          </p:cNvPicPr>
          <p:nvPr/>
        </p:nvPicPr>
        <p:blipFill>
          <a:blip r:embed="rId3">
            <a:extLst/>
          </a:blip>
          <a:srcRect l="10935" t="40173" r="1423" b="47784"/>
          <a:stretch>
            <a:fillRect/>
          </a:stretch>
        </p:blipFill>
        <p:spPr>
          <a:xfrm>
            <a:off x="1019712" y="4993084"/>
            <a:ext cx="9321328" cy="832878"/>
          </a:xfrm>
          <a:prstGeom prst="rect">
            <a:avLst/>
          </a:prstGeom>
          <a:ln w="12700">
            <a:miter lim="400000"/>
          </a:ln>
        </p:spPr>
      </p:pic>
      <p:pic>
        <p:nvPicPr>
          <p:cNvPr id="459" name="Screenshot 2026-09-14 at 4.24.03 PM.png" descr="Screenshot 2026-09-14 at 4.24.03 PM.png"/>
          <p:cNvPicPr>
            <a:picLocks noChangeAspect="1"/>
          </p:cNvPicPr>
          <p:nvPr/>
        </p:nvPicPr>
        <p:blipFill>
          <a:blip r:embed="rId4">
            <a:extLst/>
          </a:blip>
          <a:srcRect l="10322" t="62739" r="9452" b="25733"/>
          <a:stretch>
            <a:fillRect/>
          </a:stretch>
        </p:blipFill>
        <p:spPr>
          <a:xfrm>
            <a:off x="1062253" y="5997400"/>
            <a:ext cx="7808223" cy="729667"/>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Text 0"/>
          <p:cNvSpPr txBox="1"/>
          <p:nvPr/>
        </p:nvSpPr>
        <p:spPr>
          <a:xfrm>
            <a:off x="548639" y="390066"/>
            <a:ext cx="5394961"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B0563F"/>
                </a:solidFill>
              </a:defRPr>
            </a:lvl1pPr>
          </a:lstStyle>
          <a:p>
            <a:pPr/>
            <a:r>
              <a:t>ROADMAP</a:t>
            </a:r>
          </a:p>
        </p:txBody>
      </p:sp>
      <p:sp>
        <p:nvSpPr>
          <p:cNvPr id="464" name="Text 1"/>
          <p:cNvSpPr txBox="1"/>
          <p:nvPr/>
        </p:nvSpPr>
        <p:spPr>
          <a:xfrm>
            <a:off x="548639" y="706863"/>
            <a:ext cx="11094417" cy="4882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ts val="3100"/>
              </a:lnSpc>
              <a:defRPr sz="2900">
                <a:solidFill>
                  <a:srgbClr val="12235C"/>
                </a:solidFill>
                <a:latin typeface="Cambria"/>
                <a:ea typeface="Cambria"/>
                <a:cs typeface="Cambria"/>
                <a:sym typeface="Cambria"/>
              </a:defRPr>
            </a:lvl1pPr>
          </a:lstStyle>
          <a:p>
            <a:pPr/>
            <a:r>
              <a:t>CURRENT LIMITATIONS → NEXT STEP</a:t>
            </a:r>
          </a:p>
        </p:txBody>
      </p:sp>
      <p:sp>
        <p:nvSpPr>
          <p:cNvPr id="465" name="Shape 2"/>
          <p:cNvSpPr/>
          <p:nvPr/>
        </p:nvSpPr>
        <p:spPr>
          <a:xfrm>
            <a:off x="502919" y="1965960"/>
            <a:ext cx="5410050" cy="3931921"/>
          </a:xfrm>
          <a:prstGeom prst="roundRect">
            <a:avLst>
              <a:gd name="adj" fmla="val 1860"/>
            </a:avLst>
          </a:prstGeom>
          <a:solidFill>
            <a:srgbClr val="F7E9E4"/>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466" name="Text 3"/>
          <p:cNvSpPr txBox="1"/>
          <p:nvPr/>
        </p:nvSpPr>
        <p:spPr>
          <a:xfrm>
            <a:off x="777239" y="2161847"/>
            <a:ext cx="4861410"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B0563F"/>
                </a:solidFill>
              </a:defRPr>
            </a:lvl1pPr>
          </a:lstStyle>
          <a:p>
            <a:pPr/>
            <a:r>
              <a:t>CURRENT</a:t>
            </a:r>
          </a:p>
        </p:txBody>
      </p:sp>
      <p:sp>
        <p:nvSpPr>
          <p:cNvPr id="467" name="Shape 4"/>
          <p:cNvSpPr/>
          <p:nvPr/>
        </p:nvSpPr>
        <p:spPr>
          <a:xfrm>
            <a:off x="777240" y="2633472"/>
            <a:ext cx="146305" cy="146305"/>
          </a:xfrm>
          <a:prstGeom prst="ellipse">
            <a:avLst/>
          </a:prstGeom>
          <a:solidFill>
            <a:srgbClr val="B0563F"/>
          </a:solidFill>
          <a:ln w="12700">
            <a:miter lim="400000"/>
          </a:ln>
        </p:spPr>
        <p:txBody>
          <a:bodyPr lIns="45719" rIns="45719"/>
          <a:lstStyle/>
          <a:p>
            <a:pPr/>
          </a:p>
        </p:txBody>
      </p:sp>
      <p:sp>
        <p:nvSpPr>
          <p:cNvPr id="468" name="Text 5"/>
          <p:cNvSpPr txBox="1"/>
          <p:nvPr/>
        </p:nvSpPr>
        <p:spPr>
          <a:xfrm>
            <a:off x="1033271" y="2560320"/>
            <a:ext cx="4605378"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Logical resources are modeled scheduler resources</a:t>
            </a:r>
          </a:p>
        </p:txBody>
      </p:sp>
      <p:sp>
        <p:nvSpPr>
          <p:cNvPr id="469" name="Shape 6"/>
          <p:cNvSpPr/>
          <p:nvPr/>
        </p:nvSpPr>
        <p:spPr>
          <a:xfrm>
            <a:off x="777240" y="3255264"/>
            <a:ext cx="146305" cy="146305"/>
          </a:xfrm>
          <a:prstGeom prst="ellipse">
            <a:avLst/>
          </a:prstGeom>
          <a:solidFill>
            <a:srgbClr val="B0563F"/>
          </a:solidFill>
          <a:ln w="12700">
            <a:miter lim="400000"/>
          </a:ln>
        </p:spPr>
        <p:txBody>
          <a:bodyPr lIns="45719" rIns="45719"/>
          <a:lstStyle/>
          <a:p>
            <a:pPr/>
          </a:p>
        </p:txBody>
      </p:sp>
      <p:sp>
        <p:nvSpPr>
          <p:cNvPr id="470" name="Text 7"/>
          <p:cNvSpPr txBox="1"/>
          <p:nvPr/>
        </p:nvSpPr>
        <p:spPr>
          <a:xfrm>
            <a:off x="1033271" y="3182111"/>
            <a:ext cx="460537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Current corpus is a controlled 10-document dataset</a:t>
            </a:r>
          </a:p>
        </p:txBody>
      </p:sp>
      <p:sp>
        <p:nvSpPr>
          <p:cNvPr id="471" name="Shape 8"/>
          <p:cNvSpPr/>
          <p:nvPr/>
        </p:nvSpPr>
        <p:spPr>
          <a:xfrm>
            <a:off x="777240" y="3877055"/>
            <a:ext cx="146305" cy="146305"/>
          </a:xfrm>
          <a:prstGeom prst="ellipse">
            <a:avLst/>
          </a:prstGeom>
          <a:solidFill>
            <a:srgbClr val="B0563F"/>
          </a:solidFill>
          <a:ln w="12700">
            <a:miter lim="400000"/>
          </a:ln>
        </p:spPr>
        <p:txBody>
          <a:bodyPr lIns="45719" rIns="45719"/>
          <a:lstStyle/>
          <a:p>
            <a:pPr/>
          </a:p>
        </p:txBody>
      </p:sp>
      <p:sp>
        <p:nvSpPr>
          <p:cNvPr id="472" name="Text 9"/>
          <p:cNvSpPr txBox="1"/>
          <p:nvPr/>
        </p:nvSpPr>
        <p:spPr>
          <a:xfrm>
            <a:off x="1033271" y="3803903"/>
            <a:ext cx="4605378"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Similarity metric is structural, not semantic</a:t>
            </a:r>
          </a:p>
        </p:txBody>
      </p:sp>
      <p:sp>
        <p:nvSpPr>
          <p:cNvPr id="473" name="Shape 10"/>
          <p:cNvSpPr/>
          <p:nvPr/>
        </p:nvSpPr>
        <p:spPr>
          <a:xfrm>
            <a:off x="777240" y="4498847"/>
            <a:ext cx="146305" cy="146305"/>
          </a:xfrm>
          <a:prstGeom prst="ellipse">
            <a:avLst/>
          </a:prstGeom>
          <a:solidFill>
            <a:srgbClr val="B0563F"/>
          </a:solidFill>
          <a:ln w="12700">
            <a:miter lim="400000"/>
          </a:ln>
        </p:spPr>
        <p:txBody>
          <a:bodyPr lIns="45719" rIns="45719"/>
          <a:lstStyle/>
          <a:p>
            <a:pPr/>
          </a:p>
        </p:txBody>
      </p:sp>
      <p:sp>
        <p:nvSpPr>
          <p:cNvPr id="474" name="Text 11"/>
          <p:cNvSpPr txBox="1"/>
          <p:nvPr/>
        </p:nvSpPr>
        <p:spPr>
          <a:xfrm>
            <a:off x="1033271" y="4425696"/>
            <a:ext cx="4605378"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Runtime results are workload / machine specific</a:t>
            </a:r>
          </a:p>
        </p:txBody>
      </p:sp>
      <p:sp>
        <p:nvSpPr>
          <p:cNvPr id="475" name="Shape 12"/>
          <p:cNvSpPr/>
          <p:nvPr/>
        </p:nvSpPr>
        <p:spPr>
          <a:xfrm>
            <a:off x="777240" y="5120640"/>
            <a:ext cx="146305" cy="146305"/>
          </a:xfrm>
          <a:prstGeom prst="ellipse">
            <a:avLst/>
          </a:prstGeom>
          <a:solidFill>
            <a:srgbClr val="B0563F"/>
          </a:solidFill>
          <a:ln w="12700">
            <a:miter lim="400000"/>
          </a:ln>
        </p:spPr>
        <p:txBody>
          <a:bodyPr lIns="45719" rIns="45719"/>
          <a:lstStyle/>
          <a:p>
            <a:pPr/>
          </a:p>
        </p:txBody>
      </p:sp>
      <p:sp>
        <p:nvSpPr>
          <p:cNvPr id="476" name="Text 13"/>
          <p:cNvSpPr txBox="1"/>
          <p:nvPr/>
        </p:nvSpPr>
        <p:spPr>
          <a:xfrm>
            <a:off x="1033271" y="5047488"/>
            <a:ext cx="4605378"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Console interface rather than a web dashboard</a:t>
            </a:r>
          </a:p>
        </p:txBody>
      </p:sp>
      <p:sp>
        <p:nvSpPr>
          <p:cNvPr id="477" name="Shape 14"/>
          <p:cNvSpPr/>
          <p:nvPr/>
        </p:nvSpPr>
        <p:spPr>
          <a:xfrm>
            <a:off x="6278727" y="1965960"/>
            <a:ext cx="5410050" cy="3931921"/>
          </a:xfrm>
          <a:prstGeom prst="roundRect">
            <a:avLst>
              <a:gd name="adj" fmla="val 1860"/>
            </a:avLst>
          </a:prstGeom>
          <a:solidFill>
            <a:srgbClr val="E4F2F2"/>
          </a:solidFill>
          <a:ln w="12700">
            <a:solidFill>
              <a:srgbClr val="DCE2F0"/>
            </a:solidFill>
          </a:ln>
          <a:effectLst>
            <a:outerShdw sx="100000" sy="100000" kx="0" ky="0" algn="b" rotWithShape="0" blurRad="88900" dist="25400" dir="5400000">
              <a:srgbClr val="8291B5">
                <a:alpha val="22000"/>
              </a:srgbClr>
            </a:outerShdw>
          </a:effectLst>
        </p:spPr>
        <p:txBody>
          <a:bodyPr lIns="45719" rIns="45719"/>
          <a:lstStyle/>
          <a:p>
            <a:pPr/>
          </a:p>
        </p:txBody>
      </p:sp>
      <p:sp>
        <p:nvSpPr>
          <p:cNvPr id="478" name="Text 15"/>
          <p:cNvSpPr txBox="1"/>
          <p:nvPr/>
        </p:nvSpPr>
        <p:spPr>
          <a:xfrm>
            <a:off x="6553048" y="2161847"/>
            <a:ext cx="4861409"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00" sz="1200">
                <a:solidFill>
                  <a:srgbClr val="0E7C86"/>
                </a:solidFill>
              </a:defRPr>
            </a:lvl1pPr>
          </a:lstStyle>
          <a:p>
            <a:pPr/>
            <a:r>
              <a:t>NEXT STEP</a:t>
            </a:r>
          </a:p>
        </p:txBody>
      </p:sp>
      <p:sp>
        <p:nvSpPr>
          <p:cNvPr id="479" name="Shape 16"/>
          <p:cNvSpPr/>
          <p:nvPr/>
        </p:nvSpPr>
        <p:spPr>
          <a:xfrm>
            <a:off x="6553048" y="2587751"/>
            <a:ext cx="146305" cy="146305"/>
          </a:xfrm>
          <a:prstGeom prst="ellipse">
            <a:avLst/>
          </a:prstGeom>
          <a:solidFill>
            <a:srgbClr val="0E7C86"/>
          </a:solidFill>
          <a:ln w="12700">
            <a:miter lim="400000"/>
          </a:ln>
        </p:spPr>
        <p:txBody>
          <a:bodyPr lIns="45719" rIns="45719"/>
          <a:lstStyle/>
          <a:p>
            <a:pPr/>
          </a:p>
        </p:txBody>
      </p:sp>
      <p:sp>
        <p:nvSpPr>
          <p:cNvPr id="480" name="Text 17"/>
          <p:cNvSpPr txBox="1"/>
          <p:nvPr/>
        </p:nvSpPr>
        <p:spPr>
          <a:xfrm>
            <a:off x="6809079" y="25146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Larger, real-world corpus</a:t>
            </a:r>
          </a:p>
        </p:txBody>
      </p:sp>
      <p:sp>
        <p:nvSpPr>
          <p:cNvPr id="481" name="Shape 18"/>
          <p:cNvSpPr/>
          <p:nvPr/>
        </p:nvSpPr>
        <p:spPr>
          <a:xfrm>
            <a:off x="6553048" y="3044951"/>
            <a:ext cx="146305" cy="146305"/>
          </a:xfrm>
          <a:prstGeom prst="ellipse">
            <a:avLst/>
          </a:prstGeom>
          <a:solidFill>
            <a:srgbClr val="0E7C86"/>
          </a:solidFill>
          <a:ln w="12700">
            <a:miter lim="400000"/>
          </a:ln>
        </p:spPr>
        <p:txBody>
          <a:bodyPr lIns="45719" rIns="45719"/>
          <a:lstStyle/>
          <a:p>
            <a:pPr/>
          </a:p>
        </p:txBody>
      </p:sp>
      <p:sp>
        <p:nvSpPr>
          <p:cNvPr id="482" name="Text 19"/>
          <p:cNvSpPr txBox="1"/>
          <p:nvPr/>
        </p:nvSpPr>
        <p:spPr>
          <a:xfrm>
            <a:off x="6809079" y="29718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More workload types</a:t>
            </a:r>
          </a:p>
        </p:txBody>
      </p:sp>
      <p:sp>
        <p:nvSpPr>
          <p:cNvPr id="483" name="Shape 20"/>
          <p:cNvSpPr/>
          <p:nvPr/>
        </p:nvSpPr>
        <p:spPr>
          <a:xfrm>
            <a:off x="6553048" y="3502152"/>
            <a:ext cx="146305" cy="146305"/>
          </a:xfrm>
          <a:prstGeom prst="ellipse">
            <a:avLst/>
          </a:prstGeom>
          <a:solidFill>
            <a:srgbClr val="0E7C86"/>
          </a:solidFill>
          <a:ln w="12700">
            <a:miter lim="400000"/>
          </a:ln>
        </p:spPr>
        <p:txBody>
          <a:bodyPr lIns="45719" rIns="45719"/>
          <a:lstStyle/>
          <a:p>
            <a:pPr/>
          </a:p>
        </p:txBody>
      </p:sp>
      <p:sp>
        <p:nvSpPr>
          <p:cNvPr id="484" name="Text 21"/>
          <p:cNvSpPr txBox="1"/>
          <p:nvPr/>
        </p:nvSpPr>
        <p:spPr>
          <a:xfrm>
            <a:off x="6809079" y="34290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Stronger runtime prediction</a:t>
            </a:r>
          </a:p>
        </p:txBody>
      </p:sp>
      <p:sp>
        <p:nvSpPr>
          <p:cNvPr id="485" name="Shape 22"/>
          <p:cNvSpPr/>
          <p:nvPr/>
        </p:nvSpPr>
        <p:spPr>
          <a:xfrm>
            <a:off x="6553048" y="3959352"/>
            <a:ext cx="146305" cy="146305"/>
          </a:xfrm>
          <a:prstGeom prst="ellipse">
            <a:avLst/>
          </a:prstGeom>
          <a:solidFill>
            <a:srgbClr val="0E7C86"/>
          </a:solidFill>
          <a:ln w="12700">
            <a:miter lim="400000"/>
          </a:ln>
        </p:spPr>
        <p:txBody>
          <a:bodyPr lIns="45719" rIns="45719"/>
          <a:lstStyle/>
          <a:p>
            <a:pPr/>
          </a:p>
        </p:txBody>
      </p:sp>
      <p:sp>
        <p:nvSpPr>
          <p:cNvPr id="486" name="Text 23"/>
          <p:cNvSpPr txBox="1"/>
          <p:nvPr/>
        </p:nvSpPr>
        <p:spPr>
          <a:xfrm>
            <a:off x="6809079" y="38862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Adaptive resource discovery</a:t>
            </a:r>
          </a:p>
        </p:txBody>
      </p:sp>
      <p:sp>
        <p:nvSpPr>
          <p:cNvPr id="487" name="Shape 24"/>
          <p:cNvSpPr/>
          <p:nvPr/>
        </p:nvSpPr>
        <p:spPr>
          <a:xfrm>
            <a:off x="6553048" y="4416552"/>
            <a:ext cx="146305" cy="146305"/>
          </a:xfrm>
          <a:prstGeom prst="ellipse">
            <a:avLst/>
          </a:prstGeom>
          <a:solidFill>
            <a:srgbClr val="0E7C86"/>
          </a:solidFill>
          <a:ln w="12700">
            <a:miter lim="400000"/>
          </a:ln>
        </p:spPr>
        <p:txBody>
          <a:bodyPr lIns="45719" rIns="45719"/>
          <a:lstStyle/>
          <a:p>
            <a:pPr/>
          </a:p>
        </p:txBody>
      </p:sp>
      <p:sp>
        <p:nvSpPr>
          <p:cNvPr id="488" name="Text 25"/>
          <p:cNvSpPr txBox="1"/>
          <p:nvPr/>
        </p:nvSpPr>
        <p:spPr>
          <a:xfrm>
            <a:off x="6809079" y="43434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Visualization dashboard</a:t>
            </a:r>
          </a:p>
        </p:txBody>
      </p:sp>
      <p:sp>
        <p:nvSpPr>
          <p:cNvPr id="489" name="Shape 26"/>
          <p:cNvSpPr/>
          <p:nvPr/>
        </p:nvSpPr>
        <p:spPr>
          <a:xfrm>
            <a:off x="6553048" y="4873752"/>
            <a:ext cx="146305" cy="146305"/>
          </a:xfrm>
          <a:prstGeom prst="ellipse">
            <a:avLst/>
          </a:prstGeom>
          <a:solidFill>
            <a:srgbClr val="0E7C86"/>
          </a:solidFill>
          <a:ln w="12700">
            <a:miter lim="400000"/>
          </a:ln>
        </p:spPr>
        <p:txBody>
          <a:bodyPr lIns="45719" rIns="45719"/>
          <a:lstStyle/>
          <a:p>
            <a:pPr/>
          </a:p>
        </p:txBody>
      </p:sp>
      <p:sp>
        <p:nvSpPr>
          <p:cNvPr id="490" name="Text 27"/>
          <p:cNvSpPr txBox="1"/>
          <p:nvPr/>
        </p:nvSpPr>
        <p:spPr>
          <a:xfrm>
            <a:off x="6809079" y="48006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Larger benchmark study</a:t>
            </a:r>
          </a:p>
        </p:txBody>
      </p:sp>
      <p:sp>
        <p:nvSpPr>
          <p:cNvPr id="491" name="Shape 28"/>
          <p:cNvSpPr/>
          <p:nvPr/>
        </p:nvSpPr>
        <p:spPr>
          <a:xfrm>
            <a:off x="6553048" y="5330952"/>
            <a:ext cx="146305" cy="146305"/>
          </a:xfrm>
          <a:prstGeom prst="ellipse">
            <a:avLst/>
          </a:prstGeom>
          <a:solidFill>
            <a:srgbClr val="0E7C86"/>
          </a:solidFill>
          <a:ln w="12700">
            <a:miter lim="400000"/>
          </a:ln>
        </p:spPr>
        <p:txBody>
          <a:bodyPr lIns="45719" rIns="45719"/>
          <a:lstStyle/>
          <a:p>
            <a:pPr/>
          </a:p>
        </p:txBody>
      </p:sp>
      <p:sp>
        <p:nvSpPr>
          <p:cNvPr id="492" name="Text 29"/>
          <p:cNvSpPr txBox="1"/>
          <p:nvPr/>
        </p:nvSpPr>
        <p:spPr>
          <a:xfrm>
            <a:off x="6809079" y="5257800"/>
            <a:ext cx="460537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3A4566"/>
                </a:solidFill>
              </a:defRPr>
            </a:lvl1pPr>
          </a:lstStyle>
          <a:p>
            <a:pPr/>
            <a:r>
              <a:t>Real distributed execution</a:t>
            </a:r>
          </a:p>
        </p:txBody>
      </p:sp>
      <p:sp>
        <p:nvSpPr>
          <p:cNvPr id="493" name="Text 30"/>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13 / 14</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1638"/>
        </a:solidFill>
      </p:bgPr>
    </p:bg>
    <p:spTree>
      <p:nvGrpSpPr>
        <p:cNvPr id="1" name=""/>
        <p:cNvGrpSpPr/>
        <p:nvPr/>
      </p:nvGrpSpPr>
      <p:grpSpPr>
        <a:xfrm>
          <a:off x="0" y="0"/>
          <a:ext cx="0" cy="0"/>
          <a:chOff x="0" y="0"/>
          <a:chExt cx="0" cy="0"/>
        </a:xfrm>
      </p:grpSpPr>
      <p:sp>
        <p:nvSpPr>
          <p:cNvPr id="497" name="Text 0"/>
          <p:cNvSpPr txBox="1"/>
          <p:nvPr/>
        </p:nvSpPr>
        <p:spPr>
          <a:xfrm>
            <a:off x="45719" y="527226"/>
            <a:ext cx="12100257"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6FA8D8"/>
                </a:solidFill>
              </a:defRPr>
            </a:lvl1pPr>
          </a:lstStyle>
          <a:p>
            <a:pPr/>
            <a:r>
              <a:t>WRAP-UP</a:t>
            </a:r>
          </a:p>
        </p:txBody>
      </p:sp>
      <p:sp>
        <p:nvSpPr>
          <p:cNvPr id="498" name="Text 1"/>
          <p:cNvSpPr txBox="1"/>
          <p:nvPr/>
        </p:nvSpPr>
        <p:spPr>
          <a:xfrm>
            <a:off x="45719" y="674409"/>
            <a:ext cx="12100257" cy="55313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ts val="3600"/>
              </a:lnSpc>
              <a:defRPr sz="3400">
                <a:solidFill>
                  <a:srgbClr val="FFFFFF"/>
                </a:solidFill>
                <a:latin typeface="Cambria"/>
                <a:ea typeface="Cambria"/>
                <a:cs typeface="Cambria"/>
                <a:sym typeface="Cambria"/>
              </a:defRPr>
            </a:lvl1pPr>
          </a:lstStyle>
          <a:p>
            <a:pPr/>
            <a:r>
              <a:t>CONCLUSION</a:t>
            </a:r>
          </a:p>
        </p:txBody>
      </p:sp>
      <p:sp>
        <p:nvSpPr>
          <p:cNvPr id="499" name="Shape 2"/>
          <p:cNvSpPr/>
          <p:nvPr/>
        </p:nvSpPr>
        <p:spPr>
          <a:xfrm>
            <a:off x="502919" y="1691639"/>
            <a:ext cx="3515259" cy="1783081"/>
          </a:xfrm>
          <a:prstGeom prst="roundRect">
            <a:avLst>
              <a:gd name="adj" fmla="val 5128"/>
            </a:avLst>
          </a:prstGeom>
          <a:solidFill>
            <a:srgbClr val="132A5E"/>
          </a:solidFill>
          <a:ln w="12700">
            <a:solidFill>
              <a:srgbClr val="24427C"/>
            </a:solidFill>
          </a:ln>
        </p:spPr>
        <p:txBody>
          <a:bodyPr lIns="45719" rIns="45719"/>
          <a:lstStyle/>
          <a:p>
            <a:pPr/>
          </a:p>
        </p:txBody>
      </p:sp>
      <p:sp>
        <p:nvSpPr>
          <p:cNvPr id="500" name="Shape 3"/>
          <p:cNvSpPr/>
          <p:nvPr/>
        </p:nvSpPr>
        <p:spPr>
          <a:xfrm>
            <a:off x="731519" y="1892807"/>
            <a:ext cx="384049" cy="384049"/>
          </a:xfrm>
          <a:prstGeom prst="ellipse">
            <a:avLst/>
          </a:prstGeom>
          <a:solidFill>
            <a:srgbClr val="0E7C86"/>
          </a:solidFill>
          <a:ln w="12700">
            <a:miter lim="400000"/>
          </a:ln>
        </p:spPr>
        <p:txBody>
          <a:bodyPr lIns="45719" rIns="45719"/>
          <a:lstStyle/>
          <a:p>
            <a:pPr/>
          </a:p>
        </p:txBody>
      </p:sp>
      <p:sp>
        <p:nvSpPr>
          <p:cNvPr id="501" name="Text 4"/>
          <p:cNvSpPr txBox="1"/>
          <p:nvPr/>
        </p:nvSpPr>
        <p:spPr>
          <a:xfrm>
            <a:off x="731519" y="1976881"/>
            <a:ext cx="38404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FFFFF"/>
                </a:solidFill>
                <a:latin typeface="Cambria"/>
                <a:ea typeface="Cambria"/>
                <a:cs typeface="Cambria"/>
                <a:sym typeface="Cambria"/>
              </a:defRPr>
            </a:lvl1pPr>
          </a:lstStyle>
          <a:p>
            <a:pPr/>
            <a:r>
              <a:t>1</a:t>
            </a:r>
          </a:p>
        </p:txBody>
      </p:sp>
      <p:sp>
        <p:nvSpPr>
          <p:cNvPr id="502" name="Text 5"/>
          <p:cNvSpPr txBox="1"/>
          <p:nvPr/>
        </p:nvSpPr>
        <p:spPr>
          <a:xfrm>
            <a:off x="777239" y="2441448"/>
            <a:ext cx="2966620"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7E1F5"/>
                </a:solidFill>
              </a:defRPr>
            </a:lvl1pPr>
          </a:lstStyle>
          <a:p>
            <a:pPr/>
            <a:r>
              <a:t>Converted the Review-2 scheduling concept into a working text-processing prototype.</a:t>
            </a:r>
          </a:p>
        </p:txBody>
      </p:sp>
      <p:sp>
        <p:nvSpPr>
          <p:cNvPr id="503" name="Shape 6"/>
          <p:cNvSpPr/>
          <p:nvPr/>
        </p:nvSpPr>
        <p:spPr>
          <a:xfrm>
            <a:off x="4338218" y="1691639"/>
            <a:ext cx="3515259" cy="1783081"/>
          </a:xfrm>
          <a:prstGeom prst="roundRect">
            <a:avLst>
              <a:gd name="adj" fmla="val 5128"/>
            </a:avLst>
          </a:prstGeom>
          <a:solidFill>
            <a:srgbClr val="132A5E"/>
          </a:solidFill>
          <a:ln w="12700">
            <a:solidFill>
              <a:srgbClr val="24427C"/>
            </a:solidFill>
          </a:ln>
        </p:spPr>
        <p:txBody>
          <a:bodyPr lIns="45719" rIns="45719"/>
          <a:lstStyle/>
          <a:p>
            <a:pPr/>
          </a:p>
        </p:txBody>
      </p:sp>
      <p:sp>
        <p:nvSpPr>
          <p:cNvPr id="504" name="Shape 7"/>
          <p:cNvSpPr/>
          <p:nvPr/>
        </p:nvSpPr>
        <p:spPr>
          <a:xfrm>
            <a:off x="4566818" y="1892807"/>
            <a:ext cx="384049" cy="384049"/>
          </a:xfrm>
          <a:prstGeom prst="ellipse">
            <a:avLst/>
          </a:prstGeom>
          <a:solidFill>
            <a:srgbClr val="0E7C86"/>
          </a:solidFill>
          <a:ln w="12700">
            <a:miter lim="400000"/>
          </a:ln>
        </p:spPr>
        <p:txBody>
          <a:bodyPr lIns="45719" rIns="45719"/>
          <a:lstStyle/>
          <a:p>
            <a:pPr/>
          </a:p>
        </p:txBody>
      </p:sp>
      <p:sp>
        <p:nvSpPr>
          <p:cNvPr id="505" name="Text 8"/>
          <p:cNvSpPr txBox="1"/>
          <p:nvPr/>
        </p:nvSpPr>
        <p:spPr>
          <a:xfrm>
            <a:off x="4566818" y="1976881"/>
            <a:ext cx="38404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FFFFF"/>
                </a:solidFill>
                <a:latin typeface="Cambria"/>
                <a:ea typeface="Cambria"/>
                <a:cs typeface="Cambria"/>
                <a:sym typeface="Cambria"/>
              </a:defRPr>
            </a:lvl1pPr>
          </a:lstStyle>
          <a:p>
            <a:pPr/>
            <a:r>
              <a:t>2</a:t>
            </a:r>
          </a:p>
        </p:txBody>
      </p:sp>
      <p:sp>
        <p:nvSpPr>
          <p:cNvPr id="506" name="Text 9"/>
          <p:cNvSpPr txBox="1"/>
          <p:nvPr/>
        </p:nvSpPr>
        <p:spPr>
          <a:xfrm>
            <a:off x="4612538" y="2441448"/>
            <a:ext cx="2966619" cy="6293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7E1F5"/>
                </a:solidFill>
              </a:defRPr>
            </a:lvl1pPr>
          </a:lstStyle>
          <a:p>
            <a:pPr/>
            <a:r>
              <a:t>Integrated DSA-3 algorithms with dependency-aware, resource-aware and runtime-aware scheduling.</a:t>
            </a:r>
          </a:p>
        </p:txBody>
      </p:sp>
      <p:sp>
        <p:nvSpPr>
          <p:cNvPr id="507" name="Shape 10"/>
          <p:cNvSpPr/>
          <p:nvPr/>
        </p:nvSpPr>
        <p:spPr>
          <a:xfrm>
            <a:off x="8173517" y="1691639"/>
            <a:ext cx="3515259" cy="1783081"/>
          </a:xfrm>
          <a:prstGeom prst="roundRect">
            <a:avLst>
              <a:gd name="adj" fmla="val 5128"/>
            </a:avLst>
          </a:prstGeom>
          <a:solidFill>
            <a:srgbClr val="132A5E"/>
          </a:solidFill>
          <a:ln w="12700">
            <a:solidFill>
              <a:srgbClr val="24427C"/>
            </a:solidFill>
          </a:ln>
        </p:spPr>
        <p:txBody>
          <a:bodyPr lIns="45719" rIns="45719"/>
          <a:lstStyle/>
          <a:p>
            <a:pPr/>
          </a:p>
        </p:txBody>
      </p:sp>
      <p:sp>
        <p:nvSpPr>
          <p:cNvPr id="508" name="Shape 11"/>
          <p:cNvSpPr/>
          <p:nvPr/>
        </p:nvSpPr>
        <p:spPr>
          <a:xfrm>
            <a:off x="8402117" y="1892807"/>
            <a:ext cx="384049" cy="384049"/>
          </a:xfrm>
          <a:prstGeom prst="ellipse">
            <a:avLst/>
          </a:prstGeom>
          <a:solidFill>
            <a:srgbClr val="0E7C86"/>
          </a:solidFill>
          <a:ln w="12700">
            <a:miter lim="400000"/>
          </a:ln>
        </p:spPr>
        <p:txBody>
          <a:bodyPr lIns="45719" rIns="45719"/>
          <a:lstStyle/>
          <a:p>
            <a:pPr/>
          </a:p>
        </p:txBody>
      </p:sp>
      <p:sp>
        <p:nvSpPr>
          <p:cNvPr id="509" name="Text 12"/>
          <p:cNvSpPr txBox="1"/>
          <p:nvPr/>
        </p:nvSpPr>
        <p:spPr>
          <a:xfrm>
            <a:off x="8402117" y="1976881"/>
            <a:ext cx="384049"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FFFFF"/>
                </a:solidFill>
                <a:latin typeface="Cambria"/>
                <a:ea typeface="Cambria"/>
                <a:cs typeface="Cambria"/>
                <a:sym typeface="Cambria"/>
              </a:defRPr>
            </a:lvl1pPr>
          </a:lstStyle>
          <a:p>
            <a:pPr/>
            <a:r>
              <a:t>3</a:t>
            </a:r>
          </a:p>
        </p:txBody>
      </p:sp>
      <p:sp>
        <p:nvSpPr>
          <p:cNvPr id="510" name="Text 13"/>
          <p:cNvSpPr txBox="1"/>
          <p:nvPr/>
        </p:nvSpPr>
        <p:spPr>
          <a:xfrm>
            <a:off x="8447837" y="2441448"/>
            <a:ext cx="2966619" cy="6293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D7E1F5"/>
                </a:solidFill>
              </a:defRPr>
            </a:lvl1pPr>
          </a:lstStyle>
          <a:p>
            <a:pPr/>
            <a:r>
              <a:t>Demonstrated successful multi-stage execution with measurable completion, scheduling and analytical results.</a:t>
            </a:r>
          </a:p>
        </p:txBody>
      </p:sp>
      <p:sp>
        <p:nvSpPr>
          <p:cNvPr id="511" name="Text 14"/>
          <p:cNvSpPr txBox="1"/>
          <p:nvPr/>
        </p:nvSpPr>
        <p:spPr>
          <a:xfrm>
            <a:off x="1142999" y="4020819"/>
            <a:ext cx="9905697" cy="599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700">
                <a:solidFill>
                  <a:srgbClr val="8FE3C7"/>
                </a:solidFill>
                <a:latin typeface="Cambria"/>
                <a:ea typeface="Cambria"/>
                <a:cs typeface="Cambria"/>
                <a:sym typeface="Cambria"/>
              </a:defRPr>
            </a:lvl1pPr>
          </a:lstStyle>
          <a:p>
            <a:pPr/>
            <a:r>
              <a:t>“Intelligent scheduling is not about running more tasks — it is about running the right task, at the right time, with the right resources.”</a:t>
            </a:r>
          </a:p>
        </p:txBody>
      </p:sp>
      <p:sp>
        <p:nvSpPr>
          <p:cNvPr id="512" name="Text 15"/>
          <p:cNvSpPr txBox="1"/>
          <p:nvPr/>
        </p:nvSpPr>
        <p:spPr>
          <a:xfrm>
            <a:off x="45719" y="4942840"/>
            <a:ext cx="12100257"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300" sz="2400">
                <a:solidFill>
                  <a:srgbClr val="FFFFFF"/>
                </a:solidFill>
                <a:latin typeface="Cambria"/>
                <a:ea typeface="Cambria"/>
                <a:cs typeface="Cambria"/>
                <a:sym typeface="Cambria"/>
              </a:defRPr>
            </a:lvl1pPr>
          </a:lstStyle>
          <a:p>
            <a:pPr/>
            <a:r>
              <a:t>THANK YOU</a:t>
            </a:r>
          </a:p>
        </p:txBody>
      </p:sp>
      <p:sp>
        <p:nvSpPr>
          <p:cNvPr id="513" name="Text 16"/>
          <p:cNvSpPr txBox="1"/>
          <p:nvPr/>
        </p:nvSpPr>
        <p:spPr>
          <a:xfrm>
            <a:off x="11048694" y="6508155"/>
            <a:ext cx="8229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6C7690"/>
                </a:solidFill>
              </a:defRPr>
            </a:lvl1pPr>
          </a:lstStyle>
          <a:p>
            <a:pPr/>
            <a:r>
              <a:t>14 / 14</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