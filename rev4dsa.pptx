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B1220"/>
        </a:fontRef>
        <a:srgbClr val="0B122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FF8"/>
          </a:solidFill>
        </a:fill>
      </a:tcStyle>
    </a:wholeTbl>
    <a:band2H>
      <a:tcTxStyle b="def" i="def"/>
      <a:tcStyle>
        <a:tcBdr/>
        <a:fill>
          <a:solidFill>
            <a:srgbClr val="E7F7F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B1220"/>
        </a:fontRef>
        <a:srgbClr val="0B122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EFDD"/>
          </a:solidFill>
        </a:fill>
      </a:tcStyle>
    </a:wholeTbl>
    <a:band2H>
      <a:tcTxStyle b="def" i="def"/>
      <a:tcStyle>
        <a:tcBdr/>
        <a:fill>
          <a:solidFill>
            <a:srgbClr val="E7F7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B1220"/>
        </a:fontRef>
        <a:srgbClr val="0B122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DD0"/>
          </a:solidFill>
        </a:fill>
      </a:tcStyle>
    </a:wholeTbl>
    <a:band2H>
      <a:tcTxStyle b="def" i="def"/>
      <a:tcStyle>
        <a:tcBdr/>
        <a:fill>
          <a:solidFill>
            <a:srgbClr val="E7E8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B1220"/>
        </a:fontRef>
        <a:srgbClr val="0B122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7"/>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B1220"/>
        </a:fontRef>
        <a:srgbClr val="0B1220"/>
      </a:tcTxStyle>
      <a:tcStyle>
        <a:tcBdr>
          <a:left>
            <a:ln w="12700" cap="flat">
              <a:noFill/>
              <a:miter lim="400000"/>
            </a:ln>
          </a:left>
          <a:right>
            <a:ln w="12700" cap="flat">
              <a:noFill/>
              <a:miter lim="400000"/>
            </a:ln>
          </a:right>
          <a:top>
            <a:ln w="50800" cap="flat">
              <a:solidFill>
                <a:srgbClr val="0B1220"/>
              </a:solidFill>
              <a:prstDash val="solid"/>
              <a:round/>
            </a:ln>
          </a:top>
          <a:bottom>
            <a:ln w="25400" cap="flat">
              <a:solidFill>
                <a:srgbClr val="0B122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B1220"/>
              </a:solidFill>
              <a:prstDash val="solid"/>
              <a:round/>
            </a:ln>
          </a:top>
          <a:bottom>
            <a:ln w="25400" cap="flat">
              <a:solidFill>
                <a:srgbClr val="0B122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B1220"/>
        </a:fontRef>
        <a:srgbClr val="0B122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B"/>
          </a:solidFill>
        </a:fill>
      </a:tcStyle>
    </a:wholeTbl>
    <a:band2H>
      <a:tcTxStyle b="def" i="def"/>
      <a:tcStyle>
        <a:tcBdr/>
        <a:fill>
          <a:solidFill>
            <a:srgbClr val="E6E6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B122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B122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B1220"/>
          </a:solidFill>
        </a:fill>
      </a:tcStyle>
    </a:firstRow>
  </a:tblStyle>
  <a:tblStyle styleId="{2708684C-4D16-4618-839F-0558EEFCDFE6}" styleName="">
    <a:tblBg/>
    <a:wholeTbl>
      <a:tcTxStyle b="off" i="off">
        <a:fontRef idx="minor">
          <a:srgbClr val="0B1220"/>
        </a:fontRef>
        <a:srgbClr val="0B1220"/>
      </a:tcTxStyle>
      <a:tcStyle>
        <a:tcBdr>
          <a:left>
            <a:ln w="12700" cap="flat">
              <a:solidFill>
                <a:srgbClr val="0B1220"/>
              </a:solidFill>
              <a:prstDash val="solid"/>
              <a:round/>
            </a:ln>
          </a:left>
          <a:right>
            <a:ln w="12700" cap="flat">
              <a:solidFill>
                <a:srgbClr val="0B1220"/>
              </a:solidFill>
              <a:prstDash val="solid"/>
              <a:round/>
            </a:ln>
          </a:right>
          <a:top>
            <a:ln w="12700" cap="flat">
              <a:solidFill>
                <a:srgbClr val="0B1220"/>
              </a:solidFill>
              <a:prstDash val="solid"/>
              <a:round/>
            </a:ln>
          </a:top>
          <a:bottom>
            <a:ln w="12700" cap="flat">
              <a:solidFill>
                <a:srgbClr val="0B1220"/>
              </a:solidFill>
              <a:prstDash val="solid"/>
              <a:round/>
            </a:ln>
          </a:bottom>
          <a:insideH>
            <a:ln w="12700" cap="flat">
              <a:solidFill>
                <a:srgbClr val="0B1220"/>
              </a:solidFill>
              <a:prstDash val="solid"/>
              <a:round/>
            </a:ln>
          </a:insideH>
          <a:insideV>
            <a:ln w="12700" cap="flat">
              <a:solidFill>
                <a:srgbClr val="0B1220"/>
              </a:solidFill>
              <a:prstDash val="solid"/>
              <a:round/>
            </a:ln>
          </a:insideV>
        </a:tcBdr>
        <a:fill>
          <a:solidFill>
            <a:srgbClr val="0B1220">
              <a:alpha val="20000"/>
            </a:srgbClr>
          </a:solidFill>
        </a:fill>
      </a:tcStyle>
    </a:wholeTbl>
    <a:band2H>
      <a:tcTxStyle b="def" i="def"/>
      <a:tcStyle>
        <a:tcBdr/>
        <a:fill>
          <a:solidFill>
            <a:srgbClr val="FFFFFF"/>
          </a:solidFill>
        </a:fill>
      </a:tcStyle>
    </a:band2H>
    <a:firstCol>
      <a:tcTxStyle b="on" i="off">
        <a:fontRef idx="minor">
          <a:srgbClr val="0B1220"/>
        </a:fontRef>
        <a:srgbClr val="0B1220"/>
      </a:tcTxStyle>
      <a:tcStyle>
        <a:tcBdr>
          <a:left>
            <a:ln w="12700" cap="flat">
              <a:solidFill>
                <a:srgbClr val="0B1220"/>
              </a:solidFill>
              <a:prstDash val="solid"/>
              <a:round/>
            </a:ln>
          </a:left>
          <a:right>
            <a:ln w="12700" cap="flat">
              <a:solidFill>
                <a:srgbClr val="0B1220"/>
              </a:solidFill>
              <a:prstDash val="solid"/>
              <a:round/>
            </a:ln>
          </a:right>
          <a:top>
            <a:ln w="12700" cap="flat">
              <a:solidFill>
                <a:srgbClr val="0B1220"/>
              </a:solidFill>
              <a:prstDash val="solid"/>
              <a:round/>
            </a:ln>
          </a:top>
          <a:bottom>
            <a:ln w="12700" cap="flat">
              <a:solidFill>
                <a:srgbClr val="0B1220"/>
              </a:solidFill>
              <a:prstDash val="solid"/>
              <a:round/>
            </a:ln>
          </a:bottom>
          <a:insideH>
            <a:ln w="12700" cap="flat">
              <a:solidFill>
                <a:srgbClr val="0B1220"/>
              </a:solidFill>
              <a:prstDash val="solid"/>
              <a:round/>
            </a:ln>
          </a:insideH>
          <a:insideV>
            <a:ln w="12700" cap="flat">
              <a:solidFill>
                <a:srgbClr val="0B1220"/>
              </a:solidFill>
              <a:prstDash val="solid"/>
              <a:round/>
            </a:ln>
          </a:insideV>
        </a:tcBdr>
        <a:fill>
          <a:solidFill>
            <a:srgbClr val="0B1220">
              <a:alpha val="20000"/>
            </a:srgbClr>
          </a:solidFill>
        </a:fill>
      </a:tcStyle>
    </a:firstCol>
    <a:lastRow>
      <a:tcTxStyle b="on" i="off">
        <a:fontRef idx="minor">
          <a:srgbClr val="0B1220"/>
        </a:fontRef>
        <a:srgbClr val="0B1220"/>
      </a:tcTxStyle>
      <a:tcStyle>
        <a:tcBdr>
          <a:left>
            <a:ln w="12700" cap="flat">
              <a:solidFill>
                <a:srgbClr val="0B1220"/>
              </a:solidFill>
              <a:prstDash val="solid"/>
              <a:round/>
            </a:ln>
          </a:left>
          <a:right>
            <a:ln w="12700" cap="flat">
              <a:solidFill>
                <a:srgbClr val="0B1220"/>
              </a:solidFill>
              <a:prstDash val="solid"/>
              <a:round/>
            </a:ln>
          </a:right>
          <a:top>
            <a:ln w="50800" cap="flat">
              <a:solidFill>
                <a:srgbClr val="0B1220"/>
              </a:solidFill>
              <a:prstDash val="solid"/>
              <a:round/>
            </a:ln>
          </a:top>
          <a:bottom>
            <a:ln w="12700" cap="flat">
              <a:solidFill>
                <a:srgbClr val="0B1220"/>
              </a:solidFill>
              <a:prstDash val="solid"/>
              <a:round/>
            </a:ln>
          </a:bottom>
          <a:insideH>
            <a:ln w="12700" cap="flat">
              <a:solidFill>
                <a:srgbClr val="0B1220"/>
              </a:solidFill>
              <a:prstDash val="solid"/>
              <a:round/>
            </a:ln>
          </a:insideH>
          <a:insideV>
            <a:ln w="12700" cap="flat">
              <a:solidFill>
                <a:srgbClr val="0B1220"/>
              </a:solidFill>
              <a:prstDash val="solid"/>
              <a:round/>
            </a:ln>
          </a:insideV>
        </a:tcBdr>
        <a:fill>
          <a:noFill/>
        </a:fill>
      </a:tcStyle>
    </a:lastRow>
    <a:firstRow>
      <a:tcTxStyle b="on" i="off">
        <a:fontRef idx="minor">
          <a:srgbClr val="0B1220"/>
        </a:fontRef>
        <a:srgbClr val="0B1220"/>
      </a:tcTxStyle>
      <a:tcStyle>
        <a:tcBdr>
          <a:left>
            <a:ln w="12700" cap="flat">
              <a:solidFill>
                <a:srgbClr val="0B1220"/>
              </a:solidFill>
              <a:prstDash val="solid"/>
              <a:round/>
            </a:ln>
          </a:left>
          <a:right>
            <a:ln w="12700" cap="flat">
              <a:solidFill>
                <a:srgbClr val="0B1220"/>
              </a:solidFill>
              <a:prstDash val="solid"/>
              <a:round/>
            </a:ln>
          </a:right>
          <a:top>
            <a:ln w="12700" cap="flat">
              <a:solidFill>
                <a:srgbClr val="0B1220"/>
              </a:solidFill>
              <a:prstDash val="solid"/>
              <a:round/>
            </a:ln>
          </a:top>
          <a:bottom>
            <a:ln w="25400" cap="flat">
              <a:solidFill>
                <a:srgbClr val="0B1220"/>
              </a:solidFill>
              <a:prstDash val="solid"/>
              <a:round/>
            </a:ln>
          </a:bottom>
          <a:insideH>
            <a:ln w="12700" cap="flat">
              <a:solidFill>
                <a:srgbClr val="0B1220"/>
              </a:solidFill>
              <a:prstDash val="solid"/>
              <a:round/>
            </a:ln>
          </a:insideH>
          <a:insideV>
            <a:ln w="12700" cap="flat">
              <a:solidFill>
                <a:srgbClr val="0B122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4" name="Shape 34"/>
          <p:cNvSpPr/>
          <p:nvPr>
            <p:ph type="sldImg"/>
          </p:nvPr>
        </p:nvSpPr>
        <p:spPr>
          <a:xfrm>
            <a:off x="1143000" y="685800"/>
            <a:ext cx="4572000" cy="3429000"/>
          </a:xfrm>
          <a:prstGeom prst="rect">
            <a:avLst/>
          </a:prstGeom>
        </p:spPr>
        <p:txBody>
          <a:bodyPr/>
          <a:lstStyle/>
          <a:p>
            <a:pPr/>
          </a:p>
        </p:txBody>
      </p:sp>
      <p:sp>
        <p:nvSpPr>
          <p:cNvPr id="35" name="Shape 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0B1220"/>
        </a:solidFill>
        <a:latin typeface="+mn-lt"/>
        <a:ea typeface="+mn-ea"/>
        <a:cs typeface="+mn-cs"/>
        <a:sym typeface="Calibri"/>
      </a:defRPr>
    </a:lvl1pPr>
    <a:lvl2pPr indent="228600" latinLnBrk="0">
      <a:defRPr sz="1200">
        <a:solidFill>
          <a:srgbClr val="0B1220"/>
        </a:solidFill>
        <a:latin typeface="+mn-lt"/>
        <a:ea typeface="+mn-ea"/>
        <a:cs typeface="+mn-cs"/>
        <a:sym typeface="Calibri"/>
      </a:defRPr>
    </a:lvl2pPr>
    <a:lvl3pPr indent="457200" latinLnBrk="0">
      <a:defRPr sz="1200">
        <a:solidFill>
          <a:srgbClr val="0B1220"/>
        </a:solidFill>
        <a:latin typeface="+mn-lt"/>
        <a:ea typeface="+mn-ea"/>
        <a:cs typeface="+mn-cs"/>
        <a:sym typeface="Calibri"/>
      </a:defRPr>
    </a:lvl3pPr>
    <a:lvl4pPr indent="685800" latinLnBrk="0">
      <a:defRPr sz="1200">
        <a:solidFill>
          <a:srgbClr val="0B1220"/>
        </a:solidFill>
        <a:latin typeface="+mn-lt"/>
        <a:ea typeface="+mn-ea"/>
        <a:cs typeface="+mn-cs"/>
        <a:sym typeface="Calibri"/>
      </a:defRPr>
    </a:lvl4pPr>
    <a:lvl5pPr indent="914400" latinLnBrk="0">
      <a:defRPr sz="1200">
        <a:solidFill>
          <a:srgbClr val="0B1220"/>
        </a:solidFill>
        <a:latin typeface="+mn-lt"/>
        <a:ea typeface="+mn-ea"/>
        <a:cs typeface="+mn-cs"/>
        <a:sym typeface="Calibri"/>
      </a:defRPr>
    </a:lvl5pPr>
    <a:lvl6pPr indent="1143000" latinLnBrk="0">
      <a:defRPr sz="1200">
        <a:solidFill>
          <a:srgbClr val="0B1220"/>
        </a:solidFill>
        <a:latin typeface="+mn-lt"/>
        <a:ea typeface="+mn-ea"/>
        <a:cs typeface="+mn-cs"/>
        <a:sym typeface="Calibri"/>
      </a:defRPr>
    </a:lvl6pPr>
    <a:lvl7pPr indent="1371600" latinLnBrk="0">
      <a:defRPr sz="1200">
        <a:solidFill>
          <a:srgbClr val="0B1220"/>
        </a:solidFill>
        <a:latin typeface="+mn-lt"/>
        <a:ea typeface="+mn-ea"/>
        <a:cs typeface="+mn-cs"/>
        <a:sym typeface="Calibri"/>
      </a:defRPr>
    </a:lvl7pPr>
    <a:lvl8pPr indent="1600200" latinLnBrk="0">
      <a:defRPr sz="1200">
        <a:solidFill>
          <a:srgbClr val="0B1220"/>
        </a:solidFill>
        <a:latin typeface="+mn-lt"/>
        <a:ea typeface="+mn-ea"/>
        <a:cs typeface="+mn-cs"/>
        <a:sym typeface="Calibri"/>
      </a:defRPr>
    </a:lvl8pPr>
    <a:lvl9pPr indent="1828800" latinLnBrk="0">
      <a:defRPr sz="1200">
        <a:solidFill>
          <a:srgbClr val="0B1220"/>
        </a:solidFill>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Good morning. We are Team TEXT HACK: Kollu Sree Lasya, Shrenika Reddy, Pasham Meghana and Rishikha Reddy.</a:t>
            </a:r>
          </a:p>
          <a:p>
            <a:pPr/>
          </a:p>
          <a:p>
            <a:pPr/>
            <a:r>
              <a:t>Our project in one line: a DSA-driven engine that maps text-processing problems to algorithms, schedules them as dependent tasks, runs them on heterogeneous logical resources, and reports measured results.</a:t>
            </a:r>
          </a:p>
          <a:p>
            <a:pPr/>
          </a:p>
          <a:p>
            <a:pPr/>
            <a:r>
              <a:t>The strip on screen is the whole story. A text problem is solved by a DSA algorithm. We wrap that algorithm as a task. The scheduler places the task on a resource. We get a result together with a measured runtime.</a:t>
            </a:r>
          </a:p>
          <a:p>
            <a:pPr/>
          </a:p>
          <a:p>
            <a:pPr/>
            <a:r>
              <a:t>In the next nine slides we answer: what we built, why we built it, which algorithms we used and why, where each one runs, how they are integrated, how the scheduler decides, what results we measured, and what value it offers.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Text-processing systems need different algorithms for different jobs: exact pattern matching, fuzzy matching, document similarity, sequence alignment and text indexing.</a:t>
            </a:r>
          </a:p>
          <a:p>
            <a:pPr/>
          </a:p>
          <a:p>
            <a:pPr/>
            <a:r>
              <a:t>The hard part is not only writing these algorithms. Each one is also a computational workload: different CPU and memory needs, and some must wait for others. Running them in a fixed order on one resource wastes capacity.</a:t>
            </a:r>
          </a:p>
          <a:p>
            <a:pPr/>
          </a:p>
          <a:p>
            <a:pPr/>
            <a:r>
              <a:t>So our objective is: build one engine that combines DSA algorithms with dependency-aware resource scheduling.</a:t>
            </a:r>
          </a:p>
          <a:p>
            <a:pPr/>
          </a:p>
          <a:p>
            <a:pPr/>
            <a:r>
              <a:t>Read the flow along the bottom. The user's problem leads to algorithm selection, then task creation with CPU, RAM and priority, then a dependency DAG. HEFT scheduling assigns a resource, the real algorithm executes, and we get a result.</a:t>
            </a:r>
          </a:p>
          <a:p>
            <a:pPr/>
          </a:p>
          <a:p>
            <a:pPr/>
            <a:r>
              <a:t>The key idea: the text algorithms solve the user's problem; the scheduler decides how and where those workloads run.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This is our algorithm map. Format for each: what it is, why we chose it, where we use it, and its cost.</a:t>
            </a:r>
          </a:p>
          <a:p>
            <a:pPr/>
          </a:p>
          <a:p>
            <a:pPr/>
            <a:r>
              <a:t>KMP: exact search using a failure table so the text pointer never moves back. We use it for exact pattern search in stage 1. O(n+m).</a:t>
            </a:r>
          </a:p>
          <a:p>
            <a:pPr/>
          </a:p>
          <a:p>
            <a:pPr/>
            <a:r>
              <a:t>Rabin-Karp: rolling-hash search; every hash hit is verified, so results stay correct. Stage 2, keyword verification. Expected O(n+m), worst case O(nm).</a:t>
            </a:r>
          </a:p>
          <a:p>
            <a:pPr/>
          </a:p>
          <a:p>
            <a:pPr/>
            <a:r>
              <a:t>Z Algorithm: Z-array over pattern, dollar, text. Stage 3, pattern structure. O(n+m).</a:t>
            </a:r>
          </a:p>
          <a:p>
            <a:pPr/>
          </a:p>
          <a:p>
            <a:pPr/>
            <a:r>
              <a:t>Suffix Array plus LCP: gives the longest shared substring between two documents. Stage 4. In our code it is built by insertion sort, so it is quadratic in comparisons. That is fine for our short documents, and we list faster construction as future scope.</a:t>
            </a:r>
          </a:p>
          <a:p>
            <a:pPr/>
          </a:p>
          <a:p>
            <a:pPr/>
            <a:r>
              <a:t>Edit Distance and sequence alignment: dynamic programming, O(nm). Stages 5 and 6.</a:t>
            </a:r>
          </a:p>
          <a:p>
            <a:pPr/>
          </a:p>
          <a:p>
            <a:pPr/>
            <a:r>
              <a:t>Edmonds-Karp and Miller-Rabin are advanced demonstrations in separate menu options. They are not part of the six-stage pipeline.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This slide shows that TEXT HACK is not a pile of separate algorithms. It is one pipeline with six stages, exactly as in our code.</a:t>
            </a:r>
          </a:p>
          <a:p>
            <a:pPr/>
          </a:p>
          <a:p>
            <a:pPr/>
            <a:r>
              <a:t>Stages 1, 2 and 3 are KMP, Rabin-Karp and Z. They have no predecessors, so they are ready together and can run in parallel in round 1.</a:t>
            </a:r>
          </a:p>
          <a:p>
            <a:pPr/>
          </a:p>
          <a:p>
            <a:pPr/>
            <a:r>
              <a:t>Stage 4, the suffix array index, waits for all three. Stage 5, edit distance, waits for Z. Stage 6, sequence alignment, waits for both the index and edit distance.</a:t>
            </a:r>
          </a:p>
          <a:p>
            <a:pPr/>
          </a:p>
          <a:p>
            <a:pPr/>
            <a:r>
              <a:t>So not every task waits for every other task. Only real dependencies block a task.</a:t>
            </a:r>
          </a:p>
          <a:p>
            <a:pPr/>
          </a:p>
          <a:p>
            <a:pPr/>
            <a:r>
              <a:t>Each task moves through a lifecycle: it is created with its dependencies, becomes ready when all predecessors complete, is scheduled onto a resource, executes the real algorithm, and completes.</a:t>
            </a:r>
          </a:p>
          <a:p>
            <a:pPr/>
          </a:p>
          <a:p>
            <a:pPr/>
            <a:r>
              <a:t>In our console run this finished 6 of 6 tasks in 3 rounds, using R01, R02 and R03.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This is the scheduler. Remember the sequence: Task, Dependency, Ready, Rank, Resource, Execution, Runtime.</a:t>
            </a:r>
          </a:p>
          <a:p>
            <a:pPr/>
          </a:p>
          <a:p>
            <a:pPr/>
            <a:r>
              <a:t>A task is ready when it is waiting and every predecessor has completed. We compute an upward rank for each task: its own runtime estimate plus the largest rank among its successors. So tasks that sit at the start of long chains get priority.</a:t>
            </a:r>
          </a:p>
          <a:p>
            <a:pPr/>
          </a:p>
          <a:p>
            <a:pPr/>
            <a:r>
              <a:t>For the highest-rank ready task we check which idle worker fits its CPU and RAM, estimate its time on that worker, and choose the worker with the lowest predicted finish.</a:t>
            </a:r>
          </a:p>
          <a:p>
            <a:pPr/>
          </a:p>
          <a:p>
            <a:pPr/>
            <a:r>
              <a:t>The selected tasks then run in parallel, one thread each, executing the real algorithm. We measure actual runtime and update the estimate: the first run replaces it, later runs blend 70 percent old with 30 percent new. That is the runtime-aware part.</a:t>
            </a:r>
          </a:p>
          <a:p>
            <a:pPr/>
          </a:p>
          <a:p>
            <a:pPr/>
            <a:r>
              <a:t>R01, R02 and R03 are logical workers with 4, 2 and 1 CPU. They are modeled capacities, not three physical machines.</a:t>
            </a:r>
          </a:p>
          <a:p>
            <a:pPr/>
          </a:p>
          <a:p>
            <a:pPr/>
            <a:r>
              <a:t>HEFT is a heuristic. It does not guarantee an optimal schedule.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Shape 299"/>
          <p:cNvSpPr/>
          <p:nvPr>
            <p:ph type="sldImg"/>
          </p:nvPr>
        </p:nvSpPr>
        <p:spPr>
          <a:prstGeom prst="rect">
            <a:avLst/>
          </a:prstGeom>
        </p:spPr>
        <p:txBody>
          <a:bodyPr/>
          <a:lstStyle/>
          <a:p>
            <a:pPr/>
          </a:p>
        </p:txBody>
      </p:sp>
      <p:sp>
        <p:nvSpPr>
          <p:cNvPr id="300" name="Shape 300"/>
          <p:cNvSpPr/>
          <p:nvPr>
            <p:ph type="body" sz="quarter" idx="1"/>
          </p:nvPr>
        </p:nvSpPr>
        <p:spPr>
          <a:prstGeom prst="rect">
            <a:avLst/>
          </a:prstGeom>
        </p:spPr>
        <p:txBody>
          <a:bodyPr/>
          <a:lstStyle/>
          <a:p>
            <a:pPr/>
            <a:r>
              <a:t>This is the architecture, left to right and top to bottom.</a:t>
            </a:r>
          </a:p>
          <a:p>
            <a:pPr/>
          </a:p>
          <a:p>
            <a:pPr/>
            <a:r>
              <a:t>Documents come from a corpus of ten text files, each with metadata and content. Only the content is searched. The workload analyzer estimates CPU and RAM from characters and words. The text algorithms then produce tasks.</a:t>
            </a:r>
          </a:p>
          <a:p>
            <a:pPr/>
          </a:p>
          <a:p>
            <a:pPr/>
            <a:r>
              <a:t>Every task carries CPU, RAM, priority and status. Tasks are connected in a dependency graph, our Graph class, which supports cycle detection and topological sort. HEFT V3 reads that graph, ranks tasks, and chooses a resource. The executor runs the real algorithm in worker threads, and we record runtime, result and request history.</a:t>
            </a:r>
          </a:p>
          <a:p>
            <a:pPr/>
          </a:p>
          <a:p>
            <a:pPr/>
            <a:r>
              <a:t>Data structures, only those that exist in the source: an adjacency-matrix graph for the DAG, DP tables for edit distance and alignment, suffix and LCP arrays, capacity and residual matrices with an array queue for Edmonds-Karp, and plain arrays for tasks and resources.</a:t>
            </a:r>
          </a:p>
          <a:p>
            <a:pPr/>
          </a:p>
          <a:p>
            <a:pPr/>
            <a:r>
              <a:t>The engine uses no java.util classes: all of these are manual.</a:t>
            </a:r>
          </a:p>
          <a:p>
            <a:pPr/>
          </a:p>
          <a:p>
            <a:pPr/>
            <a:r>
              <a:t>Note: we also wrote a custom priority queue class and tested it, but HEFT V3 picks the next task by scanning ranks.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These are real values from our TEXT HACK console run. Screenshots go in the three boxes.</a:t>
            </a:r>
          </a:p>
          <a:p>
            <a:pPr/>
          </a:p>
          <a:p>
            <a:pPr/>
            <a:r>
              <a:t>Pattern search: KMP on document D01 for the word "data" correctly reports NOT FOUND with zero occurrences, one task, one round. The saved history also shows the Z algorithm finding one match at position 209 in D04.</a:t>
            </a:r>
          </a:p>
          <a:p>
            <a:pPr/>
          </a:p>
          <a:p>
            <a:pPr/>
            <a:r>
              <a:t>Document similarity: suffix array plus LCP on D04 and D06 found a longest shared substring of 13 characters, 5.68 percent similarity, from an index of 540 suffixes. Edit distance between D01 and D04 was 253, which is 18.39 percent similarity. Alignment of D01 with D05 scored minus 353.</a:t>
            </a:r>
          </a:p>
          <a:p>
            <a:pPr/>
          </a:p>
          <a:p>
            <a:pPr/>
            <a:r>
              <a:t>Full pipeline: all 6 of 6 tasks completed, none failed or blocked, in 3 scheduling rounds, with a makespan of 30 milliseconds and throughput of 200 tasks per second.</a:t>
            </a:r>
          </a:p>
          <a:p>
            <a:pPr/>
          </a:p>
          <a:p>
            <a:pPr/>
            <a:r>
              <a:t>We also ran Edmonds-Karp, giving a maximum flow of 10 in 4 augmenting paths, and Miller-Rabin, which classified 3 as probably prime.</a:t>
            </a:r>
          </a:p>
          <a:p>
            <a:pPr/>
          </a:p>
          <a:p>
            <a:pPr/>
            <a:r>
              <a:t>Timings were measured on our demo machine and vary by machine.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9" name="Shape 369"/>
          <p:cNvSpPr/>
          <p:nvPr>
            <p:ph type="sldImg"/>
          </p:nvPr>
        </p:nvSpPr>
        <p:spPr>
          <a:prstGeom prst="rect">
            <a:avLst/>
          </a:prstGeom>
        </p:spPr>
        <p:txBody>
          <a:bodyPr/>
          <a:lstStyle/>
          <a:p>
            <a:pPr/>
          </a:p>
        </p:txBody>
      </p:sp>
      <p:sp>
        <p:nvSpPr>
          <p:cNvPr id="370" name="Shape 370"/>
          <p:cNvSpPr/>
          <p:nvPr>
            <p:ph type="body" sz="quarter" idx="1"/>
          </p:nvPr>
        </p:nvSpPr>
        <p:spPr>
          <a:prstGeom prst="rect">
            <a:avLst/>
          </a:prstGeom>
        </p:spPr>
        <p:txBody>
          <a:bodyPr/>
          <a:lstStyle/>
          <a:p>
            <a:pPr/>
            <a:r>
              <a:t>This slide is our evidence. On the left is the dashboard from the full pipeline: 6 of 6 tasks completed, 0 failed, 0 blocked, 3 scheduling rounds, a 30 millisecond makespan and 200 tasks per second throughput.</a:t>
            </a:r>
          </a:p>
          <a:p>
            <a:pPr/>
          </a:p>
          <a:p>
            <a:pPr/>
            <a:r>
              <a:t>On the right is a real comparison of KMP, Rabin-Karp and Z. The important result is the consistency check: all three algorithms agree on the match count, here zero, in both runs.</a:t>
            </a:r>
          </a:p>
          <a:p>
            <a:pPr/>
          </a:p>
          <a:p>
            <a:pPr/>
            <a:r>
              <a:t>Please read the timings carefully. They are single runs, in microseconds, on our machine, and the console itself notes they are machine-dependent. So we do not claim that any one algorithm is faster. What we claim is correctness, because they agree, and measured execution, because each task records its real runtime.</a:t>
            </a:r>
          </a:p>
          <a:p>
            <a:pPr/>
          </a:p>
          <a:p>
            <a:pPr/>
            <a:r>
              <a:t>Our history file holds 18 saved requests, each with algorithm, resource, runtime and result.</a:t>
            </a:r>
          </a:p>
          <a:p>
            <a:pPr/>
          </a:p>
          <a:p>
            <a:pPr/>
            <a:r>
              <a:t>What we do not claim: universal speed, large-scale results, or that these timings generalise to other machines.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Shape 385"/>
          <p:cNvSpPr/>
          <p:nvPr>
            <p:ph type="sldImg"/>
          </p:nvPr>
        </p:nvSpPr>
        <p:spPr>
          <a:prstGeom prst="rect">
            <a:avLst/>
          </a:prstGeom>
        </p:spPr>
        <p:txBody>
          <a:bodyPr/>
          <a:lstStyle/>
          <a:p>
            <a:pPr/>
          </a:p>
        </p:txBody>
      </p:sp>
      <p:sp>
        <p:nvSpPr>
          <p:cNvPr id="386" name="Shape 386"/>
          <p:cNvSpPr/>
          <p:nvPr>
            <p:ph type="body" sz="quarter" idx="1"/>
          </p:nvPr>
        </p:nvSpPr>
        <p:spPr>
          <a:prstGeom prst="rect">
            <a:avLst/>
          </a:prstGeom>
        </p:spPr>
        <p:txBody>
          <a:bodyPr/>
          <a:lstStyle/>
          <a:p>
            <a:pPr/>
            <a:r>
              <a:t>This slide targets the innovation, sustainability and utility criteria directly.</a:t>
            </a:r>
          </a:p>
          <a:p>
            <a:pPr/>
          </a:p>
          <a:p>
            <a:pPr/>
            <a:r>
              <a:t>Innovation: most projects implement algorithms one by one. We integrate many DSA algorithms into one engine and treat each as a schedulable task with CPU, RAM, priority and dependencies. Our scheduler is dependency-aware, uses runtime-aware HEFT V3 that learns from measured runtimes, assigns work to heterogeneous logical resources, and runs independent tasks in parallel.</a:t>
            </a:r>
          </a:p>
          <a:p>
            <a:pPr/>
          </a:p>
          <a:p>
            <a:pPr/>
            <a:r>
              <a:t>Sustainability: we did not measure energy and we do not claim to. The defensible angle is computational efficiency: matching each task to a worker that fits it, running independent work in parallel, and using learned runtimes to plan better.</a:t>
            </a:r>
          </a:p>
          <a:p>
            <a:pPr/>
          </a:p>
          <a:p>
            <a:pPr/>
            <a:r>
              <a:t>Utility to society: realistic potential uses are digital libraries, document analysis and similarity, educational systems, information retrieval and research text processing. These are potential applications. Our prototype is demonstrated on a ten-document corpus and is not deployed.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To conclude. We took DSA algorithms and turned them into tasks, connected them with a dependency graph, scheduled them intelligently, assigned them to resources, executed the real algorithms, and measured the results.</a:t>
            </a:r>
          </a:p>
          <a:p>
            <a:pPr/>
          </a:p>
          <a:p>
            <a:pPr/>
            <a:r>
              <a:t>For future scope, and these are not implemented: a larger corpus; a faster suffix array construction and more advanced runtime prediction; distributed execution and GPU acceleration; and energy-aware scheduling and additional scheduling strategies.</a:t>
            </a:r>
          </a:p>
          <a:p>
            <a:pPr/>
          </a:p>
          <a:p>
            <a:pPr/>
            <a:r>
              <a:t>Our key takeaway: TEXT HACK does not just implement DSA algorithms. It turns them into an intelligent, dependency-aware and resource-aware computational pipeline.</a:t>
            </a:r>
          </a:p>
          <a:p>
            <a:pPr/>
          </a:p>
          <a:p>
            <a:pPr/>
            <a:r>
              <a:t>Thank you. We are happy to take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_TITLE">
    <p:bg>
      <p:bgPr>
        <a:solidFill>
          <a:srgbClr val="0B1220"/>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548640" y="502919"/>
            <a:ext cx="11064241" cy="1188721"/>
          </a:xfrm>
          <a:prstGeom prst="rect">
            <a:avLst/>
          </a:prstGeom>
        </p:spPr>
        <p:txBody>
          <a:bodyPr anchor="t">
            <a:normAutofit fontScale="100000" lnSpcReduction="0"/>
          </a:bodyPr>
          <a:lstStyle>
            <a:lvl1pPr algn="l">
              <a:defRPr b="1" sz="7200">
                <a:solidFill>
                  <a:srgbClr val="FFFFFF"/>
                </a:solidFill>
              </a:defRPr>
            </a:lvl1pPr>
          </a:lstStyle>
          <a:p>
            <a:pPr/>
            <a:r>
              <a:t>Click to add title</a:t>
            </a: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_CONTENT">
    <p:bg>
      <p:bgPr>
        <a:solidFill>
          <a:srgbClr val="0B1220"/>
        </a:solidFill>
      </p:bgPr>
    </p:bg>
    <p:spTree>
      <p:nvGrpSpPr>
        <p:cNvPr id="1" name=""/>
        <p:cNvGrpSpPr/>
        <p:nvPr/>
      </p:nvGrpSpPr>
      <p:grpSpPr>
        <a:xfrm>
          <a:off x="0" y="0"/>
          <a:ext cx="0" cy="0"/>
          <a:chOff x="0" y="0"/>
          <a:chExt cx="0" cy="0"/>
        </a:xfrm>
      </p:grpSpPr>
      <p:sp>
        <p:nvSpPr>
          <p:cNvPr id="26" name="Click to add title"/>
          <p:cNvSpPr txBox="1"/>
          <p:nvPr>
            <p:ph type="title" hasCustomPrompt="1"/>
          </p:nvPr>
        </p:nvSpPr>
        <p:spPr>
          <a:xfrm>
            <a:off x="548640" y="274320"/>
            <a:ext cx="11064241" cy="777241"/>
          </a:xfrm>
          <a:prstGeom prst="rect">
            <a:avLst/>
          </a:prstGeom>
        </p:spPr>
        <p:txBody>
          <a:bodyPr anchor="t">
            <a:normAutofit fontScale="100000" lnSpcReduction="0"/>
          </a:bodyPr>
          <a:lstStyle>
            <a:lvl1pPr algn="l">
              <a:defRPr b="1" sz="3400">
                <a:solidFill>
                  <a:srgbClr val="FFFFFF"/>
                </a:solidFill>
              </a:defRPr>
            </a:lvl1pPr>
          </a:lstStyle>
          <a:p>
            <a:pPr/>
            <a:r>
              <a:t>Click to add title</a:t>
            </a:r>
          </a:p>
        </p:txBody>
      </p:sp>
      <p:sp>
        <p:nvSpPr>
          <p:cNvPr id="27" name="Text 0"/>
          <p:cNvSpPr txBox="1"/>
          <p:nvPr/>
        </p:nvSpPr>
        <p:spPr>
          <a:xfrm>
            <a:off x="548640" y="6515144"/>
            <a:ext cx="54864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B4C0D4"/>
                </a:solidFill>
              </a:defRPr>
            </a:lvl1pPr>
          </a:lstStyle>
          <a:p>
            <a:pPr/>
            <a:r>
              <a:t>TEXT HACK  |  DSA Final Project</a:t>
            </a:r>
          </a:p>
        </p:txBody>
      </p:sp>
      <p:sp>
        <p:nvSpPr>
          <p:cNvPr id="28" name="Slide Number"/>
          <p:cNvSpPr txBox="1"/>
          <p:nvPr>
            <p:ph type="sldNum" sz="quarter" idx="2"/>
          </p:nvPr>
        </p:nvSpPr>
        <p:spPr>
          <a:xfrm>
            <a:off x="11155680" y="644652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737600" y="6356350"/>
            <a:ext cx="2844800" cy="368300"/>
          </a:xfrm>
          <a:prstGeom prst="rect">
            <a:avLst/>
          </a:prstGeom>
          <a:ln w="12700">
            <a:miter lim="400000"/>
          </a:ln>
        </p:spPr>
        <p:txBody>
          <a:bodyPr wrap="none" lIns="45719" rIns="45719">
            <a:spAutoFit/>
          </a:bodyPr>
          <a:lstStyle>
            <a:lvl1pPr>
              <a:defRPr sz="1000">
                <a:solidFill>
                  <a:srgbClr val="B4C0D4"/>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B122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B1220"/>
          </a:solidFill>
          <a:uFillTx/>
          <a:latin typeface="+mn-lt"/>
          <a:ea typeface="+mn-ea"/>
          <a:cs typeface="+mn-cs"/>
          <a:sym typeface="Calibri"/>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 name="Text 0"/>
          <p:cNvSpPr txBox="1"/>
          <p:nvPr>
            <p:ph type="title"/>
          </p:nvPr>
        </p:nvSpPr>
        <p:spPr>
          <a:xfrm>
            <a:off x="548639" y="502919"/>
            <a:ext cx="11064242" cy="1188721"/>
          </a:xfrm>
          <a:prstGeom prst="rect">
            <a:avLst/>
          </a:prstGeom>
        </p:spPr>
        <p:txBody>
          <a:bodyPr lIns="0" tIns="0" rIns="0" bIns="0" anchor="ctr"/>
          <a:lstStyle/>
          <a:p>
            <a:pPr/>
            <a:r>
              <a:t>TEXT HACK</a:t>
            </a:r>
          </a:p>
        </p:txBody>
      </p:sp>
      <p:sp>
        <p:nvSpPr>
          <p:cNvPr id="38" name="txt_1"/>
          <p:cNvSpPr txBox="1"/>
          <p:nvPr/>
        </p:nvSpPr>
        <p:spPr>
          <a:xfrm>
            <a:off x="548639" y="1691639"/>
            <a:ext cx="11064242" cy="301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chemeClr val="accent1"/>
                </a:solidFill>
              </a:defRPr>
            </a:lvl1pPr>
          </a:lstStyle>
          <a:p>
            <a:pPr/>
            <a:r>
              <a:t>Advanced Text Analytics Engine with Intelligent Resource Scheduling</a:t>
            </a:r>
          </a:p>
        </p:txBody>
      </p:sp>
      <p:sp>
        <p:nvSpPr>
          <p:cNvPr id="39" name="txt_2"/>
          <p:cNvSpPr txBox="1"/>
          <p:nvPr/>
        </p:nvSpPr>
        <p:spPr>
          <a:xfrm>
            <a:off x="548639" y="2285999"/>
            <a:ext cx="10241282" cy="463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600">
                <a:solidFill>
                  <a:srgbClr val="B4C0D4"/>
                </a:solidFill>
              </a:defRPr>
            </a:lvl1pPr>
          </a:lstStyle>
          <a:p>
            <a:pPr/>
            <a:r>
              <a:t>"A DSA-driven engine that maps text-processing problems to algorithms, schedules them as dependent tasks, executes them on heterogeneous logical resources, and reports measurable results."</a:t>
            </a:r>
          </a:p>
        </p:txBody>
      </p:sp>
      <p:sp>
        <p:nvSpPr>
          <p:cNvPr id="40" name="box_3"/>
          <p:cNvSpPr/>
          <p:nvPr/>
        </p:nvSpPr>
        <p:spPr>
          <a:xfrm>
            <a:off x="548640" y="3429000"/>
            <a:ext cx="1539240" cy="868681"/>
          </a:xfrm>
          <a:prstGeom prst="roundRect">
            <a:avLst>
              <a:gd name="adj" fmla="val 8421"/>
            </a:avLst>
          </a:prstGeom>
          <a:solidFill>
            <a:srgbClr val="162033"/>
          </a:solidFill>
          <a:ln w="15875">
            <a:solidFill>
              <a:schemeClr val="accent1"/>
            </a:solidFill>
          </a:ln>
        </p:spPr>
        <p:txBody>
          <a:bodyPr lIns="45719" rIns="45719"/>
          <a:lstStyle/>
          <a:p>
            <a:pPr/>
          </a:p>
        </p:txBody>
      </p:sp>
      <p:sp>
        <p:nvSpPr>
          <p:cNvPr id="41" name="txt_4"/>
          <p:cNvSpPr txBox="1"/>
          <p:nvPr/>
        </p:nvSpPr>
        <p:spPr>
          <a:xfrm>
            <a:off x="594359"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Text Problem</a:t>
            </a:r>
          </a:p>
        </p:txBody>
      </p:sp>
      <p:sp>
        <p:nvSpPr>
          <p:cNvPr id="42" name="arrow_5"/>
          <p:cNvSpPr/>
          <p:nvPr/>
        </p:nvSpPr>
        <p:spPr>
          <a:xfrm>
            <a:off x="2115311" y="3863340"/>
            <a:ext cx="310897" cy="1"/>
          </a:xfrm>
          <a:prstGeom prst="line">
            <a:avLst/>
          </a:prstGeom>
          <a:ln w="22225">
            <a:solidFill>
              <a:schemeClr val="accent1"/>
            </a:solidFill>
            <a:tailEnd type="triangle"/>
          </a:ln>
        </p:spPr>
        <p:txBody>
          <a:bodyPr lIns="45719" rIns="45719"/>
          <a:lstStyle/>
          <a:p>
            <a:pPr/>
          </a:p>
        </p:txBody>
      </p:sp>
      <p:sp>
        <p:nvSpPr>
          <p:cNvPr id="43" name="box_6"/>
          <p:cNvSpPr/>
          <p:nvPr/>
        </p:nvSpPr>
        <p:spPr>
          <a:xfrm>
            <a:off x="2453639" y="3429000"/>
            <a:ext cx="1539241" cy="868681"/>
          </a:xfrm>
          <a:prstGeom prst="roundRect">
            <a:avLst>
              <a:gd name="adj" fmla="val 8421"/>
            </a:avLst>
          </a:prstGeom>
          <a:solidFill>
            <a:srgbClr val="162033"/>
          </a:solidFill>
          <a:ln w="15875">
            <a:solidFill>
              <a:schemeClr val="accent1"/>
            </a:solidFill>
          </a:ln>
        </p:spPr>
        <p:txBody>
          <a:bodyPr lIns="45719" rIns="45719"/>
          <a:lstStyle/>
          <a:p>
            <a:pPr/>
          </a:p>
        </p:txBody>
      </p:sp>
      <p:sp>
        <p:nvSpPr>
          <p:cNvPr id="44" name="txt_7"/>
          <p:cNvSpPr txBox="1"/>
          <p:nvPr/>
        </p:nvSpPr>
        <p:spPr>
          <a:xfrm>
            <a:off x="2499360"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DSA Algorithm</a:t>
            </a:r>
          </a:p>
        </p:txBody>
      </p:sp>
      <p:sp>
        <p:nvSpPr>
          <p:cNvPr id="45" name="arrow_8"/>
          <p:cNvSpPr/>
          <p:nvPr/>
        </p:nvSpPr>
        <p:spPr>
          <a:xfrm>
            <a:off x="4020311" y="3863340"/>
            <a:ext cx="310897" cy="1"/>
          </a:xfrm>
          <a:prstGeom prst="line">
            <a:avLst/>
          </a:prstGeom>
          <a:ln w="22225">
            <a:solidFill>
              <a:schemeClr val="accent1"/>
            </a:solidFill>
            <a:tailEnd type="triangle"/>
          </a:ln>
        </p:spPr>
        <p:txBody>
          <a:bodyPr lIns="45719" rIns="45719"/>
          <a:lstStyle/>
          <a:p>
            <a:pPr/>
          </a:p>
        </p:txBody>
      </p:sp>
      <p:sp>
        <p:nvSpPr>
          <p:cNvPr id="46" name="box_9"/>
          <p:cNvSpPr/>
          <p:nvPr/>
        </p:nvSpPr>
        <p:spPr>
          <a:xfrm>
            <a:off x="4358640" y="3429000"/>
            <a:ext cx="1539241" cy="868681"/>
          </a:xfrm>
          <a:prstGeom prst="roundRect">
            <a:avLst>
              <a:gd name="adj" fmla="val 8421"/>
            </a:avLst>
          </a:prstGeom>
          <a:solidFill>
            <a:srgbClr val="162033"/>
          </a:solidFill>
          <a:ln w="15875">
            <a:solidFill>
              <a:schemeClr val="accent4"/>
            </a:solidFill>
          </a:ln>
        </p:spPr>
        <p:txBody>
          <a:bodyPr lIns="45719" rIns="45719"/>
          <a:lstStyle/>
          <a:p>
            <a:pPr/>
          </a:p>
        </p:txBody>
      </p:sp>
      <p:sp>
        <p:nvSpPr>
          <p:cNvPr id="47" name="txt_10"/>
          <p:cNvSpPr txBox="1"/>
          <p:nvPr/>
        </p:nvSpPr>
        <p:spPr>
          <a:xfrm>
            <a:off x="4404359"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Task</a:t>
            </a:r>
          </a:p>
        </p:txBody>
      </p:sp>
      <p:sp>
        <p:nvSpPr>
          <p:cNvPr id="48" name="arrow_11"/>
          <p:cNvSpPr/>
          <p:nvPr/>
        </p:nvSpPr>
        <p:spPr>
          <a:xfrm>
            <a:off x="5925311" y="3863340"/>
            <a:ext cx="310897" cy="1"/>
          </a:xfrm>
          <a:prstGeom prst="line">
            <a:avLst/>
          </a:prstGeom>
          <a:ln w="22225">
            <a:solidFill>
              <a:schemeClr val="accent1"/>
            </a:solidFill>
            <a:tailEnd type="triangle"/>
          </a:ln>
        </p:spPr>
        <p:txBody>
          <a:bodyPr lIns="45719" rIns="45719"/>
          <a:lstStyle/>
          <a:p>
            <a:pPr/>
          </a:p>
        </p:txBody>
      </p:sp>
      <p:sp>
        <p:nvSpPr>
          <p:cNvPr id="49" name="box_12"/>
          <p:cNvSpPr/>
          <p:nvPr/>
        </p:nvSpPr>
        <p:spPr>
          <a:xfrm>
            <a:off x="6263640" y="3429000"/>
            <a:ext cx="1539241" cy="868681"/>
          </a:xfrm>
          <a:prstGeom prst="roundRect">
            <a:avLst>
              <a:gd name="adj" fmla="val 8421"/>
            </a:avLst>
          </a:prstGeom>
          <a:solidFill>
            <a:srgbClr val="162033"/>
          </a:solidFill>
          <a:ln w="15875">
            <a:solidFill>
              <a:schemeClr val="accent2"/>
            </a:solidFill>
          </a:ln>
        </p:spPr>
        <p:txBody>
          <a:bodyPr lIns="45719" rIns="45719"/>
          <a:lstStyle/>
          <a:p>
            <a:pPr/>
          </a:p>
        </p:txBody>
      </p:sp>
      <p:sp>
        <p:nvSpPr>
          <p:cNvPr id="50" name="txt_13"/>
          <p:cNvSpPr txBox="1"/>
          <p:nvPr/>
        </p:nvSpPr>
        <p:spPr>
          <a:xfrm>
            <a:off x="6309359"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Scheduler</a:t>
            </a:r>
          </a:p>
        </p:txBody>
      </p:sp>
      <p:sp>
        <p:nvSpPr>
          <p:cNvPr id="51" name="arrow_14"/>
          <p:cNvSpPr/>
          <p:nvPr/>
        </p:nvSpPr>
        <p:spPr>
          <a:xfrm>
            <a:off x="7830311" y="3863340"/>
            <a:ext cx="310897" cy="1"/>
          </a:xfrm>
          <a:prstGeom prst="line">
            <a:avLst/>
          </a:prstGeom>
          <a:ln w="22225">
            <a:solidFill>
              <a:schemeClr val="accent1"/>
            </a:solidFill>
            <a:tailEnd type="triangle"/>
          </a:ln>
        </p:spPr>
        <p:txBody>
          <a:bodyPr lIns="45719" rIns="45719"/>
          <a:lstStyle/>
          <a:p>
            <a:pPr/>
          </a:p>
        </p:txBody>
      </p:sp>
      <p:sp>
        <p:nvSpPr>
          <p:cNvPr id="52" name="box_15"/>
          <p:cNvSpPr/>
          <p:nvPr/>
        </p:nvSpPr>
        <p:spPr>
          <a:xfrm>
            <a:off x="8168640" y="3429000"/>
            <a:ext cx="1539241" cy="868681"/>
          </a:xfrm>
          <a:prstGeom prst="roundRect">
            <a:avLst>
              <a:gd name="adj" fmla="val 8421"/>
            </a:avLst>
          </a:prstGeom>
          <a:solidFill>
            <a:srgbClr val="162033"/>
          </a:solidFill>
          <a:ln w="15875">
            <a:solidFill>
              <a:schemeClr val="accent3"/>
            </a:solidFill>
          </a:ln>
        </p:spPr>
        <p:txBody>
          <a:bodyPr lIns="45719" rIns="45719"/>
          <a:lstStyle/>
          <a:p>
            <a:pPr/>
          </a:p>
        </p:txBody>
      </p:sp>
      <p:sp>
        <p:nvSpPr>
          <p:cNvPr id="53" name="txt_16"/>
          <p:cNvSpPr txBox="1"/>
          <p:nvPr/>
        </p:nvSpPr>
        <p:spPr>
          <a:xfrm>
            <a:off x="8214359"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Resource</a:t>
            </a:r>
          </a:p>
        </p:txBody>
      </p:sp>
      <p:sp>
        <p:nvSpPr>
          <p:cNvPr id="54" name="arrow_17"/>
          <p:cNvSpPr/>
          <p:nvPr/>
        </p:nvSpPr>
        <p:spPr>
          <a:xfrm>
            <a:off x="9735311" y="3863340"/>
            <a:ext cx="310897" cy="1"/>
          </a:xfrm>
          <a:prstGeom prst="line">
            <a:avLst/>
          </a:prstGeom>
          <a:ln w="22225">
            <a:solidFill>
              <a:schemeClr val="accent1"/>
            </a:solidFill>
            <a:tailEnd type="triangle"/>
          </a:ln>
        </p:spPr>
        <p:txBody>
          <a:bodyPr lIns="45719" rIns="45719"/>
          <a:lstStyle/>
          <a:p>
            <a:pPr/>
          </a:p>
        </p:txBody>
      </p:sp>
      <p:sp>
        <p:nvSpPr>
          <p:cNvPr id="55" name="box_18"/>
          <p:cNvSpPr/>
          <p:nvPr/>
        </p:nvSpPr>
        <p:spPr>
          <a:xfrm>
            <a:off x="10073640" y="3429000"/>
            <a:ext cx="1539241" cy="868681"/>
          </a:xfrm>
          <a:prstGeom prst="roundRect">
            <a:avLst>
              <a:gd name="adj" fmla="val 8421"/>
            </a:avLst>
          </a:prstGeom>
          <a:solidFill>
            <a:srgbClr val="162033"/>
          </a:solidFill>
          <a:ln w="15875">
            <a:solidFill>
              <a:schemeClr val="accent3"/>
            </a:solidFill>
          </a:ln>
        </p:spPr>
        <p:txBody>
          <a:bodyPr lIns="45719" rIns="45719"/>
          <a:lstStyle/>
          <a:p>
            <a:pPr/>
          </a:p>
        </p:txBody>
      </p:sp>
      <p:sp>
        <p:nvSpPr>
          <p:cNvPr id="56" name="txt_19"/>
          <p:cNvSpPr txBox="1"/>
          <p:nvPr/>
        </p:nvSpPr>
        <p:spPr>
          <a:xfrm>
            <a:off x="10119359" y="3758763"/>
            <a:ext cx="144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FFFFFF"/>
                </a:solidFill>
              </a:defRPr>
            </a:lvl1pPr>
          </a:lstStyle>
          <a:p>
            <a:pPr/>
            <a:r>
              <a:t>Result</a:t>
            </a:r>
          </a:p>
        </p:txBody>
      </p:sp>
      <p:sp>
        <p:nvSpPr>
          <p:cNvPr id="57" name="box_20"/>
          <p:cNvSpPr/>
          <p:nvPr/>
        </p:nvSpPr>
        <p:spPr>
          <a:xfrm>
            <a:off x="548640" y="4983479"/>
            <a:ext cx="2560321" cy="1005841"/>
          </a:xfrm>
          <a:prstGeom prst="roundRect">
            <a:avLst>
              <a:gd name="adj" fmla="val 7273"/>
            </a:avLst>
          </a:prstGeom>
          <a:solidFill>
            <a:srgbClr val="162033"/>
          </a:solidFill>
          <a:ln w="12700">
            <a:miter lim="400000"/>
          </a:ln>
        </p:spPr>
        <p:txBody>
          <a:bodyPr lIns="45719" rIns="45719"/>
          <a:lstStyle/>
          <a:p>
            <a:pPr/>
          </a:p>
        </p:txBody>
      </p:sp>
      <p:sp>
        <p:nvSpPr>
          <p:cNvPr id="58" name="txt_21"/>
          <p:cNvSpPr txBox="1"/>
          <p:nvPr/>
        </p:nvSpPr>
        <p:spPr>
          <a:xfrm>
            <a:off x="731519" y="5120640"/>
            <a:ext cx="21945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Kollu Sree Lasya</a:t>
            </a:r>
          </a:p>
        </p:txBody>
      </p:sp>
      <p:sp>
        <p:nvSpPr>
          <p:cNvPr id="59" name="txt_22"/>
          <p:cNvSpPr txBox="1"/>
          <p:nvPr/>
        </p:nvSpPr>
        <p:spPr>
          <a:xfrm>
            <a:off x="731519" y="5532120"/>
            <a:ext cx="21945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chemeClr val="accent2"/>
                </a:solidFill>
              </a:defRPr>
            </a:lvl1pPr>
          </a:lstStyle>
          <a:p>
            <a:pPr/>
            <a:r>
              <a:t>2510030287</a:t>
            </a:r>
          </a:p>
        </p:txBody>
      </p:sp>
      <p:sp>
        <p:nvSpPr>
          <p:cNvPr id="60" name="box_23"/>
          <p:cNvSpPr/>
          <p:nvPr/>
        </p:nvSpPr>
        <p:spPr>
          <a:xfrm>
            <a:off x="3383279" y="4983479"/>
            <a:ext cx="2560321" cy="1005841"/>
          </a:xfrm>
          <a:prstGeom prst="roundRect">
            <a:avLst>
              <a:gd name="adj" fmla="val 7273"/>
            </a:avLst>
          </a:prstGeom>
          <a:solidFill>
            <a:srgbClr val="162033"/>
          </a:solidFill>
          <a:ln w="12700">
            <a:miter lim="400000"/>
          </a:ln>
        </p:spPr>
        <p:txBody>
          <a:bodyPr lIns="45719" rIns="45719"/>
          <a:lstStyle/>
          <a:p>
            <a:pPr/>
          </a:p>
        </p:txBody>
      </p:sp>
      <p:sp>
        <p:nvSpPr>
          <p:cNvPr id="61" name="txt_24"/>
          <p:cNvSpPr txBox="1"/>
          <p:nvPr/>
        </p:nvSpPr>
        <p:spPr>
          <a:xfrm>
            <a:off x="3566159" y="5120640"/>
            <a:ext cx="21945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Shrenika Reddy</a:t>
            </a:r>
          </a:p>
        </p:txBody>
      </p:sp>
      <p:sp>
        <p:nvSpPr>
          <p:cNvPr id="62" name="txt_25"/>
          <p:cNvSpPr txBox="1"/>
          <p:nvPr/>
        </p:nvSpPr>
        <p:spPr>
          <a:xfrm>
            <a:off x="3566159" y="5532120"/>
            <a:ext cx="21945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chemeClr val="accent2"/>
                </a:solidFill>
              </a:defRPr>
            </a:lvl1pPr>
          </a:lstStyle>
          <a:p>
            <a:pPr/>
            <a:r>
              <a:t>2510030022</a:t>
            </a:r>
          </a:p>
        </p:txBody>
      </p:sp>
      <p:sp>
        <p:nvSpPr>
          <p:cNvPr id="63" name="box_26"/>
          <p:cNvSpPr/>
          <p:nvPr/>
        </p:nvSpPr>
        <p:spPr>
          <a:xfrm>
            <a:off x="6217920" y="4983479"/>
            <a:ext cx="2560321" cy="1005841"/>
          </a:xfrm>
          <a:prstGeom prst="roundRect">
            <a:avLst>
              <a:gd name="adj" fmla="val 7273"/>
            </a:avLst>
          </a:prstGeom>
          <a:solidFill>
            <a:srgbClr val="162033"/>
          </a:solidFill>
          <a:ln w="12700">
            <a:miter lim="400000"/>
          </a:ln>
        </p:spPr>
        <p:txBody>
          <a:bodyPr lIns="45719" rIns="45719"/>
          <a:lstStyle/>
          <a:p>
            <a:pPr/>
          </a:p>
        </p:txBody>
      </p:sp>
      <p:sp>
        <p:nvSpPr>
          <p:cNvPr id="64" name="txt_27"/>
          <p:cNvSpPr txBox="1"/>
          <p:nvPr/>
        </p:nvSpPr>
        <p:spPr>
          <a:xfrm>
            <a:off x="6400799" y="5120640"/>
            <a:ext cx="219456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Pasham Meghana</a:t>
            </a:r>
          </a:p>
        </p:txBody>
      </p:sp>
      <p:sp>
        <p:nvSpPr>
          <p:cNvPr id="65" name="txt_28"/>
          <p:cNvSpPr txBox="1"/>
          <p:nvPr/>
        </p:nvSpPr>
        <p:spPr>
          <a:xfrm>
            <a:off x="6400799" y="5532120"/>
            <a:ext cx="21945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chemeClr val="accent2"/>
                </a:solidFill>
              </a:defRPr>
            </a:lvl1pPr>
          </a:lstStyle>
          <a:p>
            <a:pPr/>
            <a:r>
              <a:t>2510030101</a:t>
            </a:r>
          </a:p>
        </p:txBody>
      </p:sp>
      <p:sp>
        <p:nvSpPr>
          <p:cNvPr id="66" name="box_29"/>
          <p:cNvSpPr/>
          <p:nvPr/>
        </p:nvSpPr>
        <p:spPr>
          <a:xfrm>
            <a:off x="9052559" y="4983479"/>
            <a:ext cx="2560321" cy="1005841"/>
          </a:xfrm>
          <a:prstGeom prst="roundRect">
            <a:avLst>
              <a:gd name="adj" fmla="val 7273"/>
            </a:avLst>
          </a:prstGeom>
          <a:solidFill>
            <a:srgbClr val="162033"/>
          </a:solidFill>
          <a:ln w="12700">
            <a:miter lim="400000"/>
          </a:ln>
        </p:spPr>
        <p:txBody>
          <a:bodyPr lIns="45719" rIns="45719"/>
          <a:lstStyle/>
          <a:p>
            <a:pPr/>
          </a:p>
        </p:txBody>
      </p:sp>
      <p:sp>
        <p:nvSpPr>
          <p:cNvPr id="67" name="txt_30"/>
          <p:cNvSpPr txBox="1"/>
          <p:nvPr/>
        </p:nvSpPr>
        <p:spPr>
          <a:xfrm>
            <a:off x="9235440" y="5120640"/>
            <a:ext cx="219456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FFFFFF"/>
                </a:solidFill>
              </a:defRPr>
            </a:lvl1pPr>
          </a:lstStyle>
          <a:p>
            <a:pPr/>
            <a:r>
              <a:t>Rishikha Reddy</a:t>
            </a:r>
          </a:p>
        </p:txBody>
      </p:sp>
      <p:sp>
        <p:nvSpPr>
          <p:cNvPr id="68" name="txt_31"/>
          <p:cNvSpPr txBox="1"/>
          <p:nvPr/>
        </p:nvSpPr>
        <p:spPr>
          <a:xfrm>
            <a:off x="9235440" y="5532120"/>
            <a:ext cx="21945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chemeClr val="accent2"/>
                </a:solidFill>
              </a:defRPr>
            </a:lvl1pPr>
          </a:lstStyle>
          <a:p>
            <a:pPr/>
            <a:r>
              <a:t>2510030130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Text 0"/>
          <p:cNvSpPr txBox="1"/>
          <p:nvPr>
            <p:ph type="title"/>
          </p:nvPr>
        </p:nvSpPr>
        <p:spPr>
          <a:xfrm>
            <a:off x="548639" y="274319"/>
            <a:ext cx="11064242" cy="777242"/>
          </a:xfrm>
          <a:prstGeom prst="rect">
            <a:avLst/>
          </a:prstGeom>
        </p:spPr>
        <p:txBody>
          <a:bodyPr lIns="0" tIns="0" rIns="0" bIns="0" anchor="ctr"/>
          <a:lstStyle/>
          <a:p>
            <a:pPr/>
            <a:r>
              <a:t>The problem: algorithms are also workloads</a:t>
            </a:r>
          </a:p>
        </p:txBody>
      </p:sp>
      <p:sp>
        <p:nvSpPr>
          <p:cNvPr id="73" name="txt_32"/>
          <p:cNvSpPr txBox="1"/>
          <p:nvPr/>
        </p:nvSpPr>
        <p:spPr>
          <a:xfrm>
            <a:off x="548639" y="1280160"/>
            <a:ext cx="5303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chemeClr val="accent2"/>
                </a:solidFill>
              </a:defRPr>
            </a:lvl1pPr>
          </a:lstStyle>
          <a:p>
            <a:pPr/>
            <a:r>
              <a:t>THE PROBLEM</a:t>
            </a:r>
          </a:p>
        </p:txBody>
      </p:sp>
      <p:sp>
        <p:nvSpPr>
          <p:cNvPr id="74" name="txt_33"/>
          <p:cNvSpPr txBox="1"/>
          <p:nvPr/>
        </p:nvSpPr>
        <p:spPr>
          <a:xfrm>
            <a:off x="548639" y="1600199"/>
            <a:ext cx="5303522" cy="463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FFFFFF"/>
                </a:solidFill>
              </a:defRPr>
            </a:lvl1pPr>
          </a:lstStyle>
          <a:p>
            <a:pPr/>
            <a:r>
              <a:t>Text-processing systems need different algorithms for different tasks:</a:t>
            </a:r>
          </a:p>
        </p:txBody>
      </p:sp>
      <p:sp>
        <p:nvSpPr>
          <p:cNvPr id="75" name="box_34"/>
          <p:cNvSpPr/>
          <p:nvPr/>
        </p:nvSpPr>
        <p:spPr>
          <a:xfrm>
            <a:off x="548640" y="2194560"/>
            <a:ext cx="5303521" cy="384049"/>
          </a:xfrm>
          <a:prstGeom prst="roundRect">
            <a:avLst>
              <a:gd name="adj" fmla="val 19048"/>
            </a:avLst>
          </a:prstGeom>
          <a:solidFill>
            <a:srgbClr val="162033"/>
          </a:solidFill>
          <a:ln w="12700">
            <a:miter lim="400000"/>
          </a:ln>
        </p:spPr>
        <p:txBody>
          <a:bodyPr lIns="45719" rIns="45719"/>
          <a:lstStyle/>
          <a:p>
            <a:pPr/>
          </a:p>
        </p:txBody>
      </p:sp>
      <p:sp>
        <p:nvSpPr>
          <p:cNvPr id="76" name="txt_35"/>
          <p:cNvSpPr txBox="1"/>
          <p:nvPr/>
        </p:nvSpPr>
        <p:spPr>
          <a:xfrm>
            <a:off x="731519" y="2291904"/>
            <a:ext cx="49377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FFFFF"/>
                </a:solidFill>
              </a:defRPr>
            </a:lvl1pPr>
          </a:lstStyle>
          <a:p>
            <a:pPr/>
            <a:r>
              <a:t>Exact pattern matching</a:t>
            </a:r>
          </a:p>
        </p:txBody>
      </p:sp>
      <p:sp>
        <p:nvSpPr>
          <p:cNvPr id="77" name="box_36"/>
          <p:cNvSpPr/>
          <p:nvPr/>
        </p:nvSpPr>
        <p:spPr>
          <a:xfrm>
            <a:off x="548640" y="2651760"/>
            <a:ext cx="5303521" cy="384049"/>
          </a:xfrm>
          <a:prstGeom prst="roundRect">
            <a:avLst>
              <a:gd name="adj" fmla="val 19048"/>
            </a:avLst>
          </a:prstGeom>
          <a:solidFill>
            <a:srgbClr val="162033"/>
          </a:solidFill>
          <a:ln w="12700">
            <a:miter lim="400000"/>
          </a:ln>
        </p:spPr>
        <p:txBody>
          <a:bodyPr lIns="45719" rIns="45719"/>
          <a:lstStyle/>
          <a:p>
            <a:pPr/>
          </a:p>
        </p:txBody>
      </p:sp>
      <p:sp>
        <p:nvSpPr>
          <p:cNvPr id="78" name="txt_37"/>
          <p:cNvSpPr txBox="1"/>
          <p:nvPr/>
        </p:nvSpPr>
        <p:spPr>
          <a:xfrm>
            <a:off x="731519" y="2749104"/>
            <a:ext cx="49377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FFFFF"/>
                </a:solidFill>
              </a:defRPr>
            </a:lvl1pPr>
          </a:lstStyle>
          <a:p>
            <a:pPr/>
            <a:r>
              <a:t>Fuzzy matching</a:t>
            </a:r>
          </a:p>
        </p:txBody>
      </p:sp>
      <p:sp>
        <p:nvSpPr>
          <p:cNvPr id="79" name="box_38"/>
          <p:cNvSpPr/>
          <p:nvPr/>
        </p:nvSpPr>
        <p:spPr>
          <a:xfrm>
            <a:off x="548640" y="3108960"/>
            <a:ext cx="5303521" cy="384049"/>
          </a:xfrm>
          <a:prstGeom prst="roundRect">
            <a:avLst>
              <a:gd name="adj" fmla="val 19048"/>
            </a:avLst>
          </a:prstGeom>
          <a:solidFill>
            <a:srgbClr val="162033"/>
          </a:solidFill>
          <a:ln w="12700">
            <a:miter lim="400000"/>
          </a:ln>
        </p:spPr>
        <p:txBody>
          <a:bodyPr lIns="45719" rIns="45719"/>
          <a:lstStyle/>
          <a:p>
            <a:pPr/>
          </a:p>
        </p:txBody>
      </p:sp>
      <p:sp>
        <p:nvSpPr>
          <p:cNvPr id="80" name="txt_39"/>
          <p:cNvSpPr txBox="1"/>
          <p:nvPr/>
        </p:nvSpPr>
        <p:spPr>
          <a:xfrm>
            <a:off x="731519" y="3206304"/>
            <a:ext cx="49377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FFFFF"/>
                </a:solidFill>
              </a:defRPr>
            </a:lvl1pPr>
          </a:lstStyle>
          <a:p>
            <a:pPr/>
            <a:r>
              <a:t>Document similarity</a:t>
            </a:r>
          </a:p>
        </p:txBody>
      </p:sp>
      <p:sp>
        <p:nvSpPr>
          <p:cNvPr id="81" name="box_40"/>
          <p:cNvSpPr/>
          <p:nvPr/>
        </p:nvSpPr>
        <p:spPr>
          <a:xfrm>
            <a:off x="548640" y="3566159"/>
            <a:ext cx="5303521" cy="384049"/>
          </a:xfrm>
          <a:prstGeom prst="roundRect">
            <a:avLst>
              <a:gd name="adj" fmla="val 19048"/>
            </a:avLst>
          </a:prstGeom>
          <a:solidFill>
            <a:srgbClr val="162033"/>
          </a:solidFill>
          <a:ln w="12700">
            <a:miter lim="400000"/>
          </a:ln>
        </p:spPr>
        <p:txBody>
          <a:bodyPr lIns="45719" rIns="45719"/>
          <a:lstStyle/>
          <a:p>
            <a:pPr/>
          </a:p>
        </p:txBody>
      </p:sp>
      <p:sp>
        <p:nvSpPr>
          <p:cNvPr id="82" name="txt_41"/>
          <p:cNvSpPr txBox="1"/>
          <p:nvPr/>
        </p:nvSpPr>
        <p:spPr>
          <a:xfrm>
            <a:off x="731519" y="3663504"/>
            <a:ext cx="49377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FFFFF"/>
                </a:solidFill>
              </a:defRPr>
            </a:lvl1pPr>
          </a:lstStyle>
          <a:p>
            <a:pPr/>
            <a:r>
              <a:t>Sequence alignment</a:t>
            </a:r>
          </a:p>
        </p:txBody>
      </p:sp>
      <p:sp>
        <p:nvSpPr>
          <p:cNvPr id="83" name="box_42"/>
          <p:cNvSpPr/>
          <p:nvPr/>
        </p:nvSpPr>
        <p:spPr>
          <a:xfrm>
            <a:off x="548640" y="4023359"/>
            <a:ext cx="5303521" cy="384049"/>
          </a:xfrm>
          <a:prstGeom prst="roundRect">
            <a:avLst>
              <a:gd name="adj" fmla="val 19048"/>
            </a:avLst>
          </a:prstGeom>
          <a:solidFill>
            <a:srgbClr val="162033"/>
          </a:solidFill>
          <a:ln w="12700">
            <a:miter lim="400000"/>
          </a:ln>
        </p:spPr>
        <p:txBody>
          <a:bodyPr lIns="45719" rIns="45719"/>
          <a:lstStyle/>
          <a:p>
            <a:pPr/>
          </a:p>
        </p:txBody>
      </p:sp>
      <p:sp>
        <p:nvSpPr>
          <p:cNvPr id="84" name="txt_43"/>
          <p:cNvSpPr txBox="1"/>
          <p:nvPr/>
        </p:nvSpPr>
        <p:spPr>
          <a:xfrm>
            <a:off x="731519" y="4120704"/>
            <a:ext cx="493776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FFFFFF"/>
                </a:solidFill>
              </a:defRPr>
            </a:lvl1pPr>
          </a:lstStyle>
          <a:p>
            <a:pPr/>
            <a:r>
              <a:t>Text indexing</a:t>
            </a:r>
          </a:p>
        </p:txBody>
      </p:sp>
      <p:sp>
        <p:nvSpPr>
          <p:cNvPr id="85" name="txt_44"/>
          <p:cNvSpPr txBox="1"/>
          <p:nvPr/>
        </p:nvSpPr>
        <p:spPr>
          <a:xfrm>
            <a:off x="548639" y="4526279"/>
            <a:ext cx="530352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B4C0D4"/>
                </a:solidFill>
              </a:defRPr>
            </a:lvl1pPr>
          </a:lstStyle>
          <a:p>
            <a:pPr/>
            <a:r>
              <a:t>The challenge is not only implementing them, but managing their execution as computational workloads with different CPU/RAM needs and dependencies.</a:t>
            </a:r>
          </a:p>
        </p:txBody>
      </p:sp>
      <p:sp>
        <p:nvSpPr>
          <p:cNvPr id="86" name="box_45"/>
          <p:cNvSpPr/>
          <p:nvPr/>
        </p:nvSpPr>
        <p:spPr>
          <a:xfrm>
            <a:off x="6309359" y="1280160"/>
            <a:ext cx="5303521" cy="4023360"/>
          </a:xfrm>
          <a:prstGeom prst="roundRect">
            <a:avLst>
              <a:gd name="adj" fmla="val 1818"/>
            </a:avLst>
          </a:prstGeom>
          <a:solidFill>
            <a:srgbClr val="162033"/>
          </a:solidFill>
          <a:ln w="19050">
            <a:solidFill>
              <a:schemeClr val="accent1"/>
            </a:solidFill>
          </a:ln>
        </p:spPr>
        <p:txBody>
          <a:bodyPr lIns="45719" rIns="45719"/>
          <a:lstStyle/>
          <a:p>
            <a:pPr/>
          </a:p>
        </p:txBody>
      </p:sp>
      <p:sp>
        <p:nvSpPr>
          <p:cNvPr id="87" name="txt_46"/>
          <p:cNvSpPr txBox="1"/>
          <p:nvPr/>
        </p:nvSpPr>
        <p:spPr>
          <a:xfrm>
            <a:off x="6583680" y="1508760"/>
            <a:ext cx="47548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chemeClr val="accent1"/>
                </a:solidFill>
              </a:defRPr>
            </a:lvl1pPr>
          </a:lstStyle>
          <a:p>
            <a:pPr/>
            <a:r>
              <a:t>OUR OBJECTIVE</a:t>
            </a:r>
          </a:p>
        </p:txBody>
      </p:sp>
      <p:sp>
        <p:nvSpPr>
          <p:cNvPr id="88" name="txt_47"/>
          <p:cNvSpPr txBox="1"/>
          <p:nvPr/>
        </p:nvSpPr>
        <p:spPr>
          <a:xfrm>
            <a:off x="6583680" y="1920239"/>
            <a:ext cx="4754881" cy="11844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600">
                <a:solidFill>
                  <a:srgbClr val="FFFFFF"/>
                </a:solidFill>
              </a:defRPr>
            </a:lvl1pPr>
          </a:lstStyle>
          <a:p>
            <a:pPr/>
            <a:r>
              <a:t>Build one engine that combines DSA algorithms with dependency-aware resource scheduling.</a:t>
            </a:r>
          </a:p>
        </p:txBody>
      </p:sp>
      <p:sp>
        <p:nvSpPr>
          <p:cNvPr id="89" name="txt_48"/>
          <p:cNvSpPr txBox="1"/>
          <p:nvPr/>
        </p:nvSpPr>
        <p:spPr>
          <a:xfrm>
            <a:off x="6583680" y="3749040"/>
            <a:ext cx="4754881"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B4C0D4"/>
                </a:solidFill>
              </a:defRPr>
            </a:lvl1pPr>
          </a:lstStyle>
          <a:p>
            <a:pPr/>
            <a:r>
              <a:t>Text algorithms solve the user's problem. The scheduler decides when and where each workload runs.</a:t>
            </a:r>
          </a:p>
        </p:txBody>
      </p:sp>
      <p:sp>
        <p:nvSpPr>
          <p:cNvPr id="90" name="txt_49"/>
          <p:cNvSpPr txBox="1"/>
          <p:nvPr/>
        </p:nvSpPr>
        <p:spPr>
          <a:xfrm>
            <a:off x="548640" y="5468111"/>
            <a:ext cx="7315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THE SOLUTION - COMPLETE FLOW</a:t>
            </a:r>
          </a:p>
        </p:txBody>
      </p:sp>
      <p:sp>
        <p:nvSpPr>
          <p:cNvPr id="91" name="box_50"/>
          <p:cNvSpPr/>
          <p:nvPr/>
        </p:nvSpPr>
        <p:spPr>
          <a:xfrm>
            <a:off x="548640"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92" name="txt_51"/>
          <p:cNvSpPr txBox="1"/>
          <p:nvPr/>
        </p:nvSpPr>
        <p:spPr>
          <a:xfrm>
            <a:off x="594360" y="5965751"/>
            <a:ext cx="111556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Problem</a:t>
            </a:r>
          </a:p>
        </p:txBody>
      </p:sp>
      <p:sp>
        <p:nvSpPr>
          <p:cNvPr id="93" name="arrow_52"/>
          <p:cNvSpPr/>
          <p:nvPr/>
        </p:nvSpPr>
        <p:spPr>
          <a:xfrm>
            <a:off x="1783079" y="6044184"/>
            <a:ext cx="146305" cy="1"/>
          </a:xfrm>
          <a:prstGeom prst="line">
            <a:avLst/>
          </a:prstGeom>
          <a:ln w="22225">
            <a:solidFill>
              <a:schemeClr val="accent1"/>
            </a:solidFill>
            <a:tailEnd type="triangle"/>
          </a:ln>
        </p:spPr>
        <p:txBody>
          <a:bodyPr lIns="45719" rIns="45719"/>
          <a:lstStyle/>
          <a:p>
            <a:pPr/>
          </a:p>
        </p:txBody>
      </p:sp>
      <p:sp>
        <p:nvSpPr>
          <p:cNvPr id="94" name="box_53"/>
          <p:cNvSpPr/>
          <p:nvPr/>
        </p:nvSpPr>
        <p:spPr>
          <a:xfrm>
            <a:off x="1956816"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95" name="txt_54"/>
          <p:cNvSpPr txBox="1"/>
          <p:nvPr/>
        </p:nvSpPr>
        <p:spPr>
          <a:xfrm>
            <a:off x="2002535" y="5870501"/>
            <a:ext cx="1115569"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Algorithm Selection</a:t>
            </a:r>
          </a:p>
        </p:txBody>
      </p:sp>
      <p:sp>
        <p:nvSpPr>
          <p:cNvPr id="96" name="arrow_55"/>
          <p:cNvSpPr/>
          <p:nvPr/>
        </p:nvSpPr>
        <p:spPr>
          <a:xfrm>
            <a:off x="3191255" y="6044184"/>
            <a:ext cx="146305" cy="1"/>
          </a:xfrm>
          <a:prstGeom prst="line">
            <a:avLst/>
          </a:prstGeom>
          <a:ln w="22225">
            <a:solidFill>
              <a:schemeClr val="accent1"/>
            </a:solidFill>
            <a:tailEnd type="triangle"/>
          </a:ln>
        </p:spPr>
        <p:txBody>
          <a:bodyPr lIns="45719" rIns="45719"/>
          <a:lstStyle/>
          <a:p>
            <a:pPr/>
          </a:p>
        </p:txBody>
      </p:sp>
      <p:sp>
        <p:nvSpPr>
          <p:cNvPr id="97" name="box_56"/>
          <p:cNvSpPr/>
          <p:nvPr/>
        </p:nvSpPr>
        <p:spPr>
          <a:xfrm>
            <a:off x="3364991"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98" name="txt_57"/>
          <p:cNvSpPr txBox="1"/>
          <p:nvPr/>
        </p:nvSpPr>
        <p:spPr>
          <a:xfrm>
            <a:off x="3410711" y="5965751"/>
            <a:ext cx="11155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Task Creation</a:t>
            </a:r>
          </a:p>
        </p:txBody>
      </p:sp>
      <p:sp>
        <p:nvSpPr>
          <p:cNvPr id="99" name="arrow_58"/>
          <p:cNvSpPr/>
          <p:nvPr/>
        </p:nvSpPr>
        <p:spPr>
          <a:xfrm>
            <a:off x="4599432" y="6044184"/>
            <a:ext cx="146305" cy="1"/>
          </a:xfrm>
          <a:prstGeom prst="line">
            <a:avLst/>
          </a:prstGeom>
          <a:ln w="22225">
            <a:solidFill>
              <a:schemeClr val="accent1"/>
            </a:solidFill>
            <a:tailEnd type="triangle"/>
          </a:ln>
        </p:spPr>
        <p:txBody>
          <a:bodyPr lIns="45719" rIns="45719"/>
          <a:lstStyle/>
          <a:p>
            <a:pPr/>
          </a:p>
        </p:txBody>
      </p:sp>
      <p:sp>
        <p:nvSpPr>
          <p:cNvPr id="100" name="box_59"/>
          <p:cNvSpPr/>
          <p:nvPr/>
        </p:nvSpPr>
        <p:spPr>
          <a:xfrm>
            <a:off x="4773167"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101" name="txt_60"/>
          <p:cNvSpPr txBox="1"/>
          <p:nvPr/>
        </p:nvSpPr>
        <p:spPr>
          <a:xfrm>
            <a:off x="4818888" y="5965751"/>
            <a:ext cx="11155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Dependency DAG</a:t>
            </a:r>
          </a:p>
        </p:txBody>
      </p:sp>
      <p:sp>
        <p:nvSpPr>
          <p:cNvPr id="102" name="arrow_61"/>
          <p:cNvSpPr/>
          <p:nvPr/>
        </p:nvSpPr>
        <p:spPr>
          <a:xfrm>
            <a:off x="6007608" y="6044184"/>
            <a:ext cx="146305" cy="1"/>
          </a:xfrm>
          <a:prstGeom prst="line">
            <a:avLst/>
          </a:prstGeom>
          <a:ln w="22225">
            <a:solidFill>
              <a:schemeClr val="accent1"/>
            </a:solidFill>
            <a:tailEnd type="triangle"/>
          </a:ln>
        </p:spPr>
        <p:txBody>
          <a:bodyPr lIns="45719" rIns="45719"/>
          <a:lstStyle/>
          <a:p>
            <a:pPr/>
          </a:p>
        </p:txBody>
      </p:sp>
      <p:sp>
        <p:nvSpPr>
          <p:cNvPr id="103" name="box_62"/>
          <p:cNvSpPr/>
          <p:nvPr/>
        </p:nvSpPr>
        <p:spPr>
          <a:xfrm>
            <a:off x="6181344"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104" name="txt_63"/>
          <p:cNvSpPr txBox="1"/>
          <p:nvPr/>
        </p:nvSpPr>
        <p:spPr>
          <a:xfrm>
            <a:off x="6227064" y="5965751"/>
            <a:ext cx="11155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HEFT Scheduling</a:t>
            </a:r>
          </a:p>
        </p:txBody>
      </p:sp>
      <p:sp>
        <p:nvSpPr>
          <p:cNvPr id="105" name="arrow_64"/>
          <p:cNvSpPr/>
          <p:nvPr/>
        </p:nvSpPr>
        <p:spPr>
          <a:xfrm>
            <a:off x="7415783" y="6044184"/>
            <a:ext cx="146305" cy="1"/>
          </a:xfrm>
          <a:prstGeom prst="line">
            <a:avLst/>
          </a:prstGeom>
          <a:ln w="22225">
            <a:solidFill>
              <a:schemeClr val="accent1"/>
            </a:solidFill>
            <a:tailEnd type="triangle"/>
          </a:ln>
        </p:spPr>
        <p:txBody>
          <a:bodyPr lIns="45719" rIns="45719"/>
          <a:lstStyle/>
          <a:p>
            <a:pPr/>
          </a:p>
        </p:txBody>
      </p:sp>
      <p:sp>
        <p:nvSpPr>
          <p:cNvPr id="106" name="box_65"/>
          <p:cNvSpPr/>
          <p:nvPr/>
        </p:nvSpPr>
        <p:spPr>
          <a:xfrm>
            <a:off x="7589519"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107" name="txt_66"/>
          <p:cNvSpPr txBox="1"/>
          <p:nvPr/>
        </p:nvSpPr>
        <p:spPr>
          <a:xfrm>
            <a:off x="7635240" y="5870501"/>
            <a:ext cx="1115569"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Resource Assignment</a:t>
            </a:r>
          </a:p>
        </p:txBody>
      </p:sp>
      <p:sp>
        <p:nvSpPr>
          <p:cNvPr id="108" name="arrow_67"/>
          <p:cNvSpPr/>
          <p:nvPr/>
        </p:nvSpPr>
        <p:spPr>
          <a:xfrm>
            <a:off x="8823959" y="6044184"/>
            <a:ext cx="146305" cy="1"/>
          </a:xfrm>
          <a:prstGeom prst="line">
            <a:avLst/>
          </a:prstGeom>
          <a:ln w="22225">
            <a:solidFill>
              <a:schemeClr val="accent1"/>
            </a:solidFill>
            <a:tailEnd type="triangle"/>
          </a:ln>
        </p:spPr>
        <p:txBody>
          <a:bodyPr lIns="45719" rIns="45719"/>
          <a:lstStyle/>
          <a:p>
            <a:pPr/>
          </a:p>
        </p:txBody>
      </p:sp>
      <p:sp>
        <p:nvSpPr>
          <p:cNvPr id="109" name="box_68"/>
          <p:cNvSpPr/>
          <p:nvPr/>
        </p:nvSpPr>
        <p:spPr>
          <a:xfrm>
            <a:off x="8997695"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110" name="txt_69"/>
          <p:cNvSpPr txBox="1"/>
          <p:nvPr/>
        </p:nvSpPr>
        <p:spPr>
          <a:xfrm>
            <a:off x="9043416" y="5965751"/>
            <a:ext cx="11155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Execution</a:t>
            </a:r>
          </a:p>
        </p:txBody>
      </p:sp>
      <p:sp>
        <p:nvSpPr>
          <p:cNvPr id="111" name="arrow_70"/>
          <p:cNvSpPr/>
          <p:nvPr/>
        </p:nvSpPr>
        <p:spPr>
          <a:xfrm>
            <a:off x="10232135" y="6044184"/>
            <a:ext cx="146305" cy="1"/>
          </a:xfrm>
          <a:prstGeom prst="line">
            <a:avLst/>
          </a:prstGeom>
          <a:ln w="22225">
            <a:solidFill>
              <a:schemeClr val="accent1"/>
            </a:solidFill>
            <a:tailEnd type="triangle"/>
          </a:ln>
        </p:spPr>
        <p:txBody>
          <a:bodyPr lIns="45719" rIns="45719"/>
          <a:lstStyle/>
          <a:p>
            <a:pPr/>
          </a:p>
        </p:txBody>
      </p:sp>
      <p:sp>
        <p:nvSpPr>
          <p:cNvPr id="112" name="box_71"/>
          <p:cNvSpPr/>
          <p:nvPr/>
        </p:nvSpPr>
        <p:spPr>
          <a:xfrm>
            <a:off x="10405871" y="5760720"/>
            <a:ext cx="1207009" cy="566929"/>
          </a:xfrm>
          <a:prstGeom prst="roundRect">
            <a:avLst>
              <a:gd name="adj" fmla="val 12903"/>
            </a:avLst>
          </a:prstGeom>
          <a:solidFill>
            <a:srgbClr val="162033"/>
          </a:solidFill>
          <a:ln w="15875">
            <a:solidFill>
              <a:schemeClr val="accent1"/>
            </a:solidFill>
          </a:ln>
        </p:spPr>
        <p:txBody>
          <a:bodyPr lIns="45719" rIns="45719"/>
          <a:lstStyle/>
          <a:p>
            <a:pPr/>
          </a:p>
        </p:txBody>
      </p:sp>
      <p:sp>
        <p:nvSpPr>
          <p:cNvPr id="113" name="txt_72"/>
          <p:cNvSpPr txBox="1"/>
          <p:nvPr/>
        </p:nvSpPr>
        <p:spPr>
          <a:xfrm>
            <a:off x="10451592" y="5965751"/>
            <a:ext cx="11155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Result</a:t>
            </a:r>
          </a:p>
        </p:txBody>
      </p:sp>
      <p:sp>
        <p:nvSpPr>
          <p:cNvPr id="114"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ph type="title"/>
          </p:nvPr>
        </p:nvSpPr>
        <p:spPr>
          <a:xfrm>
            <a:off x="548639" y="274319"/>
            <a:ext cx="11064242" cy="777242"/>
          </a:xfrm>
          <a:prstGeom prst="rect">
            <a:avLst/>
          </a:prstGeom>
        </p:spPr>
        <p:txBody>
          <a:bodyPr lIns="0" tIns="0" rIns="0" bIns="0" anchor="ctr"/>
          <a:lstStyle/>
          <a:p>
            <a:pPr/>
            <a:r>
              <a:t>DSA algorithms: what, why, and cost</a:t>
            </a:r>
          </a:p>
        </p:txBody>
      </p:sp>
      <p:graphicFrame>
        <p:nvGraphicFramePr>
          <p:cNvPr id="119" name="algo_table"/>
          <p:cNvGraphicFramePr/>
          <p:nvPr/>
        </p:nvGraphicFramePr>
        <p:xfrm>
          <a:off x="548640" y="1188719"/>
          <a:ext cx="11064240" cy="469087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94560"/>
                <a:gridCol w="2286000"/>
                <a:gridCol w="3657600"/>
                <a:gridCol w="2926080"/>
              </a:tblGrid>
              <a:tr h="347472">
                <a:tc>
                  <a:txBody>
                    <a:bodyPr/>
                    <a:lstStyle/>
                    <a:p>
                      <a:pPr>
                        <a:defRPr sz="1800">
                          <a:solidFill>
                            <a:srgbClr val="000000"/>
                          </a:solidFill>
                        </a:defRPr>
                      </a:pPr>
                      <a:r>
                        <a:rPr b="1" sz="1200">
                          <a:solidFill>
                            <a:srgbClr val="0B1220"/>
                          </a:solidFill>
                        </a:rPr>
                        <a:t>Problem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defRPr sz="1800">
                          <a:solidFill>
                            <a:srgbClr val="000000"/>
                          </a:solidFill>
                        </a:defRPr>
                      </a:pPr>
                      <a:r>
                        <a:rPr b="1" sz="1200">
                          <a:solidFill>
                            <a:srgbClr val="0B1220"/>
                          </a:solidFill>
                        </a:rPr>
                        <a:t>Algorithm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defRPr sz="1800">
                          <a:solidFill>
                            <a:srgbClr val="000000"/>
                          </a:solidFill>
                        </a:defRPr>
                      </a:pPr>
                      <a:r>
                        <a:rPr b="1" sz="1200">
                          <a:solidFill>
                            <a:srgbClr val="0B1220"/>
                          </a:solidFill>
                        </a:rPr>
                        <a:t>Why used</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defRPr sz="1800">
                          <a:solidFill>
                            <a:srgbClr val="000000"/>
                          </a:solidFill>
                        </a:defRPr>
                      </a:pPr>
                      <a:r>
                        <a:rPr b="1" sz="1200">
                          <a:solidFill>
                            <a:srgbClr val="0B1220"/>
                          </a:solidFill>
                        </a:rPr>
                        <a:t>Complexity (as implemented)</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r>
              <a:tr h="310896">
                <a:tc gridSpan="4">
                  <a:txBody>
                    <a:bodyPr/>
                    <a:lstStyle/>
                    <a:p>
                      <a:pPr>
                        <a:defRPr sz="1800">
                          <a:solidFill>
                            <a:srgbClr val="000000"/>
                          </a:solidFill>
                        </a:defRPr>
                      </a:pPr>
                      <a:r>
                        <a:rPr b="1" sz="1200">
                          <a:solidFill>
                            <a:schemeClr val="accent2"/>
                          </a:solidFill>
                        </a:rPr>
                        <a:t>CORE TEXT-PROCESSING PIPELINE  (the 6 pipeline stages)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0B1220"/>
                    </a:solidFill>
                  </a:tcPr>
                </a:tc>
                <a:tc hMerge="1">
                  <a:tcPr/>
                </a:tc>
                <a:tc hMerge="1">
                  <a:tcPr/>
                </a:tc>
                <a:tc hMerge="1">
                  <a:tcPr/>
                </a:tc>
              </a:tr>
              <a:tr h="411480">
                <a:tc>
                  <a:txBody>
                    <a:bodyPr/>
                    <a:lstStyle/>
                    <a:p>
                      <a:pPr>
                        <a:defRPr sz="1800">
                          <a:solidFill>
                            <a:srgbClr val="000000"/>
                          </a:solidFill>
                        </a:defRPr>
                      </a:pPr>
                      <a:r>
                        <a:rPr sz="1300">
                          <a:solidFill>
                            <a:srgbClr val="FFFFFF"/>
                          </a:solidFill>
                        </a:rPr>
                        <a:t>Exact pattern search</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KMP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LPS failure table: text pointer never moves back</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O(n + 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502919">
                <a:tc>
                  <a:txBody>
                    <a:bodyPr/>
                    <a:lstStyle/>
                    <a:p>
                      <a:pPr>
                        <a:defRPr sz="1800">
                          <a:solidFill>
                            <a:srgbClr val="000000"/>
                          </a:solidFill>
                        </a:defRPr>
                      </a:pPr>
                      <a:r>
                        <a:rPr sz="1300">
                          <a:solidFill>
                            <a:srgbClr val="FFFFFF"/>
                          </a:solidFill>
                        </a:rPr>
                        <a:t>Hash-based search</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Rabin-Karp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Rolling hash; every hash hit verified character by character</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Expected O(n + m); worst case O(nm)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411480">
                <a:tc>
                  <a:txBody>
                    <a:bodyPr/>
                    <a:lstStyle/>
                    <a:p>
                      <a:pPr>
                        <a:defRPr sz="1800">
                          <a:solidFill>
                            <a:srgbClr val="000000"/>
                          </a:solidFill>
                        </a:defRPr>
                      </a:pPr>
                      <a:r>
                        <a:rPr sz="1300">
                          <a:solidFill>
                            <a:srgbClr val="FFFFFF"/>
                          </a:solidFill>
                        </a:rPr>
                        <a:t>Pattern structure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Z Algorithm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Z-array over pattern + "$" + text</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O(n + 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566928">
                <a:tc>
                  <a:txBody>
                    <a:bodyPr/>
                    <a:lstStyle/>
                    <a:p>
                      <a:pPr>
                        <a:defRPr sz="1800">
                          <a:solidFill>
                            <a:srgbClr val="000000"/>
                          </a:solidFill>
                        </a:defRPr>
                      </a:pPr>
                      <a:r>
                        <a:rPr sz="1300">
                          <a:solidFill>
                            <a:srgbClr val="FFFFFF"/>
                          </a:solidFill>
                        </a:rPr>
                        <a:t>Text indexing / similarity</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Suffix Array + LCP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Longest shared substring between two documents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Build: insertion sort, O(n²) compares*. LCP: O(n²) worst</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411480">
                <a:tc>
                  <a:txBody>
                    <a:bodyPr/>
                    <a:lstStyle/>
                    <a:p>
                      <a:pPr>
                        <a:defRPr sz="1800">
                          <a:solidFill>
                            <a:srgbClr val="000000"/>
                          </a:solidFill>
                        </a:defRPr>
                      </a:pPr>
                      <a:r>
                        <a:rPr sz="1300">
                          <a:solidFill>
                            <a:srgbClr val="FFFFFF"/>
                          </a:solidFill>
                        </a:rPr>
                        <a:t>Fuzzy matching</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Edit Distance (DP)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Measures how different two texts are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O(nm) time and space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411480">
                <a:tc>
                  <a:txBody>
                    <a:bodyPr/>
                    <a:lstStyle/>
                    <a:p>
                      <a:pPr>
                        <a:defRPr sz="1800">
                          <a:solidFill>
                            <a:srgbClr val="000000"/>
                          </a:solidFill>
                        </a:defRPr>
                      </a:pPr>
                      <a:r>
                        <a:rPr sz="1300">
                          <a:solidFill>
                            <a:srgbClr val="FFFFFF"/>
                          </a:solidFill>
                        </a:rPr>
                        <a:t>Sequence alignment</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DP, Needleman-Wunsch style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Global alignment: match +2, mismatch −1, gap −2</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O(nm)</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310896">
                <a:tc gridSpan="4">
                  <a:txBody>
                    <a:bodyPr/>
                    <a:lstStyle/>
                    <a:p>
                      <a:pPr>
                        <a:defRPr sz="1800">
                          <a:solidFill>
                            <a:srgbClr val="000000"/>
                          </a:solidFill>
                        </a:defRPr>
                      </a:pPr>
                      <a:r>
                        <a:rPr b="1" sz="1200">
                          <a:solidFill>
                            <a:schemeClr val="accent4"/>
                          </a:solidFill>
                        </a:rPr>
                        <a:t>ADVANCED DSA DEMONSTRATIONS  (separate menu options, not in the 6-stage pipeline)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0B1220"/>
                    </a:solidFill>
                  </a:tcPr>
                </a:tc>
                <a:tc hMerge="1">
                  <a:tcPr/>
                </a:tc>
                <a:tc hMerge="1">
                  <a:tcPr/>
                </a:tc>
                <a:tc hMerge="1">
                  <a:tcPr/>
                </a:tc>
              </a:tr>
              <a:tr h="502919">
                <a:tc>
                  <a:txBody>
                    <a:bodyPr/>
                    <a:lstStyle/>
                    <a:p>
                      <a:pPr>
                        <a:defRPr sz="1800">
                          <a:solidFill>
                            <a:srgbClr val="000000"/>
                          </a:solidFill>
                        </a:defRPr>
                      </a:pPr>
                      <a:r>
                        <a:rPr sz="1300">
                          <a:solidFill>
                            <a:srgbClr val="FFFFFF"/>
                          </a:solidFill>
                        </a:rPr>
                        <a:t>Citation flow</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Edmonds-Karp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BFS augmenting paths; max flow on a 12-node demo network</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O(VE²)</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502919">
                <a:tc>
                  <a:txBody>
                    <a:bodyPr/>
                    <a:lstStyle/>
                    <a:p>
                      <a:pPr>
                        <a:defRPr sz="1800">
                          <a:solidFill>
                            <a:srgbClr val="000000"/>
                          </a:solidFill>
                        </a:defRPr>
                      </a:pPr>
                      <a:r>
                        <a:rPr sz="1300">
                          <a:solidFill>
                            <a:srgbClr val="FFFFFF"/>
                          </a:solidFill>
                        </a:rPr>
                        <a:t>Primality testing</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b="1" sz="1300">
                          <a:solidFill>
                            <a:schemeClr val="accent1"/>
                          </a:solidFill>
                        </a:rPr>
                        <a:t>Miller-Rabin</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Randomized test; 8 witness rounds; supports n up to 2×10⁹</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defRPr sz="1800">
                          <a:solidFill>
                            <a:srgbClr val="000000"/>
                          </a:solidFill>
                        </a:defRPr>
                      </a:pPr>
                      <a:r>
                        <a:rPr sz="1300">
                          <a:solidFill>
                            <a:srgbClr val="FFFFFF"/>
                          </a:solidFill>
                        </a:rPr>
                        <a:t>O(k log n) modular multiplications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bl>
          </a:graphicData>
        </a:graphic>
      </p:graphicFrame>
      <p:sp>
        <p:nvSpPr>
          <p:cNvPr id="120" name="txt_73"/>
          <p:cNvSpPr txBox="1"/>
          <p:nvPr/>
        </p:nvSpPr>
        <p:spPr>
          <a:xfrm>
            <a:off x="548639" y="5989320"/>
            <a:ext cx="110642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 n = text length, m = pattern length. Suffix array is built manually by insertion sort, which is fine for short documents (D04 + D06 index = 540 suffixes). O(n log n) construction is future scope.</a:t>
            </a:r>
          </a:p>
        </p:txBody>
      </p:sp>
      <p:sp>
        <p:nvSpPr>
          <p:cNvPr id="121"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ext 0"/>
          <p:cNvSpPr txBox="1"/>
          <p:nvPr>
            <p:ph type="title"/>
          </p:nvPr>
        </p:nvSpPr>
        <p:spPr>
          <a:xfrm>
            <a:off x="548639" y="274319"/>
            <a:ext cx="11064242" cy="777242"/>
          </a:xfrm>
          <a:prstGeom prst="rect">
            <a:avLst/>
          </a:prstGeom>
        </p:spPr>
        <p:txBody>
          <a:bodyPr lIns="0" tIns="0" rIns="0" bIns="0" anchor="ctr"/>
          <a:lstStyle/>
          <a:p>
            <a:pPr/>
            <a:r>
              <a:t>One pipeline, not separate algorithms</a:t>
            </a:r>
          </a:p>
        </p:txBody>
      </p:sp>
      <p:sp>
        <p:nvSpPr>
          <p:cNvPr id="126" name="txt_74"/>
          <p:cNvSpPr txBox="1"/>
          <p:nvPr/>
        </p:nvSpPr>
        <p:spPr>
          <a:xfrm>
            <a:off x="548639" y="1188719"/>
            <a:ext cx="3017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ROUND 1: independent tasks run in parallel</a:t>
            </a:r>
          </a:p>
        </p:txBody>
      </p:sp>
      <p:sp>
        <p:nvSpPr>
          <p:cNvPr id="127" name="txt_75"/>
          <p:cNvSpPr txBox="1"/>
          <p:nvPr/>
        </p:nvSpPr>
        <p:spPr>
          <a:xfrm>
            <a:off x="4571999" y="1188719"/>
            <a:ext cx="3017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ROUND 2</a:t>
            </a:r>
          </a:p>
        </p:txBody>
      </p:sp>
      <p:sp>
        <p:nvSpPr>
          <p:cNvPr id="128" name="txt_76"/>
          <p:cNvSpPr txBox="1"/>
          <p:nvPr/>
        </p:nvSpPr>
        <p:spPr>
          <a:xfrm>
            <a:off x="8595359" y="1188719"/>
            <a:ext cx="30175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ROUND 3</a:t>
            </a:r>
          </a:p>
        </p:txBody>
      </p:sp>
      <p:sp>
        <p:nvSpPr>
          <p:cNvPr id="129" name="arrow_77"/>
          <p:cNvSpPr/>
          <p:nvPr/>
        </p:nvSpPr>
        <p:spPr>
          <a:xfrm>
            <a:off x="3566159" y="1988820"/>
            <a:ext cx="978409" cy="548641"/>
          </a:xfrm>
          <a:prstGeom prst="line">
            <a:avLst/>
          </a:prstGeom>
          <a:ln w="19050">
            <a:solidFill>
              <a:srgbClr val="B4C0D4"/>
            </a:solidFill>
            <a:tailEnd type="triangle"/>
          </a:ln>
        </p:spPr>
        <p:txBody>
          <a:bodyPr lIns="45719" rIns="45719"/>
          <a:lstStyle/>
          <a:p>
            <a:pPr/>
          </a:p>
        </p:txBody>
      </p:sp>
      <p:sp>
        <p:nvSpPr>
          <p:cNvPr id="130" name="arrow_78"/>
          <p:cNvSpPr/>
          <p:nvPr/>
        </p:nvSpPr>
        <p:spPr>
          <a:xfrm flipV="1">
            <a:off x="3566159" y="2537460"/>
            <a:ext cx="978409" cy="548641"/>
          </a:xfrm>
          <a:prstGeom prst="line">
            <a:avLst/>
          </a:prstGeom>
          <a:ln w="19050">
            <a:solidFill>
              <a:srgbClr val="B4C0D4"/>
            </a:solidFill>
            <a:tailEnd type="triangle"/>
          </a:ln>
        </p:spPr>
        <p:txBody>
          <a:bodyPr lIns="45719" rIns="45719"/>
          <a:lstStyle/>
          <a:p>
            <a:pPr/>
          </a:p>
        </p:txBody>
      </p:sp>
      <p:sp>
        <p:nvSpPr>
          <p:cNvPr id="131" name="arrow_79"/>
          <p:cNvSpPr/>
          <p:nvPr/>
        </p:nvSpPr>
        <p:spPr>
          <a:xfrm flipV="1">
            <a:off x="3566159" y="2537460"/>
            <a:ext cx="978409" cy="1645921"/>
          </a:xfrm>
          <a:prstGeom prst="line">
            <a:avLst/>
          </a:prstGeom>
          <a:ln w="19050">
            <a:solidFill>
              <a:srgbClr val="B4C0D4"/>
            </a:solidFill>
            <a:tailEnd type="triangle"/>
          </a:ln>
        </p:spPr>
        <p:txBody>
          <a:bodyPr lIns="45719" rIns="45719"/>
          <a:lstStyle/>
          <a:p>
            <a:pPr/>
          </a:p>
        </p:txBody>
      </p:sp>
      <p:sp>
        <p:nvSpPr>
          <p:cNvPr id="132" name="arrow_80"/>
          <p:cNvSpPr/>
          <p:nvPr/>
        </p:nvSpPr>
        <p:spPr>
          <a:xfrm>
            <a:off x="3566159" y="4183379"/>
            <a:ext cx="978409" cy="1"/>
          </a:xfrm>
          <a:prstGeom prst="line">
            <a:avLst/>
          </a:prstGeom>
          <a:ln w="19050">
            <a:solidFill>
              <a:srgbClr val="B4C0D4"/>
            </a:solidFill>
            <a:tailEnd type="triangle"/>
          </a:ln>
        </p:spPr>
        <p:txBody>
          <a:bodyPr lIns="45719" rIns="45719"/>
          <a:lstStyle/>
          <a:p>
            <a:pPr/>
          </a:p>
        </p:txBody>
      </p:sp>
      <p:sp>
        <p:nvSpPr>
          <p:cNvPr id="133" name="arrow_81"/>
          <p:cNvSpPr/>
          <p:nvPr/>
        </p:nvSpPr>
        <p:spPr>
          <a:xfrm>
            <a:off x="7589519" y="2537460"/>
            <a:ext cx="978409" cy="822961"/>
          </a:xfrm>
          <a:prstGeom prst="line">
            <a:avLst/>
          </a:prstGeom>
          <a:ln w="19050">
            <a:solidFill>
              <a:srgbClr val="B4C0D4"/>
            </a:solidFill>
            <a:tailEnd type="triangle"/>
          </a:ln>
        </p:spPr>
        <p:txBody>
          <a:bodyPr lIns="45719" rIns="45719"/>
          <a:lstStyle/>
          <a:p>
            <a:pPr/>
          </a:p>
        </p:txBody>
      </p:sp>
      <p:sp>
        <p:nvSpPr>
          <p:cNvPr id="134" name="arrow_82"/>
          <p:cNvSpPr/>
          <p:nvPr/>
        </p:nvSpPr>
        <p:spPr>
          <a:xfrm flipV="1">
            <a:off x="7589519" y="3360420"/>
            <a:ext cx="978409" cy="822961"/>
          </a:xfrm>
          <a:prstGeom prst="line">
            <a:avLst/>
          </a:prstGeom>
          <a:ln w="19050">
            <a:solidFill>
              <a:srgbClr val="B4C0D4"/>
            </a:solidFill>
            <a:tailEnd type="triangle"/>
          </a:ln>
        </p:spPr>
        <p:txBody>
          <a:bodyPr lIns="45719" rIns="45719"/>
          <a:lstStyle/>
          <a:p>
            <a:pPr/>
          </a:p>
        </p:txBody>
      </p:sp>
      <p:sp>
        <p:nvSpPr>
          <p:cNvPr id="135" name="box_83"/>
          <p:cNvSpPr/>
          <p:nvPr/>
        </p:nvSpPr>
        <p:spPr>
          <a:xfrm>
            <a:off x="548640" y="1554480"/>
            <a:ext cx="3017521" cy="868681"/>
          </a:xfrm>
          <a:prstGeom prst="roundRect">
            <a:avLst>
              <a:gd name="adj" fmla="val 8421"/>
            </a:avLst>
          </a:prstGeom>
          <a:solidFill>
            <a:srgbClr val="162033"/>
          </a:solidFill>
          <a:ln w="19050">
            <a:solidFill>
              <a:schemeClr val="accent1"/>
            </a:solidFill>
          </a:ln>
        </p:spPr>
        <p:txBody>
          <a:bodyPr lIns="45719" rIns="45719"/>
          <a:lstStyle/>
          <a:p>
            <a:pPr/>
          </a:p>
        </p:txBody>
      </p:sp>
      <p:sp>
        <p:nvSpPr>
          <p:cNvPr id="136" name="txt_84"/>
          <p:cNvSpPr txBox="1"/>
          <p:nvPr/>
        </p:nvSpPr>
        <p:spPr>
          <a:xfrm>
            <a:off x="685800" y="1664207"/>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1  Exact Pattern Search</a:t>
            </a:r>
          </a:p>
        </p:txBody>
      </p:sp>
      <p:sp>
        <p:nvSpPr>
          <p:cNvPr id="137" name="txt_85"/>
          <p:cNvSpPr txBox="1"/>
          <p:nvPr/>
        </p:nvSpPr>
        <p:spPr>
          <a:xfrm>
            <a:off x="685800" y="2029967"/>
            <a:ext cx="27432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1"/>
                </a:solidFill>
              </a:defRPr>
            </a:lvl1pPr>
          </a:lstStyle>
          <a:p>
            <a:pPr/>
            <a:r>
              <a:t>KMP</a:t>
            </a:r>
          </a:p>
        </p:txBody>
      </p:sp>
      <p:sp>
        <p:nvSpPr>
          <p:cNvPr id="138" name="box_86"/>
          <p:cNvSpPr/>
          <p:nvPr/>
        </p:nvSpPr>
        <p:spPr>
          <a:xfrm>
            <a:off x="548640" y="2651760"/>
            <a:ext cx="3017521" cy="868681"/>
          </a:xfrm>
          <a:prstGeom prst="roundRect">
            <a:avLst>
              <a:gd name="adj" fmla="val 8421"/>
            </a:avLst>
          </a:prstGeom>
          <a:solidFill>
            <a:srgbClr val="162033"/>
          </a:solidFill>
          <a:ln w="19050">
            <a:solidFill>
              <a:schemeClr val="accent1"/>
            </a:solidFill>
          </a:ln>
        </p:spPr>
        <p:txBody>
          <a:bodyPr lIns="45719" rIns="45719"/>
          <a:lstStyle/>
          <a:p>
            <a:pPr/>
          </a:p>
        </p:txBody>
      </p:sp>
      <p:sp>
        <p:nvSpPr>
          <p:cNvPr id="139" name="txt_87"/>
          <p:cNvSpPr txBox="1"/>
          <p:nvPr/>
        </p:nvSpPr>
        <p:spPr>
          <a:xfrm>
            <a:off x="685800" y="2761488"/>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2  Keyword Verification</a:t>
            </a:r>
          </a:p>
        </p:txBody>
      </p:sp>
      <p:sp>
        <p:nvSpPr>
          <p:cNvPr id="140" name="txt_88"/>
          <p:cNvSpPr txBox="1"/>
          <p:nvPr/>
        </p:nvSpPr>
        <p:spPr>
          <a:xfrm>
            <a:off x="685800" y="3127248"/>
            <a:ext cx="274320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1"/>
                </a:solidFill>
              </a:defRPr>
            </a:lvl1pPr>
          </a:lstStyle>
          <a:p>
            <a:pPr/>
            <a:r>
              <a:t>Rabin-Karp</a:t>
            </a:r>
          </a:p>
        </p:txBody>
      </p:sp>
      <p:sp>
        <p:nvSpPr>
          <p:cNvPr id="141" name="box_89"/>
          <p:cNvSpPr/>
          <p:nvPr/>
        </p:nvSpPr>
        <p:spPr>
          <a:xfrm>
            <a:off x="548640" y="3749040"/>
            <a:ext cx="3017521" cy="868681"/>
          </a:xfrm>
          <a:prstGeom prst="roundRect">
            <a:avLst>
              <a:gd name="adj" fmla="val 8421"/>
            </a:avLst>
          </a:prstGeom>
          <a:solidFill>
            <a:srgbClr val="162033"/>
          </a:solidFill>
          <a:ln w="19050">
            <a:solidFill>
              <a:schemeClr val="accent1"/>
            </a:solidFill>
          </a:ln>
        </p:spPr>
        <p:txBody>
          <a:bodyPr lIns="45719" rIns="45719"/>
          <a:lstStyle/>
          <a:p>
            <a:pPr/>
          </a:p>
        </p:txBody>
      </p:sp>
      <p:sp>
        <p:nvSpPr>
          <p:cNvPr id="142" name="txt_90"/>
          <p:cNvSpPr txBox="1"/>
          <p:nvPr/>
        </p:nvSpPr>
        <p:spPr>
          <a:xfrm>
            <a:off x="685800" y="3858767"/>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3  Pattern Structure Analysis</a:t>
            </a:r>
          </a:p>
        </p:txBody>
      </p:sp>
      <p:sp>
        <p:nvSpPr>
          <p:cNvPr id="143" name="txt_91"/>
          <p:cNvSpPr txBox="1"/>
          <p:nvPr/>
        </p:nvSpPr>
        <p:spPr>
          <a:xfrm>
            <a:off x="685800" y="4224528"/>
            <a:ext cx="27432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1"/>
                </a:solidFill>
              </a:defRPr>
            </a:lvl1pPr>
          </a:lstStyle>
          <a:p>
            <a:pPr/>
            <a:r>
              <a:t>Z Algorithm</a:t>
            </a:r>
          </a:p>
        </p:txBody>
      </p:sp>
      <p:sp>
        <p:nvSpPr>
          <p:cNvPr id="144" name="box_92"/>
          <p:cNvSpPr/>
          <p:nvPr/>
        </p:nvSpPr>
        <p:spPr>
          <a:xfrm>
            <a:off x="4572000" y="2103120"/>
            <a:ext cx="3017521" cy="868681"/>
          </a:xfrm>
          <a:prstGeom prst="roundRect">
            <a:avLst>
              <a:gd name="adj" fmla="val 8421"/>
            </a:avLst>
          </a:prstGeom>
          <a:solidFill>
            <a:srgbClr val="162033"/>
          </a:solidFill>
          <a:ln w="19050">
            <a:solidFill>
              <a:schemeClr val="accent4"/>
            </a:solidFill>
          </a:ln>
        </p:spPr>
        <p:txBody>
          <a:bodyPr lIns="45719" rIns="45719"/>
          <a:lstStyle/>
          <a:p>
            <a:pPr/>
          </a:p>
        </p:txBody>
      </p:sp>
      <p:sp>
        <p:nvSpPr>
          <p:cNvPr id="145" name="txt_93"/>
          <p:cNvSpPr txBox="1"/>
          <p:nvPr/>
        </p:nvSpPr>
        <p:spPr>
          <a:xfrm>
            <a:off x="4709159" y="2212848"/>
            <a:ext cx="2743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4  Text Index Construction</a:t>
            </a:r>
          </a:p>
        </p:txBody>
      </p:sp>
      <p:sp>
        <p:nvSpPr>
          <p:cNvPr id="146" name="txt_94"/>
          <p:cNvSpPr txBox="1"/>
          <p:nvPr/>
        </p:nvSpPr>
        <p:spPr>
          <a:xfrm>
            <a:off x="4709159" y="2578607"/>
            <a:ext cx="27432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4"/>
                </a:solidFill>
              </a:defRPr>
            </a:lvl1pPr>
          </a:lstStyle>
          <a:p>
            <a:pPr/>
            <a:r>
              <a:t>Suffix Array + LCP</a:t>
            </a:r>
          </a:p>
        </p:txBody>
      </p:sp>
      <p:sp>
        <p:nvSpPr>
          <p:cNvPr id="147" name="box_95"/>
          <p:cNvSpPr/>
          <p:nvPr/>
        </p:nvSpPr>
        <p:spPr>
          <a:xfrm>
            <a:off x="4572000" y="3749040"/>
            <a:ext cx="3017521" cy="868681"/>
          </a:xfrm>
          <a:prstGeom prst="roundRect">
            <a:avLst>
              <a:gd name="adj" fmla="val 8421"/>
            </a:avLst>
          </a:prstGeom>
          <a:solidFill>
            <a:srgbClr val="162033"/>
          </a:solidFill>
          <a:ln w="19050">
            <a:solidFill>
              <a:schemeClr val="accent4"/>
            </a:solidFill>
          </a:ln>
        </p:spPr>
        <p:txBody>
          <a:bodyPr lIns="45719" rIns="45719"/>
          <a:lstStyle/>
          <a:p>
            <a:pPr/>
          </a:p>
        </p:txBody>
      </p:sp>
      <p:sp>
        <p:nvSpPr>
          <p:cNvPr id="148" name="txt_96"/>
          <p:cNvSpPr txBox="1"/>
          <p:nvPr/>
        </p:nvSpPr>
        <p:spPr>
          <a:xfrm>
            <a:off x="4709159" y="3858767"/>
            <a:ext cx="2743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5  Fuzzy Document Similarity</a:t>
            </a:r>
          </a:p>
        </p:txBody>
      </p:sp>
      <p:sp>
        <p:nvSpPr>
          <p:cNvPr id="149" name="txt_97"/>
          <p:cNvSpPr txBox="1"/>
          <p:nvPr/>
        </p:nvSpPr>
        <p:spPr>
          <a:xfrm>
            <a:off x="4709159" y="4224528"/>
            <a:ext cx="27432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4"/>
                </a:solidFill>
              </a:defRPr>
            </a:lvl1pPr>
          </a:lstStyle>
          <a:p>
            <a:pPr/>
            <a:r>
              <a:t>Edit Distance</a:t>
            </a:r>
          </a:p>
        </p:txBody>
      </p:sp>
      <p:sp>
        <p:nvSpPr>
          <p:cNvPr id="150" name="box_98"/>
          <p:cNvSpPr/>
          <p:nvPr/>
        </p:nvSpPr>
        <p:spPr>
          <a:xfrm>
            <a:off x="8595359" y="2926079"/>
            <a:ext cx="3017521" cy="868681"/>
          </a:xfrm>
          <a:prstGeom prst="roundRect">
            <a:avLst>
              <a:gd name="adj" fmla="val 8421"/>
            </a:avLst>
          </a:prstGeom>
          <a:solidFill>
            <a:srgbClr val="162033"/>
          </a:solidFill>
          <a:ln w="19050">
            <a:solidFill>
              <a:schemeClr val="accent3"/>
            </a:solidFill>
          </a:ln>
        </p:spPr>
        <p:txBody>
          <a:bodyPr lIns="45719" rIns="45719"/>
          <a:lstStyle/>
          <a:p>
            <a:pPr/>
          </a:p>
        </p:txBody>
      </p:sp>
      <p:sp>
        <p:nvSpPr>
          <p:cNvPr id="151" name="txt_99"/>
          <p:cNvSpPr txBox="1"/>
          <p:nvPr/>
        </p:nvSpPr>
        <p:spPr>
          <a:xfrm>
            <a:off x="8732519" y="3035807"/>
            <a:ext cx="2743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6  Cross-Document Alignment</a:t>
            </a:r>
          </a:p>
        </p:txBody>
      </p:sp>
      <p:sp>
        <p:nvSpPr>
          <p:cNvPr id="152" name="txt_100"/>
          <p:cNvSpPr txBox="1"/>
          <p:nvPr/>
        </p:nvSpPr>
        <p:spPr>
          <a:xfrm>
            <a:off x="8732519" y="3401567"/>
            <a:ext cx="27432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chemeClr val="accent3"/>
                </a:solidFill>
              </a:defRPr>
            </a:lvl1pPr>
          </a:lstStyle>
          <a:p>
            <a:pPr/>
            <a:r>
              <a:t>Sequence Alignment</a:t>
            </a:r>
          </a:p>
        </p:txBody>
      </p:sp>
      <p:sp>
        <p:nvSpPr>
          <p:cNvPr id="153" name="txt_101"/>
          <p:cNvSpPr txBox="1"/>
          <p:nvPr/>
        </p:nvSpPr>
        <p:spPr>
          <a:xfrm>
            <a:off x="8595359" y="4069079"/>
            <a:ext cx="3017521" cy="776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4C0D4"/>
                </a:solidFill>
              </a:defRPr>
            </a:lvl1pPr>
          </a:lstStyle>
          <a:p>
            <a:pPr/>
            <a:r>
              <a:t>Every task still needs its dependencies done first, but stages 1, 2 and 3 do not wait for each other. The console run finished 6/6 tasks in 3 rounds on R01, R02, R03.</a:t>
            </a:r>
          </a:p>
        </p:txBody>
      </p:sp>
      <p:sp>
        <p:nvSpPr>
          <p:cNvPr id="154" name="txt_102"/>
          <p:cNvSpPr txBox="1"/>
          <p:nvPr/>
        </p:nvSpPr>
        <p:spPr>
          <a:xfrm>
            <a:off x="548640" y="5029199"/>
            <a:ext cx="36576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TASK LIFECYCLE</a:t>
            </a:r>
          </a:p>
        </p:txBody>
      </p:sp>
      <p:sp>
        <p:nvSpPr>
          <p:cNvPr id="155" name="box_103"/>
          <p:cNvSpPr/>
          <p:nvPr/>
        </p:nvSpPr>
        <p:spPr>
          <a:xfrm>
            <a:off x="548640" y="5349240"/>
            <a:ext cx="1577340" cy="640081"/>
          </a:xfrm>
          <a:prstGeom prst="roundRect">
            <a:avLst>
              <a:gd name="adj" fmla="val 11429"/>
            </a:avLst>
          </a:prstGeom>
          <a:solidFill>
            <a:srgbClr val="162033"/>
          </a:solidFill>
          <a:ln w="15875">
            <a:solidFill>
              <a:schemeClr val="accent1"/>
            </a:solidFill>
          </a:ln>
        </p:spPr>
        <p:txBody>
          <a:bodyPr lIns="45719" rIns="45719"/>
          <a:lstStyle/>
          <a:p>
            <a:pPr/>
          </a:p>
        </p:txBody>
      </p:sp>
      <p:sp>
        <p:nvSpPr>
          <p:cNvPr id="156" name="txt_104"/>
          <p:cNvSpPr txBox="1"/>
          <p:nvPr/>
        </p:nvSpPr>
        <p:spPr>
          <a:xfrm>
            <a:off x="594359" y="5576002"/>
            <a:ext cx="14859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Task</a:t>
            </a:r>
          </a:p>
        </p:txBody>
      </p:sp>
      <p:sp>
        <p:nvSpPr>
          <p:cNvPr id="157" name="arrow_105"/>
          <p:cNvSpPr/>
          <p:nvPr/>
        </p:nvSpPr>
        <p:spPr>
          <a:xfrm>
            <a:off x="2153411" y="5669279"/>
            <a:ext cx="265177" cy="1"/>
          </a:xfrm>
          <a:prstGeom prst="line">
            <a:avLst/>
          </a:prstGeom>
          <a:ln w="22225">
            <a:solidFill>
              <a:schemeClr val="accent1"/>
            </a:solidFill>
            <a:tailEnd type="triangle"/>
          </a:ln>
        </p:spPr>
        <p:txBody>
          <a:bodyPr lIns="45719" rIns="45719"/>
          <a:lstStyle/>
          <a:p>
            <a:pPr/>
          </a:p>
        </p:txBody>
      </p:sp>
      <p:sp>
        <p:nvSpPr>
          <p:cNvPr id="158" name="box_106"/>
          <p:cNvSpPr/>
          <p:nvPr/>
        </p:nvSpPr>
        <p:spPr>
          <a:xfrm>
            <a:off x="2446020" y="5349240"/>
            <a:ext cx="1577341" cy="640081"/>
          </a:xfrm>
          <a:prstGeom prst="roundRect">
            <a:avLst>
              <a:gd name="adj" fmla="val 11429"/>
            </a:avLst>
          </a:prstGeom>
          <a:solidFill>
            <a:srgbClr val="162033"/>
          </a:solidFill>
          <a:ln w="15875">
            <a:solidFill>
              <a:schemeClr val="accent1"/>
            </a:solidFill>
          </a:ln>
        </p:spPr>
        <p:txBody>
          <a:bodyPr lIns="45719" rIns="45719"/>
          <a:lstStyle/>
          <a:p>
            <a:pPr/>
          </a:p>
        </p:txBody>
      </p:sp>
      <p:sp>
        <p:nvSpPr>
          <p:cNvPr id="159" name="txt_107"/>
          <p:cNvSpPr txBox="1"/>
          <p:nvPr/>
        </p:nvSpPr>
        <p:spPr>
          <a:xfrm>
            <a:off x="2491739" y="5576002"/>
            <a:ext cx="14859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Dependency</a:t>
            </a:r>
          </a:p>
        </p:txBody>
      </p:sp>
      <p:sp>
        <p:nvSpPr>
          <p:cNvPr id="160" name="arrow_108"/>
          <p:cNvSpPr/>
          <p:nvPr/>
        </p:nvSpPr>
        <p:spPr>
          <a:xfrm>
            <a:off x="4050791" y="5669279"/>
            <a:ext cx="265177" cy="1"/>
          </a:xfrm>
          <a:prstGeom prst="line">
            <a:avLst/>
          </a:prstGeom>
          <a:ln w="22225">
            <a:solidFill>
              <a:schemeClr val="accent1"/>
            </a:solidFill>
            <a:tailEnd type="triangle"/>
          </a:ln>
        </p:spPr>
        <p:txBody>
          <a:bodyPr lIns="45719" rIns="45719"/>
          <a:lstStyle/>
          <a:p>
            <a:pPr/>
          </a:p>
        </p:txBody>
      </p:sp>
      <p:sp>
        <p:nvSpPr>
          <p:cNvPr id="161" name="box_109"/>
          <p:cNvSpPr/>
          <p:nvPr/>
        </p:nvSpPr>
        <p:spPr>
          <a:xfrm>
            <a:off x="4343400" y="5349240"/>
            <a:ext cx="1577340" cy="640081"/>
          </a:xfrm>
          <a:prstGeom prst="roundRect">
            <a:avLst>
              <a:gd name="adj" fmla="val 11429"/>
            </a:avLst>
          </a:prstGeom>
          <a:solidFill>
            <a:srgbClr val="162033"/>
          </a:solidFill>
          <a:ln w="15875">
            <a:solidFill>
              <a:schemeClr val="accent2"/>
            </a:solidFill>
          </a:ln>
        </p:spPr>
        <p:txBody>
          <a:bodyPr lIns="45719" rIns="45719"/>
          <a:lstStyle/>
          <a:p>
            <a:pPr/>
          </a:p>
        </p:txBody>
      </p:sp>
      <p:sp>
        <p:nvSpPr>
          <p:cNvPr id="162" name="txt_110"/>
          <p:cNvSpPr txBox="1"/>
          <p:nvPr/>
        </p:nvSpPr>
        <p:spPr>
          <a:xfrm>
            <a:off x="4389120" y="5576002"/>
            <a:ext cx="14859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Ready</a:t>
            </a:r>
          </a:p>
        </p:txBody>
      </p:sp>
      <p:sp>
        <p:nvSpPr>
          <p:cNvPr id="163" name="arrow_111"/>
          <p:cNvSpPr/>
          <p:nvPr/>
        </p:nvSpPr>
        <p:spPr>
          <a:xfrm>
            <a:off x="5948171" y="5669279"/>
            <a:ext cx="265177" cy="1"/>
          </a:xfrm>
          <a:prstGeom prst="line">
            <a:avLst/>
          </a:prstGeom>
          <a:ln w="22225">
            <a:solidFill>
              <a:schemeClr val="accent1"/>
            </a:solidFill>
            <a:tailEnd type="triangle"/>
          </a:ln>
        </p:spPr>
        <p:txBody>
          <a:bodyPr lIns="45719" rIns="45719"/>
          <a:lstStyle/>
          <a:p>
            <a:pPr/>
          </a:p>
        </p:txBody>
      </p:sp>
      <p:sp>
        <p:nvSpPr>
          <p:cNvPr id="164" name="box_112"/>
          <p:cNvSpPr/>
          <p:nvPr/>
        </p:nvSpPr>
        <p:spPr>
          <a:xfrm>
            <a:off x="6240779" y="5349240"/>
            <a:ext cx="1577341" cy="640081"/>
          </a:xfrm>
          <a:prstGeom prst="roundRect">
            <a:avLst>
              <a:gd name="adj" fmla="val 11429"/>
            </a:avLst>
          </a:prstGeom>
          <a:solidFill>
            <a:srgbClr val="162033"/>
          </a:solidFill>
          <a:ln w="15875">
            <a:solidFill>
              <a:schemeClr val="accent2"/>
            </a:solidFill>
          </a:ln>
        </p:spPr>
        <p:txBody>
          <a:bodyPr lIns="45719" rIns="45719"/>
          <a:lstStyle/>
          <a:p>
            <a:pPr/>
          </a:p>
        </p:txBody>
      </p:sp>
      <p:sp>
        <p:nvSpPr>
          <p:cNvPr id="165" name="txt_113"/>
          <p:cNvSpPr txBox="1"/>
          <p:nvPr/>
        </p:nvSpPr>
        <p:spPr>
          <a:xfrm>
            <a:off x="6286500" y="5576002"/>
            <a:ext cx="14859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Scheduled</a:t>
            </a:r>
          </a:p>
        </p:txBody>
      </p:sp>
      <p:sp>
        <p:nvSpPr>
          <p:cNvPr id="166" name="arrow_114"/>
          <p:cNvSpPr/>
          <p:nvPr/>
        </p:nvSpPr>
        <p:spPr>
          <a:xfrm>
            <a:off x="7845552" y="5669279"/>
            <a:ext cx="265177" cy="1"/>
          </a:xfrm>
          <a:prstGeom prst="line">
            <a:avLst/>
          </a:prstGeom>
          <a:ln w="22225">
            <a:solidFill>
              <a:schemeClr val="accent1"/>
            </a:solidFill>
            <a:tailEnd type="triangle"/>
          </a:ln>
        </p:spPr>
        <p:txBody>
          <a:bodyPr lIns="45719" rIns="45719"/>
          <a:lstStyle/>
          <a:p>
            <a:pPr/>
          </a:p>
        </p:txBody>
      </p:sp>
      <p:sp>
        <p:nvSpPr>
          <p:cNvPr id="167" name="box_115"/>
          <p:cNvSpPr/>
          <p:nvPr/>
        </p:nvSpPr>
        <p:spPr>
          <a:xfrm>
            <a:off x="8138159" y="5349240"/>
            <a:ext cx="1577341" cy="640081"/>
          </a:xfrm>
          <a:prstGeom prst="roundRect">
            <a:avLst>
              <a:gd name="adj" fmla="val 11429"/>
            </a:avLst>
          </a:prstGeom>
          <a:solidFill>
            <a:srgbClr val="162033"/>
          </a:solidFill>
          <a:ln w="15875">
            <a:solidFill>
              <a:schemeClr val="accent3"/>
            </a:solidFill>
          </a:ln>
        </p:spPr>
        <p:txBody>
          <a:bodyPr lIns="45719" rIns="45719"/>
          <a:lstStyle/>
          <a:p>
            <a:pPr/>
          </a:p>
        </p:txBody>
      </p:sp>
      <p:sp>
        <p:nvSpPr>
          <p:cNvPr id="168" name="txt_116"/>
          <p:cNvSpPr txBox="1"/>
          <p:nvPr/>
        </p:nvSpPr>
        <p:spPr>
          <a:xfrm>
            <a:off x="8183880" y="5576002"/>
            <a:ext cx="14859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Executed</a:t>
            </a:r>
          </a:p>
        </p:txBody>
      </p:sp>
      <p:sp>
        <p:nvSpPr>
          <p:cNvPr id="169" name="arrow_117"/>
          <p:cNvSpPr/>
          <p:nvPr/>
        </p:nvSpPr>
        <p:spPr>
          <a:xfrm>
            <a:off x="9742931" y="5669279"/>
            <a:ext cx="265177" cy="1"/>
          </a:xfrm>
          <a:prstGeom prst="line">
            <a:avLst/>
          </a:prstGeom>
          <a:ln w="22225">
            <a:solidFill>
              <a:schemeClr val="accent1"/>
            </a:solidFill>
            <a:tailEnd type="triangle"/>
          </a:ln>
        </p:spPr>
        <p:txBody>
          <a:bodyPr lIns="45719" rIns="45719"/>
          <a:lstStyle/>
          <a:p>
            <a:pPr/>
          </a:p>
        </p:txBody>
      </p:sp>
      <p:sp>
        <p:nvSpPr>
          <p:cNvPr id="170" name="box_118"/>
          <p:cNvSpPr/>
          <p:nvPr/>
        </p:nvSpPr>
        <p:spPr>
          <a:xfrm>
            <a:off x="10035540" y="5349240"/>
            <a:ext cx="1577341" cy="640081"/>
          </a:xfrm>
          <a:prstGeom prst="roundRect">
            <a:avLst>
              <a:gd name="adj" fmla="val 11429"/>
            </a:avLst>
          </a:prstGeom>
          <a:solidFill>
            <a:srgbClr val="162033"/>
          </a:solidFill>
          <a:ln w="15875">
            <a:solidFill>
              <a:schemeClr val="accent3"/>
            </a:solidFill>
          </a:ln>
        </p:spPr>
        <p:txBody>
          <a:bodyPr lIns="45719" rIns="45719"/>
          <a:lstStyle/>
          <a:p>
            <a:pPr/>
          </a:p>
        </p:txBody>
      </p:sp>
      <p:sp>
        <p:nvSpPr>
          <p:cNvPr id="171" name="txt_119"/>
          <p:cNvSpPr txBox="1"/>
          <p:nvPr/>
        </p:nvSpPr>
        <p:spPr>
          <a:xfrm>
            <a:off x="10081259" y="5576002"/>
            <a:ext cx="14859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FFFFFF"/>
                </a:solidFill>
              </a:defRPr>
            </a:lvl1pPr>
          </a:lstStyle>
          <a:p>
            <a:pPr/>
            <a:r>
              <a:t>Completed</a:t>
            </a:r>
          </a:p>
        </p:txBody>
      </p:sp>
      <p:sp>
        <p:nvSpPr>
          <p:cNvPr id="172" name="txt_120"/>
          <p:cNvSpPr txBox="1"/>
          <p:nvPr/>
        </p:nvSpPr>
        <p:spPr>
          <a:xfrm>
            <a:off x="548639" y="6126479"/>
            <a:ext cx="110642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Edges: KMP, Rabin-Karp, Z → Index;  Z → Fuzzy;  Index, Fuzzy → Alignment (as built in the pipeline code).</a:t>
            </a:r>
          </a:p>
        </p:txBody>
      </p:sp>
      <p:sp>
        <p:nvSpPr>
          <p:cNvPr id="173"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Text 0"/>
          <p:cNvSpPr txBox="1"/>
          <p:nvPr>
            <p:ph type="title"/>
          </p:nvPr>
        </p:nvSpPr>
        <p:spPr>
          <a:xfrm>
            <a:off x="548639" y="274319"/>
            <a:ext cx="11064242" cy="777242"/>
          </a:xfrm>
          <a:prstGeom prst="rect">
            <a:avLst/>
          </a:prstGeom>
        </p:spPr>
        <p:txBody>
          <a:bodyPr lIns="0" tIns="0" rIns="0" bIns="0" anchor="ctr"/>
          <a:lstStyle/>
          <a:p>
            <a:pPr/>
            <a:r>
              <a:t>Runtime-aware HEFT V3 scheduler</a:t>
            </a:r>
          </a:p>
        </p:txBody>
      </p:sp>
      <p:sp>
        <p:nvSpPr>
          <p:cNvPr id="178" name="box_121"/>
          <p:cNvSpPr/>
          <p:nvPr/>
        </p:nvSpPr>
        <p:spPr>
          <a:xfrm>
            <a:off x="548640" y="1234439"/>
            <a:ext cx="3474721" cy="713233"/>
          </a:xfrm>
          <a:prstGeom prst="roundRect">
            <a:avLst>
              <a:gd name="adj" fmla="val 10256"/>
            </a:avLst>
          </a:prstGeom>
          <a:solidFill>
            <a:srgbClr val="162033"/>
          </a:solidFill>
          <a:ln w="12700">
            <a:miter lim="400000"/>
          </a:ln>
        </p:spPr>
        <p:txBody>
          <a:bodyPr lIns="45719" rIns="45719"/>
          <a:lstStyle/>
          <a:p>
            <a:pPr/>
          </a:p>
        </p:txBody>
      </p:sp>
      <p:sp>
        <p:nvSpPr>
          <p:cNvPr id="179" name="badge_122"/>
          <p:cNvSpPr/>
          <p:nvPr/>
        </p:nvSpPr>
        <p:spPr>
          <a:xfrm>
            <a:off x="658367" y="1408175"/>
            <a:ext cx="365762" cy="365761"/>
          </a:xfrm>
          <a:prstGeom prst="ellipse">
            <a:avLst/>
          </a:prstGeom>
          <a:solidFill>
            <a:schemeClr val="accent1"/>
          </a:solidFill>
          <a:ln w="12700">
            <a:miter lim="400000"/>
          </a:ln>
        </p:spPr>
        <p:txBody>
          <a:bodyPr lIns="45719" rIns="45719"/>
          <a:lstStyle/>
          <a:p>
            <a:pPr/>
          </a:p>
        </p:txBody>
      </p:sp>
      <p:sp>
        <p:nvSpPr>
          <p:cNvPr id="180" name="txt_123"/>
          <p:cNvSpPr txBox="1"/>
          <p:nvPr/>
        </p:nvSpPr>
        <p:spPr>
          <a:xfrm>
            <a:off x="658367" y="1507675"/>
            <a:ext cx="36576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1</a:t>
            </a:r>
          </a:p>
        </p:txBody>
      </p:sp>
      <p:sp>
        <p:nvSpPr>
          <p:cNvPr id="181" name="txt_124"/>
          <p:cNvSpPr txBox="1"/>
          <p:nvPr/>
        </p:nvSpPr>
        <p:spPr>
          <a:xfrm>
            <a:off x="1142999" y="1307591"/>
            <a:ext cx="27889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Find ready tasks</a:t>
            </a:r>
          </a:p>
        </p:txBody>
      </p:sp>
      <p:sp>
        <p:nvSpPr>
          <p:cNvPr id="182" name="txt_125"/>
          <p:cNvSpPr txBox="1"/>
          <p:nvPr/>
        </p:nvSpPr>
        <p:spPr>
          <a:xfrm>
            <a:off x="1142999" y="1618488"/>
            <a:ext cx="2788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status WAITING and all predecessors completed</a:t>
            </a:r>
          </a:p>
        </p:txBody>
      </p:sp>
      <p:sp>
        <p:nvSpPr>
          <p:cNvPr id="183" name="box_126"/>
          <p:cNvSpPr/>
          <p:nvPr/>
        </p:nvSpPr>
        <p:spPr>
          <a:xfrm>
            <a:off x="548640" y="2057400"/>
            <a:ext cx="3474721" cy="713232"/>
          </a:xfrm>
          <a:prstGeom prst="roundRect">
            <a:avLst>
              <a:gd name="adj" fmla="val 10256"/>
            </a:avLst>
          </a:prstGeom>
          <a:solidFill>
            <a:srgbClr val="162033"/>
          </a:solidFill>
          <a:ln w="12700">
            <a:miter lim="400000"/>
          </a:ln>
        </p:spPr>
        <p:txBody>
          <a:bodyPr lIns="45719" rIns="45719"/>
          <a:lstStyle/>
          <a:p>
            <a:pPr/>
          </a:p>
        </p:txBody>
      </p:sp>
      <p:sp>
        <p:nvSpPr>
          <p:cNvPr id="184" name="badge_127"/>
          <p:cNvSpPr/>
          <p:nvPr/>
        </p:nvSpPr>
        <p:spPr>
          <a:xfrm>
            <a:off x="658367" y="2231135"/>
            <a:ext cx="365762" cy="365761"/>
          </a:xfrm>
          <a:prstGeom prst="ellipse">
            <a:avLst/>
          </a:prstGeom>
          <a:solidFill>
            <a:schemeClr val="accent1"/>
          </a:solidFill>
          <a:ln w="12700">
            <a:miter lim="400000"/>
          </a:ln>
        </p:spPr>
        <p:txBody>
          <a:bodyPr lIns="45719" rIns="45719"/>
          <a:lstStyle/>
          <a:p>
            <a:pPr/>
          </a:p>
        </p:txBody>
      </p:sp>
      <p:sp>
        <p:nvSpPr>
          <p:cNvPr id="185" name="txt_128"/>
          <p:cNvSpPr txBox="1"/>
          <p:nvPr/>
        </p:nvSpPr>
        <p:spPr>
          <a:xfrm>
            <a:off x="658367" y="2330634"/>
            <a:ext cx="36576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2</a:t>
            </a:r>
          </a:p>
        </p:txBody>
      </p:sp>
      <p:sp>
        <p:nvSpPr>
          <p:cNvPr id="186" name="txt_129"/>
          <p:cNvSpPr txBox="1"/>
          <p:nvPr/>
        </p:nvSpPr>
        <p:spPr>
          <a:xfrm>
            <a:off x="1142999" y="2130551"/>
            <a:ext cx="27889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Rank by upward rank</a:t>
            </a:r>
          </a:p>
        </p:txBody>
      </p:sp>
      <p:sp>
        <p:nvSpPr>
          <p:cNvPr id="187" name="txt_130"/>
          <p:cNvSpPr txBox="1"/>
          <p:nvPr/>
        </p:nvSpPr>
        <p:spPr>
          <a:xfrm>
            <a:off x="1142999" y="2441448"/>
            <a:ext cx="2788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rank = own estimate + max successor rank</a:t>
            </a:r>
          </a:p>
        </p:txBody>
      </p:sp>
      <p:sp>
        <p:nvSpPr>
          <p:cNvPr id="188" name="box_131"/>
          <p:cNvSpPr/>
          <p:nvPr/>
        </p:nvSpPr>
        <p:spPr>
          <a:xfrm>
            <a:off x="548640" y="2880360"/>
            <a:ext cx="3474721" cy="713233"/>
          </a:xfrm>
          <a:prstGeom prst="roundRect">
            <a:avLst>
              <a:gd name="adj" fmla="val 10256"/>
            </a:avLst>
          </a:prstGeom>
          <a:solidFill>
            <a:srgbClr val="162033"/>
          </a:solidFill>
          <a:ln w="12700">
            <a:miter lim="400000"/>
          </a:ln>
        </p:spPr>
        <p:txBody>
          <a:bodyPr lIns="45719" rIns="45719"/>
          <a:lstStyle/>
          <a:p>
            <a:pPr/>
          </a:p>
        </p:txBody>
      </p:sp>
      <p:sp>
        <p:nvSpPr>
          <p:cNvPr id="189" name="badge_132"/>
          <p:cNvSpPr/>
          <p:nvPr/>
        </p:nvSpPr>
        <p:spPr>
          <a:xfrm>
            <a:off x="658367" y="3054095"/>
            <a:ext cx="365762" cy="365761"/>
          </a:xfrm>
          <a:prstGeom prst="ellipse">
            <a:avLst/>
          </a:prstGeom>
          <a:solidFill>
            <a:schemeClr val="accent1"/>
          </a:solidFill>
          <a:ln w="12700">
            <a:miter lim="400000"/>
          </a:ln>
        </p:spPr>
        <p:txBody>
          <a:bodyPr lIns="45719" rIns="45719"/>
          <a:lstStyle/>
          <a:p>
            <a:pPr/>
          </a:p>
        </p:txBody>
      </p:sp>
      <p:sp>
        <p:nvSpPr>
          <p:cNvPr id="190" name="txt_133"/>
          <p:cNvSpPr txBox="1"/>
          <p:nvPr/>
        </p:nvSpPr>
        <p:spPr>
          <a:xfrm>
            <a:off x="658367" y="3153594"/>
            <a:ext cx="36576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3</a:t>
            </a:r>
          </a:p>
        </p:txBody>
      </p:sp>
      <p:sp>
        <p:nvSpPr>
          <p:cNvPr id="191" name="txt_134"/>
          <p:cNvSpPr txBox="1"/>
          <p:nvPr/>
        </p:nvSpPr>
        <p:spPr>
          <a:xfrm>
            <a:off x="1142999" y="2953511"/>
            <a:ext cx="27889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Respect dependencies</a:t>
            </a:r>
          </a:p>
        </p:txBody>
      </p:sp>
      <p:sp>
        <p:nvSpPr>
          <p:cNvPr id="192" name="txt_135"/>
          <p:cNvSpPr txBox="1"/>
          <p:nvPr/>
        </p:nvSpPr>
        <p:spPr>
          <a:xfrm>
            <a:off x="1142999" y="3264408"/>
            <a:ext cx="2788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cycle check first; blocked tasks are tracked</a:t>
            </a:r>
          </a:p>
        </p:txBody>
      </p:sp>
      <p:sp>
        <p:nvSpPr>
          <p:cNvPr id="193" name="box_136"/>
          <p:cNvSpPr/>
          <p:nvPr/>
        </p:nvSpPr>
        <p:spPr>
          <a:xfrm>
            <a:off x="548640" y="3703320"/>
            <a:ext cx="3474721" cy="713233"/>
          </a:xfrm>
          <a:prstGeom prst="roundRect">
            <a:avLst>
              <a:gd name="adj" fmla="val 10256"/>
            </a:avLst>
          </a:prstGeom>
          <a:solidFill>
            <a:srgbClr val="162033"/>
          </a:solidFill>
          <a:ln w="12700">
            <a:miter lim="400000"/>
          </a:ln>
        </p:spPr>
        <p:txBody>
          <a:bodyPr lIns="45719" rIns="45719"/>
          <a:lstStyle/>
          <a:p>
            <a:pPr/>
          </a:p>
        </p:txBody>
      </p:sp>
      <p:sp>
        <p:nvSpPr>
          <p:cNvPr id="194" name="badge_137"/>
          <p:cNvSpPr/>
          <p:nvPr/>
        </p:nvSpPr>
        <p:spPr>
          <a:xfrm>
            <a:off x="658367" y="3877055"/>
            <a:ext cx="365762" cy="365761"/>
          </a:xfrm>
          <a:prstGeom prst="ellipse">
            <a:avLst/>
          </a:prstGeom>
          <a:solidFill>
            <a:schemeClr val="accent1"/>
          </a:solidFill>
          <a:ln w="12700">
            <a:miter lim="400000"/>
          </a:ln>
        </p:spPr>
        <p:txBody>
          <a:bodyPr lIns="45719" rIns="45719"/>
          <a:lstStyle/>
          <a:p>
            <a:pPr/>
          </a:p>
        </p:txBody>
      </p:sp>
      <p:sp>
        <p:nvSpPr>
          <p:cNvPr id="195" name="txt_138"/>
          <p:cNvSpPr txBox="1"/>
          <p:nvPr/>
        </p:nvSpPr>
        <p:spPr>
          <a:xfrm>
            <a:off x="658367" y="3976555"/>
            <a:ext cx="36576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4</a:t>
            </a:r>
          </a:p>
        </p:txBody>
      </p:sp>
      <p:sp>
        <p:nvSpPr>
          <p:cNvPr id="196" name="txt_139"/>
          <p:cNvSpPr txBox="1"/>
          <p:nvPr/>
        </p:nvSpPr>
        <p:spPr>
          <a:xfrm>
            <a:off x="1142999" y="3776471"/>
            <a:ext cx="27889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Check CPU / RAM fit</a:t>
            </a:r>
          </a:p>
        </p:txBody>
      </p:sp>
      <p:sp>
        <p:nvSpPr>
          <p:cNvPr id="197" name="txt_140"/>
          <p:cNvSpPr txBox="1"/>
          <p:nvPr/>
        </p:nvSpPr>
        <p:spPr>
          <a:xfrm>
            <a:off x="1142999" y="4087367"/>
            <a:ext cx="278892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resource must be idle and fit the task</a:t>
            </a:r>
          </a:p>
        </p:txBody>
      </p:sp>
      <p:sp>
        <p:nvSpPr>
          <p:cNvPr id="198" name="box_141"/>
          <p:cNvSpPr/>
          <p:nvPr/>
        </p:nvSpPr>
        <p:spPr>
          <a:xfrm>
            <a:off x="548640" y="4526279"/>
            <a:ext cx="3474721" cy="713233"/>
          </a:xfrm>
          <a:prstGeom prst="roundRect">
            <a:avLst>
              <a:gd name="adj" fmla="val 10256"/>
            </a:avLst>
          </a:prstGeom>
          <a:solidFill>
            <a:srgbClr val="162033"/>
          </a:solidFill>
          <a:ln w="12700">
            <a:miter lim="400000"/>
          </a:ln>
        </p:spPr>
        <p:txBody>
          <a:bodyPr lIns="45719" rIns="45719"/>
          <a:lstStyle/>
          <a:p>
            <a:pPr/>
          </a:p>
        </p:txBody>
      </p:sp>
      <p:sp>
        <p:nvSpPr>
          <p:cNvPr id="199" name="badge_142"/>
          <p:cNvSpPr/>
          <p:nvPr/>
        </p:nvSpPr>
        <p:spPr>
          <a:xfrm>
            <a:off x="658367" y="4700015"/>
            <a:ext cx="365762" cy="365761"/>
          </a:xfrm>
          <a:prstGeom prst="ellipse">
            <a:avLst/>
          </a:prstGeom>
          <a:solidFill>
            <a:schemeClr val="accent2"/>
          </a:solidFill>
          <a:ln w="12700">
            <a:miter lim="400000"/>
          </a:ln>
        </p:spPr>
        <p:txBody>
          <a:bodyPr lIns="45719" rIns="45719"/>
          <a:lstStyle/>
          <a:p>
            <a:pPr/>
          </a:p>
        </p:txBody>
      </p:sp>
      <p:sp>
        <p:nvSpPr>
          <p:cNvPr id="200" name="txt_143"/>
          <p:cNvSpPr txBox="1"/>
          <p:nvPr/>
        </p:nvSpPr>
        <p:spPr>
          <a:xfrm>
            <a:off x="658367" y="4799514"/>
            <a:ext cx="36576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5</a:t>
            </a:r>
          </a:p>
        </p:txBody>
      </p:sp>
      <p:sp>
        <p:nvSpPr>
          <p:cNvPr id="201" name="txt_144"/>
          <p:cNvSpPr txBox="1"/>
          <p:nvPr/>
        </p:nvSpPr>
        <p:spPr>
          <a:xfrm>
            <a:off x="1142999" y="4599432"/>
            <a:ext cx="27889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Estimate execution time</a:t>
            </a:r>
          </a:p>
        </p:txBody>
      </p:sp>
      <p:sp>
        <p:nvSpPr>
          <p:cNvPr id="202" name="txt_145"/>
          <p:cNvSpPr txBox="1"/>
          <p:nvPr/>
        </p:nvSpPr>
        <p:spPr>
          <a:xfrm>
            <a:off x="1142999" y="4910328"/>
            <a:ext cx="2788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estimate ÷ (worker CPU ÷ max CPU)</a:t>
            </a:r>
          </a:p>
        </p:txBody>
      </p:sp>
      <p:sp>
        <p:nvSpPr>
          <p:cNvPr id="203" name="box_146"/>
          <p:cNvSpPr/>
          <p:nvPr/>
        </p:nvSpPr>
        <p:spPr>
          <a:xfrm>
            <a:off x="4160520" y="1234439"/>
            <a:ext cx="3474721" cy="713233"/>
          </a:xfrm>
          <a:prstGeom prst="roundRect">
            <a:avLst>
              <a:gd name="adj" fmla="val 10256"/>
            </a:avLst>
          </a:prstGeom>
          <a:solidFill>
            <a:srgbClr val="162033"/>
          </a:solidFill>
          <a:ln w="12700">
            <a:miter lim="400000"/>
          </a:ln>
        </p:spPr>
        <p:txBody>
          <a:bodyPr lIns="45719" rIns="45719"/>
          <a:lstStyle/>
          <a:p>
            <a:pPr/>
          </a:p>
        </p:txBody>
      </p:sp>
      <p:sp>
        <p:nvSpPr>
          <p:cNvPr id="204" name="badge_147"/>
          <p:cNvSpPr/>
          <p:nvPr/>
        </p:nvSpPr>
        <p:spPr>
          <a:xfrm>
            <a:off x="4270247" y="1408175"/>
            <a:ext cx="365761" cy="365761"/>
          </a:xfrm>
          <a:prstGeom prst="ellipse">
            <a:avLst/>
          </a:prstGeom>
          <a:solidFill>
            <a:schemeClr val="accent2"/>
          </a:solidFill>
          <a:ln w="12700">
            <a:miter lim="400000"/>
          </a:ln>
        </p:spPr>
        <p:txBody>
          <a:bodyPr lIns="45719" rIns="45719"/>
          <a:lstStyle/>
          <a:p>
            <a:pPr/>
          </a:p>
        </p:txBody>
      </p:sp>
      <p:sp>
        <p:nvSpPr>
          <p:cNvPr id="205" name="txt_148"/>
          <p:cNvSpPr txBox="1"/>
          <p:nvPr/>
        </p:nvSpPr>
        <p:spPr>
          <a:xfrm>
            <a:off x="4270247" y="1507675"/>
            <a:ext cx="3657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6</a:t>
            </a:r>
          </a:p>
        </p:txBody>
      </p:sp>
      <p:sp>
        <p:nvSpPr>
          <p:cNvPr id="206" name="txt_149"/>
          <p:cNvSpPr txBox="1"/>
          <p:nvPr/>
        </p:nvSpPr>
        <p:spPr>
          <a:xfrm>
            <a:off x="4754879" y="1307591"/>
            <a:ext cx="27889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Pick best-finish resource</a:t>
            </a:r>
          </a:p>
        </p:txBody>
      </p:sp>
      <p:sp>
        <p:nvSpPr>
          <p:cNvPr id="207" name="txt_150"/>
          <p:cNvSpPr txBox="1"/>
          <p:nvPr/>
        </p:nvSpPr>
        <p:spPr>
          <a:xfrm>
            <a:off x="4754879" y="1618488"/>
            <a:ext cx="27889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lowest predicted finish time wins</a:t>
            </a:r>
          </a:p>
        </p:txBody>
      </p:sp>
      <p:sp>
        <p:nvSpPr>
          <p:cNvPr id="208" name="box_151"/>
          <p:cNvSpPr/>
          <p:nvPr/>
        </p:nvSpPr>
        <p:spPr>
          <a:xfrm>
            <a:off x="4160520" y="2057400"/>
            <a:ext cx="3474721" cy="713232"/>
          </a:xfrm>
          <a:prstGeom prst="roundRect">
            <a:avLst>
              <a:gd name="adj" fmla="val 10256"/>
            </a:avLst>
          </a:prstGeom>
          <a:solidFill>
            <a:srgbClr val="162033"/>
          </a:solidFill>
          <a:ln w="12700">
            <a:miter lim="400000"/>
          </a:ln>
        </p:spPr>
        <p:txBody>
          <a:bodyPr lIns="45719" rIns="45719"/>
          <a:lstStyle/>
          <a:p>
            <a:pPr/>
          </a:p>
        </p:txBody>
      </p:sp>
      <p:sp>
        <p:nvSpPr>
          <p:cNvPr id="209" name="badge_152"/>
          <p:cNvSpPr/>
          <p:nvPr/>
        </p:nvSpPr>
        <p:spPr>
          <a:xfrm>
            <a:off x="4270247" y="2231135"/>
            <a:ext cx="365761" cy="365761"/>
          </a:xfrm>
          <a:prstGeom prst="ellipse">
            <a:avLst/>
          </a:prstGeom>
          <a:solidFill>
            <a:schemeClr val="accent2"/>
          </a:solidFill>
          <a:ln w="12700">
            <a:miter lim="400000"/>
          </a:ln>
        </p:spPr>
        <p:txBody>
          <a:bodyPr lIns="45719" rIns="45719"/>
          <a:lstStyle/>
          <a:p>
            <a:pPr/>
          </a:p>
        </p:txBody>
      </p:sp>
      <p:sp>
        <p:nvSpPr>
          <p:cNvPr id="210" name="txt_153"/>
          <p:cNvSpPr txBox="1"/>
          <p:nvPr/>
        </p:nvSpPr>
        <p:spPr>
          <a:xfrm>
            <a:off x="4270247" y="2330634"/>
            <a:ext cx="3657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7</a:t>
            </a:r>
          </a:p>
        </p:txBody>
      </p:sp>
      <p:sp>
        <p:nvSpPr>
          <p:cNvPr id="211" name="txt_154"/>
          <p:cNvSpPr txBox="1"/>
          <p:nvPr/>
        </p:nvSpPr>
        <p:spPr>
          <a:xfrm>
            <a:off x="4754879" y="2130551"/>
            <a:ext cx="27889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Run the real algorithm</a:t>
            </a:r>
          </a:p>
        </p:txBody>
      </p:sp>
      <p:sp>
        <p:nvSpPr>
          <p:cNvPr id="212" name="txt_155"/>
          <p:cNvSpPr txBox="1"/>
          <p:nvPr/>
        </p:nvSpPr>
        <p:spPr>
          <a:xfrm>
            <a:off x="4754879" y="2441448"/>
            <a:ext cx="27889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one worker thread per selected task</a:t>
            </a:r>
          </a:p>
        </p:txBody>
      </p:sp>
      <p:sp>
        <p:nvSpPr>
          <p:cNvPr id="213" name="box_156"/>
          <p:cNvSpPr/>
          <p:nvPr/>
        </p:nvSpPr>
        <p:spPr>
          <a:xfrm>
            <a:off x="4160520" y="2880360"/>
            <a:ext cx="3474721" cy="713233"/>
          </a:xfrm>
          <a:prstGeom prst="roundRect">
            <a:avLst>
              <a:gd name="adj" fmla="val 10256"/>
            </a:avLst>
          </a:prstGeom>
          <a:solidFill>
            <a:srgbClr val="162033"/>
          </a:solidFill>
          <a:ln w="12700">
            <a:miter lim="400000"/>
          </a:ln>
        </p:spPr>
        <p:txBody>
          <a:bodyPr lIns="45719" rIns="45719"/>
          <a:lstStyle/>
          <a:p>
            <a:pPr/>
          </a:p>
        </p:txBody>
      </p:sp>
      <p:sp>
        <p:nvSpPr>
          <p:cNvPr id="214" name="badge_157"/>
          <p:cNvSpPr/>
          <p:nvPr/>
        </p:nvSpPr>
        <p:spPr>
          <a:xfrm>
            <a:off x="4270247" y="3054095"/>
            <a:ext cx="365761" cy="365761"/>
          </a:xfrm>
          <a:prstGeom prst="ellipse">
            <a:avLst/>
          </a:prstGeom>
          <a:solidFill>
            <a:schemeClr val="accent2"/>
          </a:solidFill>
          <a:ln w="12700">
            <a:miter lim="400000"/>
          </a:ln>
        </p:spPr>
        <p:txBody>
          <a:bodyPr lIns="45719" rIns="45719"/>
          <a:lstStyle/>
          <a:p>
            <a:pPr/>
          </a:p>
        </p:txBody>
      </p:sp>
      <p:sp>
        <p:nvSpPr>
          <p:cNvPr id="215" name="txt_158"/>
          <p:cNvSpPr txBox="1"/>
          <p:nvPr/>
        </p:nvSpPr>
        <p:spPr>
          <a:xfrm>
            <a:off x="4270247" y="3153594"/>
            <a:ext cx="3657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8</a:t>
            </a:r>
          </a:p>
        </p:txBody>
      </p:sp>
      <p:sp>
        <p:nvSpPr>
          <p:cNvPr id="216" name="txt_159"/>
          <p:cNvSpPr txBox="1"/>
          <p:nvPr/>
        </p:nvSpPr>
        <p:spPr>
          <a:xfrm>
            <a:off x="4754879" y="2953511"/>
            <a:ext cx="27889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Measure actual runtime</a:t>
            </a:r>
          </a:p>
        </p:txBody>
      </p:sp>
      <p:sp>
        <p:nvSpPr>
          <p:cNvPr id="217" name="txt_160"/>
          <p:cNvSpPr txBox="1"/>
          <p:nvPr/>
        </p:nvSpPr>
        <p:spPr>
          <a:xfrm>
            <a:off x="4754879" y="3264408"/>
            <a:ext cx="27889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timed with System.nanoTime()</a:t>
            </a:r>
          </a:p>
        </p:txBody>
      </p:sp>
      <p:sp>
        <p:nvSpPr>
          <p:cNvPr id="218" name="box_161"/>
          <p:cNvSpPr/>
          <p:nvPr/>
        </p:nvSpPr>
        <p:spPr>
          <a:xfrm>
            <a:off x="4160520" y="3703320"/>
            <a:ext cx="3474721" cy="713233"/>
          </a:xfrm>
          <a:prstGeom prst="roundRect">
            <a:avLst>
              <a:gd name="adj" fmla="val 10256"/>
            </a:avLst>
          </a:prstGeom>
          <a:solidFill>
            <a:srgbClr val="162033"/>
          </a:solidFill>
          <a:ln w="12700">
            <a:miter lim="400000"/>
          </a:ln>
        </p:spPr>
        <p:txBody>
          <a:bodyPr lIns="45719" rIns="45719"/>
          <a:lstStyle/>
          <a:p>
            <a:pPr/>
          </a:p>
        </p:txBody>
      </p:sp>
      <p:sp>
        <p:nvSpPr>
          <p:cNvPr id="219" name="badge_162"/>
          <p:cNvSpPr/>
          <p:nvPr/>
        </p:nvSpPr>
        <p:spPr>
          <a:xfrm>
            <a:off x="4270247" y="3877055"/>
            <a:ext cx="365761" cy="365761"/>
          </a:xfrm>
          <a:prstGeom prst="ellipse">
            <a:avLst/>
          </a:prstGeom>
          <a:solidFill>
            <a:schemeClr val="accent3"/>
          </a:solidFill>
          <a:ln w="12700">
            <a:miter lim="400000"/>
          </a:ln>
        </p:spPr>
        <p:txBody>
          <a:bodyPr lIns="45719" rIns="45719"/>
          <a:lstStyle/>
          <a:p>
            <a:pPr/>
          </a:p>
        </p:txBody>
      </p:sp>
      <p:sp>
        <p:nvSpPr>
          <p:cNvPr id="220" name="txt_163"/>
          <p:cNvSpPr txBox="1"/>
          <p:nvPr/>
        </p:nvSpPr>
        <p:spPr>
          <a:xfrm>
            <a:off x="4270247" y="3976555"/>
            <a:ext cx="3657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9</a:t>
            </a:r>
          </a:p>
        </p:txBody>
      </p:sp>
      <p:sp>
        <p:nvSpPr>
          <p:cNvPr id="221" name="txt_164"/>
          <p:cNvSpPr txBox="1"/>
          <p:nvPr/>
        </p:nvSpPr>
        <p:spPr>
          <a:xfrm>
            <a:off x="4754879" y="3776471"/>
            <a:ext cx="27889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Update runtime estimate</a:t>
            </a:r>
          </a:p>
        </p:txBody>
      </p:sp>
      <p:sp>
        <p:nvSpPr>
          <p:cNvPr id="222" name="txt_165"/>
          <p:cNvSpPr txBox="1"/>
          <p:nvPr/>
        </p:nvSpPr>
        <p:spPr>
          <a:xfrm>
            <a:off x="4754879" y="4087367"/>
            <a:ext cx="278892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first run = actual; then 0.7 old + 0.3 actual</a:t>
            </a:r>
          </a:p>
        </p:txBody>
      </p:sp>
      <p:sp>
        <p:nvSpPr>
          <p:cNvPr id="223" name="box_166"/>
          <p:cNvSpPr/>
          <p:nvPr/>
        </p:nvSpPr>
        <p:spPr>
          <a:xfrm>
            <a:off x="4160520" y="4526279"/>
            <a:ext cx="3474721" cy="713233"/>
          </a:xfrm>
          <a:prstGeom prst="roundRect">
            <a:avLst>
              <a:gd name="adj" fmla="val 10256"/>
            </a:avLst>
          </a:prstGeom>
          <a:solidFill>
            <a:srgbClr val="162033"/>
          </a:solidFill>
          <a:ln w="12700">
            <a:miter lim="400000"/>
          </a:ln>
        </p:spPr>
        <p:txBody>
          <a:bodyPr lIns="45719" rIns="45719"/>
          <a:lstStyle/>
          <a:p>
            <a:pPr/>
          </a:p>
        </p:txBody>
      </p:sp>
      <p:sp>
        <p:nvSpPr>
          <p:cNvPr id="224" name="badge_167"/>
          <p:cNvSpPr/>
          <p:nvPr/>
        </p:nvSpPr>
        <p:spPr>
          <a:xfrm>
            <a:off x="4270247" y="4700015"/>
            <a:ext cx="365761" cy="365761"/>
          </a:xfrm>
          <a:prstGeom prst="ellipse">
            <a:avLst/>
          </a:prstGeom>
          <a:solidFill>
            <a:schemeClr val="accent3"/>
          </a:solidFill>
          <a:ln w="12700">
            <a:miter lim="400000"/>
          </a:ln>
        </p:spPr>
        <p:txBody>
          <a:bodyPr lIns="45719" rIns="45719"/>
          <a:lstStyle/>
          <a:p>
            <a:pPr/>
          </a:p>
        </p:txBody>
      </p:sp>
      <p:sp>
        <p:nvSpPr>
          <p:cNvPr id="225" name="txt_168"/>
          <p:cNvSpPr txBox="1"/>
          <p:nvPr/>
        </p:nvSpPr>
        <p:spPr>
          <a:xfrm>
            <a:off x="4270247" y="4799514"/>
            <a:ext cx="3657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10</a:t>
            </a:r>
          </a:p>
        </p:txBody>
      </p:sp>
      <p:sp>
        <p:nvSpPr>
          <p:cNvPr id="226" name="txt_169"/>
          <p:cNvSpPr txBox="1"/>
          <p:nvPr/>
        </p:nvSpPr>
        <p:spPr>
          <a:xfrm>
            <a:off x="4754879" y="4599432"/>
            <a:ext cx="27889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Schedule the next round</a:t>
            </a:r>
          </a:p>
        </p:txBody>
      </p:sp>
      <p:sp>
        <p:nvSpPr>
          <p:cNvPr id="227" name="txt_170"/>
          <p:cNvSpPr txBox="1"/>
          <p:nvPr/>
        </p:nvSpPr>
        <p:spPr>
          <a:xfrm>
            <a:off x="4754879" y="4910328"/>
            <a:ext cx="27889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repeat until all tasks finish or block</a:t>
            </a:r>
          </a:p>
        </p:txBody>
      </p:sp>
      <p:sp>
        <p:nvSpPr>
          <p:cNvPr id="228" name="txt_171"/>
          <p:cNvSpPr txBox="1"/>
          <p:nvPr/>
        </p:nvSpPr>
        <p:spPr>
          <a:xfrm>
            <a:off x="7818119" y="1234439"/>
            <a:ext cx="37490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LOGICAL WORKERS</a:t>
            </a:r>
          </a:p>
        </p:txBody>
      </p:sp>
      <p:sp>
        <p:nvSpPr>
          <p:cNvPr id="229" name="box_172"/>
          <p:cNvSpPr/>
          <p:nvPr/>
        </p:nvSpPr>
        <p:spPr>
          <a:xfrm>
            <a:off x="7818119" y="1554480"/>
            <a:ext cx="3794761" cy="749809"/>
          </a:xfrm>
          <a:prstGeom prst="roundRect">
            <a:avLst>
              <a:gd name="adj" fmla="val 9756"/>
            </a:avLst>
          </a:prstGeom>
          <a:solidFill>
            <a:srgbClr val="162033"/>
          </a:solidFill>
          <a:ln w="15875">
            <a:solidFill>
              <a:schemeClr val="accent1"/>
            </a:solidFill>
          </a:ln>
        </p:spPr>
        <p:txBody>
          <a:bodyPr lIns="45719" rIns="45719"/>
          <a:lstStyle/>
          <a:p>
            <a:pPr/>
          </a:p>
        </p:txBody>
      </p:sp>
      <p:sp>
        <p:nvSpPr>
          <p:cNvPr id="230" name="txt_173"/>
          <p:cNvSpPr txBox="1"/>
          <p:nvPr/>
        </p:nvSpPr>
        <p:spPr>
          <a:xfrm>
            <a:off x="7955280" y="1778869"/>
            <a:ext cx="822961"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chemeClr val="accent1"/>
                </a:solidFill>
              </a:defRPr>
            </a:lvl1pPr>
          </a:lstStyle>
          <a:p>
            <a:pPr/>
            <a:r>
              <a:t>R01</a:t>
            </a:r>
          </a:p>
        </p:txBody>
      </p:sp>
      <p:sp>
        <p:nvSpPr>
          <p:cNvPr id="231" name="txt_174"/>
          <p:cNvSpPr txBox="1"/>
          <p:nvPr/>
        </p:nvSpPr>
        <p:spPr>
          <a:xfrm>
            <a:off x="8823959" y="1645920"/>
            <a:ext cx="26974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High Performance</a:t>
            </a:r>
          </a:p>
        </p:txBody>
      </p:sp>
      <p:sp>
        <p:nvSpPr>
          <p:cNvPr id="232" name="txt_175"/>
          <p:cNvSpPr txBox="1"/>
          <p:nvPr/>
        </p:nvSpPr>
        <p:spPr>
          <a:xfrm>
            <a:off x="8823959" y="1956816"/>
            <a:ext cx="269748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4C0D4"/>
                </a:solidFill>
              </a:defRPr>
            </a:lvl1pPr>
          </a:lstStyle>
          <a:p>
            <a:pPr/>
            <a:r>
              <a:t>4 CPU | 4096 MB</a:t>
            </a:r>
          </a:p>
        </p:txBody>
      </p:sp>
      <p:sp>
        <p:nvSpPr>
          <p:cNvPr id="233" name="box_176"/>
          <p:cNvSpPr/>
          <p:nvPr/>
        </p:nvSpPr>
        <p:spPr>
          <a:xfrm>
            <a:off x="7818119" y="2423160"/>
            <a:ext cx="3794761" cy="749809"/>
          </a:xfrm>
          <a:prstGeom prst="roundRect">
            <a:avLst>
              <a:gd name="adj" fmla="val 9756"/>
            </a:avLst>
          </a:prstGeom>
          <a:solidFill>
            <a:srgbClr val="162033"/>
          </a:solidFill>
          <a:ln w="15875">
            <a:solidFill>
              <a:schemeClr val="accent4"/>
            </a:solidFill>
          </a:ln>
        </p:spPr>
        <p:txBody>
          <a:bodyPr lIns="45719" rIns="45719"/>
          <a:lstStyle/>
          <a:p>
            <a:pPr/>
          </a:p>
        </p:txBody>
      </p:sp>
      <p:sp>
        <p:nvSpPr>
          <p:cNvPr id="234" name="txt_177"/>
          <p:cNvSpPr txBox="1"/>
          <p:nvPr/>
        </p:nvSpPr>
        <p:spPr>
          <a:xfrm>
            <a:off x="7955280" y="2647549"/>
            <a:ext cx="822961"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chemeClr val="accent4"/>
                </a:solidFill>
              </a:defRPr>
            </a:lvl1pPr>
          </a:lstStyle>
          <a:p>
            <a:pPr/>
            <a:r>
              <a:t>R02</a:t>
            </a:r>
          </a:p>
        </p:txBody>
      </p:sp>
      <p:sp>
        <p:nvSpPr>
          <p:cNvPr id="235" name="txt_178"/>
          <p:cNvSpPr txBox="1"/>
          <p:nvPr/>
        </p:nvSpPr>
        <p:spPr>
          <a:xfrm>
            <a:off x="8823959" y="2514599"/>
            <a:ext cx="26974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Balanced</a:t>
            </a:r>
          </a:p>
        </p:txBody>
      </p:sp>
      <p:sp>
        <p:nvSpPr>
          <p:cNvPr id="236" name="txt_179"/>
          <p:cNvSpPr txBox="1"/>
          <p:nvPr/>
        </p:nvSpPr>
        <p:spPr>
          <a:xfrm>
            <a:off x="8823959" y="2825495"/>
            <a:ext cx="269748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4C0D4"/>
                </a:solidFill>
              </a:defRPr>
            </a:lvl1pPr>
          </a:lstStyle>
          <a:p>
            <a:pPr/>
            <a:r>
              <a:t>2 CPU | 2048 MB</a:t>
            </a:r>
          </a:p>
        </p:txBody>
      </p:sp>
      <p:sp>
        <p:nvSpPr>
          <p:cNvPr id="237" name="box_180"/>
          <p:cNvSpPr/>
          <p:nvPr/>
        </p:nvSpPr>
        <p:spPr>
          <a:xfrm>
            <a:off x="7818119" y="3291840"/>
            <a:ext cx="3794761" cy="749809"/>
          </a:xfrm>
          <a:prstGeom prst="roundRect">
            <a:avLst>
              <a:gd name="adj" fmla="val 9756"/>
            </a:avLst>
          </a:prstGeom>
          <a:solidFill>
            <a:srgbClr val="162033"/>
          </a:solidFill>
          <a:ln w="15875">
            <a:solidFill>
              <a:schemeClr val="accent3"/>
            </a:solidFill>
          </a:ln>
        </p:spPr>
        <p:txBody>
          <a:bodyPr lIns="45719" rIns="45719"/>
          <a:lstStyle/>
          <a:p>
            <a:pPr/>
          </a:p>
        </p:txBody>
      </p:sp>
      <p:sp>
        <p:nvSpPr>
          <p:cNvPr id="238" name="txt_181"/>
          <p:cNvSpPr txBox="1"/>
          <p:nvPr/>
        </p:nvSpPr>
        <p:spPr>
          <a:xfrm>
            <a:off x="7955280" y="3516229"/>
            <a:ext cx="822961"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chemeClr val="accent3"/>
                </a:solidFill>
              </a:defRPr>
            </a:lvl1pPr>
          </a:lstStyle>
          <a:p>
            <a:pPr/>
            <a:r>
              <a:t>R03</a:t>
            </a:r>
          </a:p>
        </p:txBody>
      </p:sp>
      <p:sp>
        <p:nvSpPr>
          <p:cNvPr id="239" name="txt_182"/>
          <p:cNvSpPr txBox="1"/>
          <p:nvPr/>
        </p:nvSpPr>
        <p:spPr>
          <a:xfrm>
            <a:off x="8823959" y="3383279"/>
            <a:ext cx="269748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FFFFFF"/>
                </a:solidFill>
              </a:defRPr>
            </a:lvl1pPr>
          </a:lstStyle>
          <a:p>
            <a:pPr/>
            <a:r>
              <a:t>Lightweight</a:t>
            </a:r>
          </a:p>
        </p:txBody>
      </p:sp>
      <p:sp>
        <p:nvSpPr>
          <p:cNvPr id="240" name="txt_183"/>
          <p:cNvSpPr txBox="1"/>
          <p:nvPr/>
        </p:nvSpPr>
        <p:spPr>
          <a:xfrm>
            <a:off x="8823959" y="3694176"/>
            <a:ext cx="269748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4C0D4"/>
                </a:solidFill>
              </a:defRPr>
            </a:lvl1pPr>
          </a:lstStyle>
          <a:p>
            <a:pPr/>
            <a:r>
              <a:t>1 CPU | 1024 MB</a:t>
            </a:r>
          </a:p>
        </p:txBody>
      </p:sp>
      <p:sp>
        <p:nvSpPr>
          <p:cNvPr id="241" name="txt_184"/>
          <p:cNvSpPr txBox="1"/>
          <p:nvPr/>
        </p:nvSpPr>
        <p:spPr>
          <a:xfrm>
            <a:off x="7818119" y="4206240"/>
            <a:ext cx="379476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200">
                <a:solidFill>
                  <a:srgbClr val="B4C0D4"/>
                </a:solidFill>
              </a:defRPr>
            </a:lvl1pPr>
          </a:lstStyle>
          <a:p>
            <a:pPr/>
            <a:r>
              <a:t>Logical scheduler resources, not three physical computers.</a:t>
            </a:r>
          </a:p>
        </p:txBody>
      </p:sp>
      <p:sp>
        <p:nvSpPr>
          <p:cNvPr id="242" name="txt_185"/>
          <p:cNvSpPr txBox="1"/>
          <p:nvPr/>
        </p:nvSpPr>
        <p:spPr>
          <a:xfrm>
            <a:off x="7818119" y="4709159"/>
            <a:ext cx="37947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Adapted HEFT: ranks use computation estimates only; at most one task per worker per round.</a:t>
            </a:r>
          </a:p>
        </p:txBody>
      </p:sp>
      <p:sp>
        <p:nvSpPr>
          <p:cNvPr id="243" name="box_186"/>
          <p:cNvSpPr/>
          <p:nvPr/>
        </p:nvSpPr>
        <p:spPr>
          <a:xfrm>
            <a:off x="548640" y="5486400"/>
            <a:ext cx="11064241" cy="731520"/>
          </a:xfrm>
          <a:prstGeom prst="roundRect">
            <a:avLst>
              <a:gd name="adj" fmla="val 10000"/>
            </a:avLst>
          </a:prstGeom>
          <a:solidFill>
            <a:srgbClr val="162033"/>
          </a:solidFill>
          <a:ln w="19050">
            <a:solidFill>
              <a:schemeClr val="accent2"/>
            </a:solidFill>
          </a:ln>
        </p:spPr>
        <p:txBody>
          <a:bodyPr lIns="45719" rIns="45719"/>
          <a:lstStyle/>
          <a:p>
            <a:pPr/>
          </a:p>
        </p:txBody>
      </p:sp>
      <p:sp>
        <p:nvSpPr>
          <p:cNvPr id="244" name="txt_187"/>
          <p:cNvSpPr txBox="1"/>
          <p:nvPr/>
        </p:nvSpPr>
        <p:spPr>
          <a:xfrm>
            <a:off x="731519" y="5731336"/>
            <a:ext cx="1069848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chemeClr val="accent2"/>
                </a:solidFill>
              </a:defRPr>
            </a:lvl1pPr>
          </a:lstStyle>
          <a:p>
            <a:pPr/>
            <a:r>
              <a:t>HEFT is a heuristic: it picks good schedules quickly but does not guarantee an optimal schedule.</a:t>
            </a:r>
          </a:p>
        </p:txBody>
      </p:sp>
      <p:sp>
        <p:nvSpPr>
          <p:cNvPr id="245"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Text 0"/>
          <p:cNvSpPr txBox="1"/>
          <p:nvPr>
            <p:ph type="title"/>
          </p:nvPr>
        </p:nvSpPr>
        <p:spPr>
          <a:xfrm>
            <a:off x="548639" y="274319"/>
            <a:ext cx="11064242" cy="777242"/>
          </a:xfrm>
          <a:prstGeom prst="rect">
            <a:avLst/>
          </a:prstGeom>
        </p:spPr>
        <p:txBody>
          <a:bodyPr lIns="0" tIns="0" rIns="0" bIns="0" anchor="ctr"/>
          <a:lstStyle/>
          <a:p>
            <a:pPr/>
            <a:r>
              <a:t>System architecture and core data structures</a:t>
            </a:r>
          </a:p>
        </p:txBody>
      </p:sp>
      <p:sp>
        <p:nvSpPr>
          <p:cNvPr id="250" name="box_188"/>
          <p:cNvSpPr/>
          <p:nvPr/>
        </p:nvSpPr>
        <p:spPr>
          <a:xfrm>
            <a:off x="548640" y="1234439"/>
            <a:ext cx="3291841" cy="1005841"/>
          </a:xfrm>
          <a:prstGeom prst="roundRect">
            <a:avLst>
              <a:gd name="adj" fmla="val 7273"/>
            </a:avLst>
          </a:prstGeom>
          <a:solidFill>
            <a:srgbClr val="162033"/>
          </a:solidFill>
          <a:ln w="19050">
            <a:solidFill>
              <a:schemeClr val="accent1"/>
            </a:solidFill>
          </a:ln>
        </p:spPr>
        <p:txBody>
          <a:bodyPr lIns="45719" rIns="45719"/>
          <a:lstStyle/>
          <a:p>
            <a:pPr/>
          </a:p>
        </p:txBody>
      </p:sp>
      <p:sp>
        <p:nvSpPr>
          <p:cNvPr id="251" name="txt_189"/>
          <p:cNvSpPr txBox="1"/>
          <p:nvPr/>
        </p:nvSpPr>
        <p:spPr>
          <a:xfrm>
            <a:off x="685799" y="1344167"/>
            <a:ext cx="30175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Corpus / Documents</a:t>
            </a:r>
          </a:p>
        </p:txBody>
      </p:sp>
      <p:sp>
        <p:nvSpPr>
          <p:cNvPr id="252" name="txt_190"/>
          <p:cNvSpPr txBox="1"/>
          <p:nvPr/>
        </p:nvSpPr>
        <p:spPr>
          <a:xfrm>
            <a:off x="685799" y="1709927"/>
            <a:ext cx="30175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10 TXT files: metadata + CONTENT; only CONTENT is searched</a:t>
            </a:r>
          </a:p>
        </p:txBody>
      </p:sp>
      <p:sp>
        <p:nvSpPr>
          <p:cNvPr id="253" name="box_191"/>
          <p:cNvSpPr/>
          <p:nvPr/>
        </p:nvSpPr>
        <p:spPr>
          <a:xfrm>
            <a:off x="4434840" y="1234439"/>
            <a:ext cx="3291841" cy="1005841"/>
          </a:xfrm>
          <a:prstGeom prst="roundRect">
            <a:avLst>
              <a:gd name="adj" fmla="val 7273"/>
            </a:avLst>
          </a:prstGeom>
          <a:solidFill>
            <a:srgbClr val="162033"/>
          </a:solidFill>
          <a:ln w="19050">
            <a:solidFill>
              <a:schemeClr val="accent1"/>
            </a:solidFill>
          </a:ln>
        </p:spPr>
        <p:txBody>
          <a:bodyPr lIns="45719" rIns="45719"/>
          <a:lstStyle/>
          <a:p>
            <a:pPr/>
          </a:p>
        </p:txBody>
      </p:sp>
      <p:sp>
        <p:nvSpPr>
          <p:cNvPr id="254" name="txt_192"/>
          <p:cNvSpPr txBox="1"/>
          <p:nvPr/>
        </p:nvSpPr>
        <p:spPr>
          <a:xfrm>
            <a:off x="4571999" y="1344167"/>
            <a:ext cx="30175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Workload Analyzer</a:t>
            </a:r>
          </a:p>
        </p:txBody>
      </p:sp>
      <p:sp>
        <p:nvSpPr>
          <p:cNvPr id="255" name="txt_193"/>
          <p:cNvSpPr txBox="1"/>
          <p:nvPr/>
        </p:nvSpPr>
        <p:spPr>
          <a:xfrm>
            <a:off x="4571999" y="1709927"/>
            <a:ext cx="3017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characters, words → CPU and RAM estimate</a:t>
            </a:r>
          </a:p>
        </p:txBody>
      </p:sp>
      <p:sp>
        <p:nvSpPr>
          <p:cNvPr id="256" name="box_194"/>
          <p:cNvSpPr/>
          <p:nvPr/>
        </p:nvSpPr>
        <p:spPr>
          <a:xfrm>
            <a:off x="8321040" y="1234439"/>
            <a:ext cx="3291841" cy="1005841"/>
          </a:xfrm>
          <a:prstGeom prst="roundRect">
            <a:avLst>
              <a:gd name="adj" fmla="val 7273"/>
            </a:avLst>
          </a:prstGeom>
          <a:solidFill>
            <a:srgbClr val="162033"/>
          </a:solidFill>
          <a:ln w="19050">
            <a:solidFill>
              <a:schemeClr val="accent1"/>
            </a:solidFill>
          </a:ln>
        </p:spPr>
        <p:txBody>
          <a:bodyPr lIns="45719" rIns="45719"/>
          <a:lstStyle/>
          <a:p>
            <a:pPr/>
          </a:p>
        </p:txBody>
      </p:sp>
      <p:sp>
        <p:nvSpPr>
          <p:cNvPr id="257" name="txt_195"/>
          <p:cNvSpPr txBox="1"/>
          <p:nvPr/>
        </p:nvSpPr>
        <p:spPr>
          <a:xfrm>
            <a:off x="8458199" y="1344167"/>
            <a:ext cx="30175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Text Analytics Algorithms</a:t>
            </a:r>
          </a:p>
        </p:txBody>
      </p:sp>
      <p:sp>
        <p:nvSpPr>
          <p:cNvPr id="258" name="txt_196"/>
          <p:cNvSpPr txBox="1"/>
          <p:nvPr/>
        </p:nvSpPr>
        <p:spPr>
          <a:xfrm>
            <a:off x="8458199" y="1709927"/>
            <a:ext cx="30175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KMP, Rabin-Karp, Z, Suffix Array+LCP, Edit Distance, Alignment</a:t>
            </a:r>
          </a:p>
        </p:txBody>
      </p:sp>
      <p:sp>
        <p:nvSpPr>
          <p:cNvPr id="259" name="box_197"/>
          <p:cNvSpPr/>
          <p:nvPr/>
        </p:nvSpPr>
        <p:spPr>
          <a:xfrm>
            <a:off x="8321040" y="2697479"/>
            <a:ext cx="3291841" cy="1005841"/>
          </a:xfrm>
          <a:prstGeom prst="roundRect">
            <a:avLst>
              <a:gd name="adj" fmla="val 7273"/>
            </a:avLst>
          </a:prstGeom>
          <a:solidFill>
            <a:srgbClr val="162033"/>
          </a:solidFill>
          <a:ln w="19050">
            <a:solidFill>
              <a:schemeClr val="accent4"/>
            </a:solidFill>
          </a:ln>
        </p:spPr>
        <p:txBody>
          <a:bodyPr lIns="45719" rIns="45719"/>
          <a:lstStyle/>
          <a:p>
            <a:pPr/>
          </a:p>
        </p:txBody>
      </p:sp>
      <p:sp>
        <p:nvSpPr>
          <p:cNvPr id="260" name="txt_198"/>
          <p:cNvSpPr txBox="1"/>
          <p:nvPr/>
        </p:nvSpPr>
        <p:spPr>
          <a:xfrm>
            <a:off x="8458199" y="280720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Task Model</a:t>
            </a:r>
          </a:p>
        </p:txBody>
      </p:sp>
      <p:sp>
        <p:nvSpPr>
          <p:cNvPr id="261" name="txt_199"/>
          <p:cNvSpPr txBox="1"/>
          <p:nvPr/>
        </p:nvSpPr>
        <p:spPr>
          <a:xfrm>
            <a:off x="8458199" y="3172967"/>
            <a:ext cx="3017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CPU, RAM, priority, status, document IDs</a:t>
            </a:r>
          </a:p>
        </p:txBody>
      </p:sp>
      <p:sp>
        <p:nvSpPr>
          <p:cNvPr id="262" name="box_200"/>
          <p:cNvSpPr/>
          <p:nvPr/>
        </p:nvSpPr>
        <p:spPr>
          <a:xfrm>
            <a:off x="4434840" y="2697479"/>
            <a:ext cx="3291841" cy="1005841"/>
          </a:xfrm>
          <a:prstGeom prst="roundRect">
            <a:avLst>
              <a:gd name="adj" fmla="val 7273"/>
            </a:avLst>
          </a:prstGeom>
          <a:solidFill>
            <a:srgbClr val="162033"/>
          </a:solidFill>
          <a:ln w="19050">
            <a:solidFill>
              <a:schemeClr val="accent4"/>
            </a:solidFill>
          </a:ln>
        </p:spPr>
        <p:txBody>
          <a:bodyPr lIns="45719" rIns="45719"/>
          <a:lstStyle/>
          <a:p>
            <a:pPr/>
          </a:p>
        </p:txBody>
      </p:sp>
      <p:sp>
        <p:nvSpPr>
          <p:cNvPr id="263" name="txt_201"/>
          <p:cNvSpPr txBox="1"/>
          <p:nvPr/>
        </p:nvSpPr>
        <p:spPr>
          <a:xfrm>
            <a:off x="4571999" y="280720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Dependency Graph (DAG)</a:t>
            </a:r>
          </a:p>
        </p:txBody>
      </p:sp>
      <p:sp>
        <p:nvSpPr>
          <p:cNvPr id="264" name="txt_202"/>
          <p:cNvSpPr txBox="1"/>
          <p:nvPr/>
        </p:nvSpPr>
        <p:spPr>
          <a:xfrm>
            <a:off x="4571999" y="3172967"/>
            <a:ext cx="30175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Graph class: cycle check, dependency lookup, topological sort</a:t>
            </a:r>
          </a:p>
        </p:txBody>
      </p:sp>
      <p:sp>
        <p:nvSpPr>
          <p:cNvPr id="265" name="box_203"/>
          <p:cNvSpPr/>
          <p:nvPr/>
        </p:nvSpPr>
        <p:spPr>
          <a:xfrm>
            <a:off x="548640" y="2697479"/>
            <a:ext cx="3291841" cy="1005841"/>
          </a:xfrm>
          <a:prstGeom prst="roundRect">
            <a:avLst>
              <a:gd name="adj" fmla="val 7273"/>
            </a:avLst>
          </a:prstGeom>
          <a:solidFill>
            <a:srgbClr val="162033"/>
          </a:solidFill>
          <a:ln w="19050">
            <a:solidFill>
              <a:schemeClr val="accent2"/>
            </a:solidFill>
          </a:ln>
        </p:spPr>
        <p:txBody>
          <a:bodyPr lIns="45719" rIns="45719"/>
          <a:lstStyle/>
          <a:p>
            <a:pPr/>
          </a:p>
        </p:txBody>
      </p:sp>
      <p:sp>
        <p:nvSpPr>
          <p:cNvPr id="266" name="txt_204"/>
          <p:cNvSpPr txBox="1"/>
          <p:nvPr/>
        </p:nvSpPr>
        <p:spPr>
          <a:xfrm>
            <a:off x="685799" y="280720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HEFT V3 Scheduler</a:t>
            </a:r>
          </a:p>
        </p:txBody>
      </p:sp>
      <p:sp>
        <p:nvSpPr>
          <p:cNvPr id="267" name="txt_205"/>
          <p:cNvSpPr txBox="1"/>
          <p:nvPr/>
        </p:nvSpPr>
        <p:spPr>
          <a:xfrm>
            <a:off x="685799" y="3172967"/>
            <a:ext cx="30175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upward ranks, resource choice, runtime estimates</a:t>
            </a:r>
          </a:p>
        </p:txBody>
      </p:sp>
      <p:sp>
        <p:nvSpPr>
          <p:cNvPr id="268" name="box_206"/>
          <p:cNvSpPr/>
          <p:nvPr/>
        </p:nvSpPr>
        <p:spPr>
          <a:xfrm>
            <a:off x="548640" y="4160520"/>
            <a:ext cx="3291841" cy="1005841"/>
          </a:xfrm>
          <a:prstGeom prst="roundRect">
            <a:avLst>
              <a:gd name="adj" fmla="val 7273"/>
            </a:avLst>
          </a:prstGeom>
          <a:solidFill>
            <a:srgbClr val="162033"/>
          </a:solidFill>
          <a:ln w="19050">
            <a:solidFill>
              <a:schemeClr val="accent3"/>
            </a:solidFill>
          </a:ln>
        </p:spPr>
        <p:txBody>
          <a:bodyPr lIns="45719" rIns="45719"/>
          <a:lstStyle/>
          <a:p>
            <a:pPr/>
          </a:p>
        </p:txBody>
      </p:sp>
      <p:sp>
        <p:nvSpPr>
          <p:cNvPr id="269" name="txt_207"/>
          <p:cNvSpPr txBox="1"/>
          <p:nvPr/>
        </p:nvSpPr>
        <p:spPr>
          <a:xfrm>
            <a:off x="685799" y="427024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Logical Resources</a:t>
            </a:r>
          </a:p>
        </p:txBody>
      </p:sp>
      <p:sp>
        <p:nvSpPr>
          <p:cNvPr id="270" name="txt_208"/>
          <p:cNvSpPr txBox="1"/>
          <p:nvPr/>
        </p:nvSpPr>
        <p:spPr>
          <a:xfrm>
            <a:off x="685799" y="4636008"/>
            <a:ext cx="301752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R01 (4 CPU), R02 (2 CPU), R03 (1 CPU)</a:t>
            </a:r>
          </a:p>
        </p:txBody>
      </p:sp>
      <p:sp>
        <p:nvSpPr>
          <p:cNvPr id="271" name="box_209"/>
          <p:cNvSpPr/>
          <p:nvPr/>
        </p:nvSpPr>
        <p:spPr>
          <a:xfrm>
            <a:off x="4434840" y="4160520"/>
            <a:ext cx="3291841" cy="1005841"/>
          </a:xfrm>
          <a:prstGeom prst="roundRect">
            <a:avLst>
              <a:gd name="adj" fmla="val 7273"/>
            </a:avLst>
          </a:prstGeom>
          <a:solidFill>
            <a:srgbClr val="162033"/>
          </a:solidFill>
          <a:ln w="19050">
            <a:solidFill>
              <a:schemeClr val="accent3"/>
            </a:solidFill>
          </a:ln>
        </p:spPr>
        <p:txBody>
          <a:bodyPr lIns="45719" rIns="45719"/>
          <a:lstStyle/>
          <a:p>
            <a:pPr/>
          </a:p>
        </p:txBody>
      </p:sp>
      <p:sp>
        <p:nvSpPr>
          <p:cNvPr id="272" name="txt_210"/>
          <p:cNvSpPr txBox="1"/>
          <p:nvPr/>
        </p:nvSpPr>
        <p:spPr>
          <a:xfrm>
            <a:off x="4571999" y="427024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Task Execution</a:t>
            </a:r>
          </a:p>
        </p:txBody>
      </p:sp>
      <p:sp>
        <p:nvSpPr>
          <p:cNvPr id="273" name="txt_211"/>
          <p:cNvSpPr txBox="1"/>
          <p:nvPr/>
        </p:nvSpPr>
        <p:spPr>
          <a:xfrm>
            <a:off x="4571999" y="4636008"/>
            <a:ext cx="301752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TaskExecutor runs the real algorithm in worker threads</a:t>
            </a:r>
          </a:p>
        </p:txBody>
      </p:sp>
      <p:sp>
        <p:nvSpPr>
          <p:cNvPr id="274" name="box_212"/>
          <p:cNvSpPr/>
          <p:nvPr/>
        </p:nvSpPr>
        <p:spPr>
          <a:xfrm>
            <a:off x="8321040" y="4160520"/>
            <a:ext cx="3291841" cy="1005841"/>
          </a:xfrm>
          <a:prstGeom prst="roundRect">
            <a:avLst>
              <a:gd name="adj" fmla="val 7273"/>
            </a:avLst>
          </a:prstGeom>
          <a:solidFill>
            <a:srgbClr val="162033"/>
          </a:solidFill>
          <a:ln w="19050">
            <a:solidFill>
              <a:schemeClr val="accent3"/>
            </a:solidFill>
          </a:ln>
        </p:spPr>
        <p:txBody>
          <a:bodyPr lIns="45719" rIns="45719"/>
          <a:lstStyle/>
          <a:p>
            <a:pPr/>
          </a:p>
        </p:txBody>
      </p:sp>
      <p:sp>
        <p:nvSpPr>
          <p:cNvPr id="275" name="txt_213"/>
          <p:cNvSpPr txBox="1"/>
          <p:nvPr/>
        </p:nvSpPr>
        <p:spPr>
          <a:xfrm>
            <a:off x="8458199" y="4270247"/>
            <a:ext cx="30175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FFFFFF"/>
                </a:solidFill>
              </a:defRPr>
            </a:lvl1pPr>
          </a:lstStyle>
          <a:p>
            <a:pPr/>
            <a:r>
              <a:t>Runtime + Results + History</a:t>
            </a:r>
          </a:p>
        </p:txBody>
      </p:sp>
      <p:sp>
        <p:nvSpPr>
          <p:cNvPr id="276" name="txt_214"/>
          <p:cNvSpPr txBox="1"/>
          <p:nvPr/>
        </p:nvSpPr>
        <p:spPr>
          <a:xfrm>
            <a:off x="8458199" y="4636008"/>
            <a:ext cx="301752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measured ms, result summary, saved request history</a:t>
            </a:r>
          </a:p>
        </p:txBody>
      </p:sp>
      <p:sp>
        <p:nvSpPr>
          <p:cNvPr id="277" name="arrow_215"/>
          <p:cNvSpPr/>
          <p:nvPr/>
        </p:nvSpPr>
        <p:spPr>
          <a:xfrm>
            <a:off x="3867911" y="1737360"/>
            <a:ext cx="539497" cy="1"/>
          </a:xfrm>
          <a:prstGeom prst="line">
            <a:avLst/>
          </a:prstGeom>
          <a:ln w="22225">
            <a:solidFill>
              <a:schemeClr val="accent1"/>
            </a:solidFill>
            <a:tailEnd type="triangle"/>
          </a:ln>
        </p:spPr>
        <p:txBody>
          <a:bodyPr lIns="45719" rIns="45719"/>
          <a:lstStyle/>
          <a:p>
            <a:pPr/>
          </a:p>
        </p:txBody>
      </p:sp>
      <p:sp>
        <p:nvSpPr>
          <p:cNvPr id="278" name="arrow_216"/>
          <p:cNvSpPr/>
          <p:nvPr/>
        </p:nvSpPr>
        <p:spPr>
          <a:xfrm>
            <a:off x="7754111" y="1737360"/>
            <a:ext cx="539497" cy="1"/>
          </a:xfrm>
          <a:prstGeom prst="line">
            <a:avLst/>
          </a:prstGeom>
          <a:ln w="22225">
            <a:solidFill>
              <a:schemeClr val="accent1"/>
            </a:solidFill>
            <a:tailEnd type="triangle"/>
          </a:ln>
        </p:spPr>
        <p:txBody>
          <a:bodyPr lIns="45719" rIns="45719"/>
          <a:lstStyle/>
          <a:p>
            <a:pPr/>
          </a:p>
        </p:txBody>
      </p:sp>
      <p:sp>
        <p:nvSpPr>
          <p:cNvPr id="279" name="varrow_217"/>
          <p:cNvSpPr/>
          <p:nvPr/>
        </p:nvSpPr>
        <p:spPr>
          <a:xfrm>
            <a:off x="9966959" y="2267711"/>
            <a:ext cx="1" cy="402337"/>
          </a:xfrm>
          <a:prstGeom prst="line">
            <a:avLst/>
          </a:prstGeom>
          <a:ln w="22225">
            <a:solidFill>
              <a:schemeClr val="accent1"/>
            </a:solidFill>
            <a:tailEnd type="triangle"/>
          </a:ln>
        </p:spPr>
        <p:txBody>
          <a:bodyPr lIns="45719" rIns="45719"/>
          <a:lstStyle/>
          <a:p>
            <a:pPr/>
          </a:p>
        </p:txBody>
      </p:sp>
      <p:sp>
        <p:nvSpPr>
          <p:cNvPr id="280" name="arrow_218"/>
          <p:cNvSpPr/>
          <p:nvPr/>
        </p:nvSpPr>
        <p:spPr>
          <a:xfrm flipH="1">
            <a:off x="7754111" y="3200400"/>
            <a:ext cx="539497" cy="0"/>
          </a:xfrm>
          <a:prstGeom prst="line">
            <a:avLst/>
          </a:prstGeom>
          <a:ln w="22225">
            <a:solidFill>
              <a:schemeClr val="accent1"/>
            </a:solidFill>
            <a:tailEnd type="triangle"/>
          </a:ln>
        </p:spPr>
        <p:txBody>
          <a:bodyPr lIns="45719" rIns="45719"/>
          <a:lstStyle/>
          <a:p>
            <a:pPr/>
          </a:p>
        </p:txBody>
      </p:sp>
      <p:sp>
        <p:nvSpPr>
          <p:cNvPr id="281" name="arrow_219"/>
          <p:cNvSpPr/>
          <p:nvPr/>
        </p:nvSpPr>
        <p:spPr>
          <a:xfrm flipH="1">
            <a:off x="3867911" y="3200400"/>
            <a:ext cx="539497" cy="0"/>
          </a:xfrm>
          <a:prstGeom prst="line">
            <a:avLst/>
          </a:prstGeom>
          <a:ln w="22225">
            <a:solidFill>
              <a:schemeClr val="accent1"/>
            </a:solidFill>
            <a:tailEnd type="triangle"/>
          </a:ln>
        </p:spPr>
        <p:txBody>
          <a:bodyPr lIns="45719" rIns="45719"/>
          <a:lstStyle/>
          <a:p>
            <a:pPr/>
          </a:p>
        </p:txBody>
      </p:sp>
      <p:sp>
        <p:nvSpPr>
          <p:cNvPr id="282" name="varrow_220"/>
          <p:cNvSpPr/>
          <p:nvPr/>
        </p:nvSpPr>
        <p:spPr>
          <a:xfrm>
            <a:off x="2194560" y="3730752"/>
            <a:ext cx="1" cy="402337"/>
          </a:xfrm>
          <a:prstGeom prst="line">
            <a:avLst/>
          </a:prstGeom>
          <a:ln w="22225">
            <a:solidFill>
              <a:schemeClr val="accent1"/>
            </a:solidFill>
            <a:tailEnd type="triangle"/>
          </a:ln>
        </p:spPr>
        <p:txBody>
          <a:bodyPr lIns="45719" rIns="45719"/>
          <a:lstStyle/>
          <a:p>
            <a:pPr/>
          </a:p>
        </p:txBody>
      </p:sp>
      <p:sp>
        <p:nvSpPr>
          <p:cNvPr id="283" name="arrow_221"/>
          <p:cNvSpPr/>
          <p:nvPr/>
        </p:nvSpPr>
        <p:spPr>
          <a:xfrm>
            <a:off x="3867911" y="4663440"/>
            <a:ext cx="539497" cy="1"/>
          </a:xfrm>
          <a:prstGeom prst="line">
            <a:avLst/>
          </a:prstGeom>
          <a:ln w="22225">
            <a:solidFill>
              <a:schemeClr val="accent1"/>
            </a:solidFill>
            <a:tailEnd type="triangle"/>
          </a:ln>
        </p:spPr>
        <p:txBody>
          <a:bodyPr lIns="45719" rIns="45719"/>
          <a:lstStyle/>
          <a:p>
            <a:pPr/>
          </a:p>
        </p:txBody>
      </p:sp>
      <p:sp>
        <p:nvSpPr>
          <p:cNvPr id="284" name="arrow_222"/>
          <p:cNvSpPr/>
          <p:nvPr/>
        </p:nvSpPr>
        <p:spPr>
          <a:xfrm>
            <a:off x="7754111" y="4663440"/>
            <a:ext cx="539497" cy="1"/>
          </a:xfrm>
          <a:prstGeom prst="line">
            <a:avLst/>
          </a:prstGeom>
          <a:ln w="22225">
            <a:solidFill>
              <a:schemeClr val="accent1"/>
            </a:solidFill>
            <a:tailEnd type="triangle"/>
          </a:ln>
        </p:spPr>
        <p:txBody>
          <a:bodyPr lIns="45719" rIns="45719"/>
          <a:lstStyle/>
          <a:p>
            <a:pPr/>
          </a:p>
        </p:txBody>
      </p:sp>
      <p:sp>
        <p:nvSpPr>
          <p:cNvPr id="285" name="txt_223"/>
          <p:cNvSpPr txBox="1"/>
          <p:nvPr/>
        </p:nvSpPr>
        <p:spPr>
          <a:xfrm>
            <a:off x="548640" y="5440679"/>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DATA STRUCTURES IN THE SOURCE</a:t>
            </a:r>
          </a:p>
        </p:txBody>
      </p:sp>
      <p:sp>
        <p:nvSpPr>
          <p:cNvPr id="286" name="box_224"/>
          <p:cNvSpPr/>
          <p:nvPr/>
        </p:nvSpPr>
        <p:spPr>
          <a:xfrm>
            <a:off x="548640" y="5760720"/>
            <a:ext cx="2148840" cy="502921"/>
          </a:xfrm>
          <a:prstGeom prst="roundRect">
            <a:avLst>
              <a:gd name="adj" fmla="val 14545"/>
            </a:avLst>
          </a:prstGeom>
          <a:solidFill>
            <a:schemeClr val="accent6"/>
          </a:solidFill>
          <a:ln w="12700">
            <a:miter lim="400000"/>
          </a:ln>
        </p:spPr>
        <p:txBody>
          <a:bodyPr lIns="45719" rIns="45719"/>
          <a:lstStyle/>
          <a:p>
            <a:pPr/>
          </a:p>
        </p:txBody>
      </p:sp>
      <p:sp>
        <p:nvSpPr>
          <p:cNvPr id="287" name="txt_225"/>
          <p:cNvSpPr txBox="1"/>
          <p:nvPr/>
        </p:nvSpPr>
        <p:spPr>
          <a:xfrm>
            <a:off x="594359" y="5945045"/>
            <a:ext cx="2057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Graph (adjacency matrix DAG)</a:t>
            </a:r>
          </a:p>
        </p:txBody>
      </p:sp>
      <p:sp>
        <p:nvSpPr>
          <p:cNvPr id="288" name="box_226"/>
          <p:cNvSpPr/>
          <p:nvPr/>
        </p:nvSpPr>
        <p:spPr>
          <a:xfrm>
            <a:off x="2743200" y="5760720"/>
            <a:ext cx="1600200" cy="502921"/>
          </a:xfrm>
          <a:prstGeom prst="roundRect">
            <a:avLst>
              <a:gd name="adj" fmla="val 14545"/>
            </a:avLst>
          </a:prstGeom>
          <a:solidFill>
            <a:schemeClr val="accent6"/>
          </a:solidFill>
          <a:ln w="12700">
            <a:miter lim="400000"/>
          </a:ln>
        </p:spPr>
        <p:txBody>
          <a:bodyPr lIns="45719" rIns="45719"/>
          <a:lstStyle/>
          <a:p>
            <a:pPr/>
          </a:p>
        </p:txBody>
      </p:sp>
      <p:sp>
        <p:nvSpPr>
          <p:cNvPr id="289" name="txt_227"/>
          <p:cNvSpPr txBox="1"/>
          <p:nvPr/>
        </p:nvSpPr>
        <p:spPr>
          <a:xfrm>
            <a:off x="2788920" y="5945045"/>
            <a:ext cx="150876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DP tables (int[][])</a:t>
            </a:r>
          </a:p>
        </p:txBody>
      </p:sp>
      <p:sp>
        <p:nvSpPr>
          <p:cNvPr id="290" name="box_228"/>
          <p:cNvSpPr/>
          <p:nvPr/>
        </p:nvSpPr>
        <p:spPr>
          <a:xfrm>
            <a:off x="4389120" y="5760720"/>
            <a:ext cx="1965961" cy="502921"/>
          </a:xfrm>
          <a:prstGeom prst="roundRect">
            <a:avLst>
              <a:gd name="adj" fmla="val 14545"/>
            </a:avLst>
          </a:prstGeom>
          <a:solidFill>
            <a:schemeClr val="accent6"/>
          </a:solidFill>
          <a:ln w="12700">
            <a:miter lim="400000"/>
          </a:ln>
        </p:spPr>
        <p:txBody>
          <a:bodyPr lIns="45719" rIns="45719"/>
          <a:lstStyle/>
          <a:p>
            <a:pPr/>
          </a:p>
        </p:txBody>
      </p:sp>
      <p:sp>
        <p:nvSpPr>
          <p:cNvPr id="291" name="txt_229"/>
          <p:cNvSpPr txBox="1"/>
          <p:nvPr/>
        </p:nvSpPr>
        <p:spPr>
          <a:xfrm>
            <a:off x="4434840" y="5945045"/>
            <a:ext cx="187452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Suffix array + LCP (int[])</a:t>
            </a:r>
          </a:p>
        </p:txBody>
      </p:sp>
      <p:sp>
        <p:nvSpPr>
          <p:cNvPr id="292" name="box_230"/>
          <p:cNvSpPr/>
          <p:nvPr/>
        </p:nvSpPr>
        <p:spPr>
          <a:xfrm>
            <a:off x="6400800" y="5760720"/>
            <a:ext cx="2286000" cy="502921"/>
          </a:xfrm>
          <a:prstGeom prst="roundRect">
            <a:avLst>
              <a:gd name="adj" fmla="val 14545"/>
            </a:avLst>
          </a:prstGeom>
          <a:solidFill>
            <a:schemeClr val="accent6"/>
          </a:solidFill>
          <a:ln w="12700">
            <a:miter lim="400000"/>
          </a:ln>
        </p:spPr>
        <p:txBody>
          <a:bodyPr lIns="45719" rIns="45719"/>
          <a:lstStyle/>
          <a:p>
            <a:pPr/>
          </a:p>
        </p:txBody>
      </p:sp>
      <p:sp>
        <p:nvSpPr>
          <p:cNvPr id="293" name="txt_231"/>
          <p:cNvSpPr txBox="1"/>
          <p:nvPr/>
        </p:nvSpPr>
        <p:spPr>
          <a:xfrm>
            <a:off x="6446520" y="5945045"/>
            <a:ext cx="219456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Flow matrices + array queue (BFS)</a:t>
            </a:r>
          </a:p>
        </p:txBody>
      </p:sp>
      <p:sp>
        <p:nvSpPr>
          <p:cNvPr id="294" name="box_232"/>
          <p:cNvSpPr/>
          <p:nvPr/>
        </p:nvSpPr>
        <p:spPr>
          <a:xfrm>
            <a:off x="8732519" y="5760720"/>
            <a:ext cx="1691641" cy="502921"/>
          </a:xfrm>
          <a:prstGeom prst="roundRect">
            <a:avLst>
              <a:gd name="adj" fmla="val 14545"/>
            </a:avLst>
          </a:prstGeom>
          <a:solidFill>
            <a:schemeClr val="accent6"/>
          </a:solidFill>
          <a:ln w="12700">
            <a:miter lim="400000"/>
          </a:ln>
        </p:spPr>
        <p:txBody>
          <a:bodyPr lIns="45719" rIns="45719"/>
          <a:lstStyle/>
          <a:p>
            <a:pPr/>
          </a:p>
        </p:txBody>
      </p:sp>
      <p:sp>
        <p:nvSpPr>
          <p:cNvPr id="295" name="txt_233"/>
          <p:cNvSpPr txBox="1"/>
          <p:nvPr/>
        </p:nvSpPr>
        <p:spPr>
          <a:xfrm>
            <a:off x="8778240" y="5945045"/>
            <a:ext cx="16002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Task / Resource arrays</a:t>
            </a:r>
          </a:p>
        </p:txBody>
      </p:sp>
      <p:sp>
        <p:nvSpPr>
          <p:cNvPr id="296" name="box_234"/>
          <p:cNvSpPr/>
          <p:nvPr/>
        </p:nvSpPr>
        <p:spPr>
          <a:xfrm>
            <a:off x="10469880" y="5760720"/>
            <a:ext cx="1143001" cy="502921"/>
          </a:xfrm>
          <a:prstGeom prst="roundRect">
            <a:avLst>
              <a:gd name="adj" fmla="val 14545"/>
            </a:avLst>
          </a:prstGeom>
          <a:solidFill>
            <a:schemeClr val="accent6"/>
          </a:solidFill>
          <a:ln w="12700">
            <a:miter lim="400000"/>
          </a:ln>
        </p:spPr>
        <p:txBody>
          <a:bodyPr lIns="45719" rIns="45719"/>
          <a:lstStyle/>
          <a:p>
            <a:pPr/>
          </a:p>
        </p:txBody>
      </p:sp>
      <p:sp>
        <p:nvSpPr>
          <p:cNvPr id="297" name="txt_235"/>
          <p:cNvSpPr txBox="1"/>
          <p:nvPr/>
        </p:nvSpPr>
        <p:spPr>
          <a:xfrm>
            <a:off x="10515599" y="5945045"/>
            <a:ext cx="105156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Worker threads</a:t>
            </a:r>
          </a:p>
        </p:txBody>
      </p:sp>
      <p:sp>
        <p:nvSpPr>
          <p:cNvPr id="298"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Text 0"/>
          <p:cNvSpPr txBox="1"/>
          <p:nvPr>
            <p:ph type="title"/>
          </p:nvPr>
        </p:nvSpPr>
        <p:spPr>
          <a:xfrm>
            <a:off x="548639" y="274319"/>
            <a:ext cx="11064242" cy="777242"/>
          </a:xfrm>
          <a:prstGeom prst="rect">
            <a:avLst/>
          </a:prstGeom>
        </p:spPr>
        <p:txBody>
          <a:bodyPr lIns="0" tIns="0" rIns="0" bIns="0" anchor="ctr"/>
          <a:lstStyle/>
          <a:p>
            <a:pPr/>
            <a:r>
              <a:t>Real console results</a:t>
            </a:r>
          </a:p>
        </p:txBody>
      </p:sp>
      <p:sp>
        <p:nvSpPr>
          <p:cNvPr id="303" name="box_239"/>
          <p:cNvSpPr/>
          <p:nvPr/>
        </p:nvSpPr>
        <p:spPr>
          <a:xfrm>
            <a:off x="548640" y="3840479"/>
            <a:ext cx="3566160" cy="1828801"/>
          </a:xfrm>
          <a:prstGeom prst="roundRect">
            <a:avLst>
              <a:gd name="adj" fmla="val 4000"/>
            </a:avLst>
          </a:prstGeom>
          <a:solidFill>
            <a:srgbClr val="162033"/>
          </a:solidFill>
          <a:ln w="12700">
            <a:miter lim="400000"/>
          </a:ln>
        </p:spPr>
        <p:txBody>
          <a:bodyPr lIns="45719" rIns="45719"/>
          <a:lstStyle/>
          <a:p>
            <a:pPr/>
          </a:p>
        </p:txBody>
      </p:sp>
      <p:sp>
        <p:nvSpPr>
          <p:cNvPr id="304" name="txt_240"/>
          <p:cNvSpPr txBox="1"/>
          <p:nvPr/>
        </p:nvSpPr>
        <p:spPr>
          <a:xfrm>
            <a:off x="731519" y="3931920"/>
            <a:ext cx="320040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1"/>
                </a:solidFill>
              </a:defRPr>
            </a:lvl1pPr>
          </a:lstStyle>
          <a:p>
            <a:pPr/>
            <a:r>
              <a:t>PATTERN SEARCH</a:t>
            </a:r>
          </a:p>
        </p:txBody>
      </p:sp>
      <p:sp>
        <p:nvSpPr>
          <p:cNvPr id="305" name="txt_241"/>
          <p:cNvSpPr txBox="1"/>
          <p:nvPr/>
        </p:nvSpPr>
        <p:spPr>
          <a:xfrm>
            <a:off x="731519" y="42519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KMP on D01, "data"</a:t>
            </a:r>
          </a:p>
        </p:txBody>
      </p:sp>
      <p:sp>
        <p:nvSpPr>
          <p:cNvPr id="306" name="txt_242"/>
          <p:cNvSpPr txBox="1"/>
          <p:nvPr/>
        </p:nvSpPr>
        <p:spPr>
          <a:xfrm>
            <a:off x="731519" y="44348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NOT FOUND, 0 occurrences</a:t>
            </a:r>
          </a:p>
        </p:txBody>
      </p:sp>
      <p:sp>
        <p:nvSpPr>
          <p:cNvPr id="307" name="txt_243"/>
          <p:cNvSpPr txBox="1"/>
          <p:nvPr/>
        </p:nvSpPr>
        <p:spPr>
          <a:xfrm>
            <a:off x="731519" y="47091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Tasks and rounds</a:t>
            </a:r>
          </a:p>
        </p:txBody>
      </p:sp>
      <p:sp>
        <p:nvSpPr>
          <p:cNvPr id="308" name="txt_244"/>
          <p:cNvSpPr txBox="1"/>
          <p:nvPr/>
        </p:nvSpPr>
        <p:spPr>
          <a:xfrm>
            <a:off x="731519" y="48920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1/1 tasks, 1 round, 20.77 ms</a:t>
            </a:r>
          </a:p>
        </p:txBody>
      </p:sp>
      <p:sp>
        <p:nvSpPr>
          <p:cNvPr id="309" name="txt_245"/>
          <p:cNvSpPr txBox="1"/>
          <p:nvPr/>
        </p:nvSpPr>
        <p:spPr>
          <a:xfrm>
            <a:off x="731519" y="51663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Z Algorithm on D04 (saved history)</a:t>
            </a:r>
          </a:p>
        </p:txBody>
      </p:sp>
      <p:sp>
        <p:nvSpPr>
          <p:cNvPr id="310" name="txt_246"/>
          <p:cNvSpPr txBox="1"/>
          <p:nvPr/>
        </p:nvSpPr>
        <p:spPr>
          <a:xfrm>
            <a:off x="731519" y="53492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1 match at position 209</a:t>
            </a:r>
          </a:p>
        </p:txBody>
      </p:sp>
      <p:sp>
        <p:nvSpPr>
          <p:cNvPr id="311" name="box_250"/>
          <p:cNvSpPr/>
          <p:nvPr/>
        </p:nvSpPr>
        <p:spPr>
          <a:xfrm>
            <a:off x="4297679" y="3840479"/>
            <a:ext cx="3566161" cy="1828801"/>
          </a:xfrm>
          <a:prstGeom prst="roundRect">
            <a:avLst>
              <a:gd name="adj" fmla="val 4000"/>
            </a:avLst>
          </a:prstGeom>
          <a:solidFill>
            <a:srgbClr val="162033"/>
          </a:solidFill>
          <a:ln w="12700">
            <a:miter lim="400000"/>
          </a:ln>
        </p:spPr>
        <p:txBody>
          <a:bodyPr lIns="45719" rIns="45719"/>
          <a:lstStyle/>
          <a:p>
            <a:pPr/>
          </a:p>
        </p:txBody>
      </p:sp>
      <p:sp>
        <p:nvSpPr>
          <p:cNvPr id="312" name="txt_251"/>
          <p:cNvSpPr txBox="1"/>
          <p:nvPr/>
        </p:nvSpPr>
        <p:spPr>
          <a:xfrm>
            <a:off x="4480559" y="3931920"/>
            <a:ext cx="320040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4"/>
                </a:solidFill>
              </a:defRPr>
            </a:lvl1pPr>
          </a:lstStyle>
          <a:p>
            <a:pPr/>
            <a:r>
              <a:t>DOCUMENT SIMILARITY</a:t>
            </a:r>
          </a:p>
        </p:txBody>
      </p:sp>
      <p:sp>
        <p:nvSpPr>
          <p:cNvPr id="313" name="txt_252"/>
          <p:cNvSpPr txBox="1"/>
          <p:nvPr/>
        </p:nvSpPr>
        <p:spPr>
          <a:xfrm>
            <a:off x="4480559" y="42519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Suffix Array + LCP, D04 vs D06</a:t>
            </a:r>
          </a:p>
        </p:txBody>
      </p:sp>
      <p:sp>
        <p:nvSpPr>
          <p:cNvPr id="314" name="txt_253"/>
          <p:cNvSpPr txBox="1"/>
          <p:nvPr/>
        </p:nvSpPr>
        <p:spPr>
          <a:xfrm>
            <a:off x="4480559" y="44348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13 chars shared, 5.68%, 540 suffixes</a:t>
            </a:r>
          </a:p>
        </p:txBody>
      </p:sp>
      <p:sp>
        <p:nvSpPr>
          <p:cNvPr id="315" name="txt_254"/>
          <p:cNvSpPr txBox="1"/>
          <p:nvPr/>
        </p:nvSpPr>
        <p:spPr>
          <a:xfrm>
            <a:off x="4480559" y="47091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Edit Distance, D01 vs D04</a:t>
            </a:r>
          </a:p>
        </p:txBody>
      </p:sp>
      <p:sp>
        <p:nvSpPr>
          <p:cNvPr id="316" name="txt_255"/>
          <p:cNvSpPr txBox="1"/>
          <p:nvPr/>
        </p:nvSpPr>
        <p:spPr>
          <a:xfrm>
            <a:off x="4480559" y="48920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distance 253, similarity 18.39%</a:t>
            </a:r>
          </a:p>
        </p:txBody>
      </p:sp>
      <p:sp>
        <p:nvSpPr>
          <p:cNvPr id="317" name="txt_256"/>
          <p:cNvSpPr txBox="1"/>
          <p:nvPr/>
        </p:nvSpPr>
        <p:spPr>
          <a:xfrm>
            <a:off x="4480559" y="5166359"/>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Alignment, D01 vs D05</a:t>
            </a:r>
          </a:p>
        </p:txBody>
      </p:sp>
      <p:sp>
        <p:nvSpPr>
          <p:cNvPr id="318" name="txt_257"/>
          <p:cNvSpPr txBox="1"/>
          <p:nvPr/>
        </p:nvSpPr>
        <p:spPr>
          <a:xfrm>
            <a:off x="4480559" y="5349240"/>
            <a:ext cx="3200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score −353</a:t>
            </a:r>
          </a:p>
        </p:txBody>
      </p:sp>
      <p:sp>
        <p:nvSpPr>
          <p:cNvPr id="319" name="box_261"/>
          <p:cNvSpPr/>
          <p:nvPr/>
        </p:nvSpPr>
        <p:spPr>
          <a:xfrm>
            <a:off x="8046719" y="3840479"/>
            <a:ext cx="3566161" cy="1828801"/>
          </a:xfrm>
          <a:prstGeom prst="roundRect">
            <a:avLst>
              <a:gd name="adj" fmla="val 4000"/>
            </a:avLst>
          </a:prstGeom>
          <a:solidFill>
            <a:srgbClr val="162033"/>
          </a:solidFill>
          <a:ln w="12700">
            <a:miter lim="400000"/>
          </a:ln>
        </p:spPr>
        <p:txBody>
          <a:bodyPr lIns="45719" rIns="45719"/>
          <a:lstStyle/>
          <a:p>
            <a:pPr/>
          </a:p>
        </p:txBody>
      </p:sp>
      <p:sp>
        <p:nvSpPr>
          <p:cNvPr id="320" name="txt_262"/>
          <p:cNvSpPr txBox="1"/>
          <p:nvPr/>
        </p:nvSpPr>
        <p:spPr>
          <a:xfrm>
            <a:off x="8229600" y="3931920"/>
            <a:ext cx="320040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3"/>
                </a:solidFill>
              </a:defRPr>
            </a:lvl1pPr>
          </a:lstStyle>
          <a:p>
            <a:pPr/>
            <a:r>
              <a:t>INTELLIGENT PIPELINE</a:t>
            </a:r>
          </a:p>
        </p:txBody>
      </p:sp>
      <p:sp>
        <p:nvSpPr>
          <p:cNvPr id="321" name="txt_263"/>
          <p:cNvSpPr txBox="1"/>
          <p:nvPr/>
        </p:nvSpPr>
        <p:spPr>
          <a:xfrm>
            <a:off x="8229600" y="4251959"/>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Tasks completed</a:t>
            </a:r>
          </a:p>
        </p:txBody>
      </p:sp>
      <p:sp>
        <p:nvSpPr>
          <p:cNvPr id="322" name="txt_264"/>
          <p:cNvSpPr txBox="1"/>
          <p:nvPr/>
        </p:nvSpPr>
        <p:spPr>
          <a:xfrm>
            <a:off x="8229600" y="4434840"/>
            <a:ext cx="32004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6/6  (0 failed, 0 blocked)</a:t>
            </a:r>
          </a:p>
        </p:txBody>
      </p:sp>
      <p:sp>
        <p:nvSpPr>
          <p:cNvPr id="323" name="txt_265"/>
          <p:cNvSpPr txBox="1"/>
          <p:nvPr/>
        </p:nvSpPr>
        <p:spPr>
          <a:xfrm>
            <a:off x="8229600" y="4709159"/>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Scheduling rounds</a:t>
            </a:r>
          </a:p>
        </p:txBody>
      </p:sp>
      <p:sp>
        <p:nvSpPr>
          <p:cNvPr id="324" name="txt_266"/>
          <p:cNvSpPr txBox="1"/>
          <p:nvPr/>
        </p:nvSpPr>
        <p:spPr>
          <a:xfrm>
            <a:off x="8229600" y="4892040"/>
            <a:ext cx="32004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3</a:t>
            </a:r>
          </a:p>
        </p:txBody>
      </p:sp>
      <p:sp>
        <p:nvSpPr>
          <p:cNvPr id="325" name="txt_267"/>
          <p:cNvSpPr txBox="1"/>
          <p:nvPr/>
        </p:nvSpPr>
        <p:spPr>
          <a:xfrm>
            <a:off x="8229600" y="5166359"/>
            <a:ext cx="320040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B4C0D4"/>
                </a:solidFill>
              </a:defRPr>
            </a:lvl1pPr>
          </a:lstStyle>
          <a:p>
            <a:pPr/>
            <a:r>
              <a:t>Makespan / throughput</a:t>
            </a:r>
          </a:p>
        </p:txBody>
      </p:sp>
      <p:sp>
        <p:nvSpPr>
          <p:cNvPr id="326" name="txt_268"/>
          <p:cNvSpPr txBox="1"/>
          <p:nvPr/>
        </p:nvSpPr>
        <p:spPr>
          <a:xfrm>
            <a:off x="8229600" y="5349240"/>
            <a:ext cx="320040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FFFFFF"/>
                </a:solidFill>
              </a:defRPr>
            </a:lvl1pPr>
          </a:lstStyle>
          <a:p>
            <a:pPr/>
            <a:r>
              <a:t>30 ms / 200.00 tasks/sec</a:t>
            </a:r>
          </a:p>
        </p:txBody>
      </p:sp>
      <p:sp>
        <p:nvSpPr>
          <p:cNvPr id="327" name="box_269"/>
          <p:cNvSpPr/>
          <p:nvPr/>
        </p:nvSpPr>
        <p:spPr>
          <a:xfrm>
            <a:off x="548640" y="5760720"/>
            <a:ext cx="11064241" cy="384049"/>
          </a:xfrm>
          <a:prstGeom prst="roundRect">
            <a:avLst>
              <a:gd name="adj" fmla="val 19048"/>
            </a:avLst>
          </a:prstGeom>
          <a:solidFill>
            <a:schemeClr val="accent6"/>
          </a:solidFill>
          <a:ln w="12700">
            <a:miter lim="400000"/>
          </a:ln>
        </p:spPr>
        <p:txBody>
          <a:bodyPr lIns="45719" rIns="45719"/>
          <a:lstStyle/>
          <a:p>
            <a:pPr/>
          </a:p>
        </p:txBody>
      </p:sp>
      <p:sp>
        <p:nvSpPr>
          <p:cNvPr id="328" name="txt_270"/>
          <p:cNvSpPr txBox="1"/>
          <p:nvPr/>
        </p:nvSpPr>
        <p:spPr>
          <a:xfrm>
            <a:off x="731519" y="5869363"/>
            <a:ext cx="10698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defRPr>
            </a:lvl1pPr>
          </a:lstStyle>
          <a:p>
            <a:pPr/>
            <a:r>
              <a:t>Also run: Edmonds-Karp max flow = 10 (4 augmenting paths)   |   Miller-Rabin on 3: PROBABLY PRIME</a:t>
            </a:r>
          </a:p>
        </p:txBody>
      </p:sp>
      <p:sp>
        <p:nvSpPr>
          <p:cNvPr id="329" name="txt_271"/>
          <p:cNvSpPr txBox="1"/>
          <p:nvPr/>
        </p:nvSpPr>
        <p:spPr>
          <a:xfrm>
            <a:off x="548640" y="6199632"/>
            <a:ext cx="91440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rgbClr val="B4C0D4"/>
                </a:solidFill>
              </a:defRPr>
            </a:lvl1pPr>
          </a:lstStyle>
          <a:p>
            <a:pPr/>
            <a:r>
              <a:t>Runtime measured on the demonstration environment and may vary by machine.</a:t>
            </a:r>
          </a:p>
        </p:txBody>
      </p:sp>
      <p:sp>
        <p:nvSpPr>
          <p:cNvPr id="330"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1" name="Screenshot 2026-10-05 at 8.11.48 AM.png" descr="Screenshot 2026-10-05 at 8.11.48 AM.png"/>
          <p:cNvPicPr>
            <a:picLocks noChangeAspect="1"/>
          </p:cNvPicPr>
          <p:nvPr/>
        </p:nvPicPr>
        <p:blipFill>
          <a:blip r:embed="rId3">
            <a:extLst/>
          </a:blip>
          <a:srcRect l="18904" t="31592" r="44089" b="9741"/>
          <a:stretch>
            <a:fillRect/>
          </a:stretch>
        </p:blipFill>
        <p:spPr>
          <a:xfrm>
            <a:off x="885784" y="925374"/>
            <a:ext cx="2633231" cy="2714872"/>
          </a:xfrm>
          <a:prstGeom prst="rect">
            <a:avLst/>
          </a:prstGeom>
          <a:ln w="12700">
            <a:miter lim="400000"/>
          </a:ln>
        </p:spPr>
      </p:pic>
      <p:pic>
        <p:nvPicPr>
          <p:cNvPr id="332" name="Screenshot 2026-10-05 at 8.12.25 AM.png" descr="Screenshot 2026-10-05 at 8.12.25 AM.png"/>
          <p:cNvPicPr>
            <a:picLocks noChangeAspect="1"/>
          </p:cNvPicPr>
          <p:nvPr/>
        </p:nvPicPr>
        <p:blipFill>
          <a:blip r:embed="rId4">
            <a:extLst/>
          </a:blip>
          <a:srcRect l="1160" t="27422" r="37215" b="6918"/>
          <a:stretch>
            <a:fillRect/>
          </a:stretch>
        </p:blipFill>
        <p:spPr>
          <a:xfrm>
            <a:off x="4307879" y="957610"/>
            <a:ext cx="3576221" cy="2478057"/>
          </a:xfrm>
          <a:prstGeom prst="rect">
            <a:avLst/>
          </a:prstGeom>
          <a:ln w="12700">
            <a:miter lim="400000"/>
          </a:ln>
        </p:spPr>
      </p:pic>
      <p:pic>
        <p:nvPicPr>
          <p:cNvPr id="333" name="Screenshot 2026-10-05 at 8.13.16 AM.png" descr="Screenshot 2026-10-05 at 8.13.16 AM.png"/>
          <p:cNvPicPr>
            <a:picLocks noChangeAspect="1"/>
          </p:cNvPicPr>
          <p:nvPr/>
        </p:nvPicPr>
        <p:blipFill>
          <a:blip r:embed="rId5">
            <a:extLst/>
          </a:blip>
          <a:srcRect l="34780" t="21612" r="23880" b="21612"/>
          <a:stretch>
            <a:fillRect/>
          </a:stretch>
        </p:blipFill>
        <p:spPr>
          <a:xfrm>
            <a:off x="8229599" y="910451"/>
            <a:ext cx="3073144" cy="274488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Text 0"/>
          <p:cNvSpPr txBox="1"/>
          <p:nvPr>
            <p:ph type="title"/>
          </p:nvPr>
        </p:nvSpPr>
        <p:spPr>
          <a:xfrm>
            <a:off x="548639" y="274319"/>
            <a:ext cx="11064242" cy="777242"/>
          </a:xfrm>
          <a:prstGeom prst="rect">
            <a:avLst/>
          </a:prstGeom>
        </p:spPr>
        <p:txBody>
          <a:bodyPr lIns="0" tIns="0" rIns="0" bIns="0" anchor="ctr"/>
          <a:lstStyle/>
          <a:p>
            <a:pPr/>
            <a:r>
              <a:t>Results, validation and performance</a:t>
            </a:r>
          </a:p>
        </p:txBody>
      </p:sp>
      <p:sp>
        <p:nvSpPr>
          <p:cNvPr id="338" name="txt_272"/>
          <p:cNvSpPr txBox="1"/>
          <p:nvPr/>
        </p:nvSpPr>
        <p:spPr>
          <a:xfrm>
            <a:off x="548640" y="1188719"/>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PIPELINE DASHBOARD (6 TASKS)</a:t>
            </a:r>
          </a:p>
        </p:txBody>
      </p:sp>
      <p:sp>
        <p:nvSpPr>
          <p:cNvPr id="339" name="box_273"/>
          <p:cNvSpPr/>
          <p:nvPr/>
        </p:nvSpPr>
        <p:spPr>
          <a:xfrm>
            <a:off x="548640" y="1508760"/>
            <a:ext cx="1645921" cy="1280161"/>
          </a:xfrm>
          <a:prstGeom prst="roundRect">
            <a:avLst>
              <a:gd name="adj" fmla="val 5714"/>
            </a:avLst>
          </a:prstGeom>
          <a:solidFill>
            <a:srgbClr val="162033"/>
          </a:solidFill>
          <a:ln w="12700">
            <a:miter lim="400000"/>
          </a:ln>
        </p:spPr>
        <p:txBody>
          <a:bodyPr lIns="45719" rIns="45719"/>
          <a:lstStyle/>
          <a:p>
            <a:pPr/>
          </a:p>
        </p:txBody>
      </p:sp>
      <p:sp>
        <p:nvSpPr>
          <p:cNvPr id="340" name="txt_274"/>
          <p:cNvSpPr txBox="1"/>
          <p:nvPr/>
        </p:nvSpPr>
        <p:spPr>
          <a:xfrm>
            <a:off x="640079" y="1766704"/>
            <a:ext cx="1463042"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3"/>
                </a:solidFill>
              </a:defRPr>
            </a:lvl1pPr>
          </a:lstStyle>
          <a:p>
            <a:pPr/>
            <a:r>
              <a:t>6/6</a:t>
            </a:r>
          </a:p>
        </p:txBody>
      </p:sp>
      <p:sp>
        <p:nvSpPr>
          <p:cNvPr id="341" name="txt_275"/>
          <p:cNvSpPr txBox="1"/>
          <p:nvPr/>
        </p:nvSpPr>
        <p:spPr>
          <a:xfrm>
            <a:off x="640079" y="2331720"/>
            <a:ext cx="146304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Tasks completed</a:t>
            </a:r>
          </a:p>
        </p:txBody>
      </p:sp>
      <p:sp>
        <p:nvSpPr>
          <p:cNvPr id="342" name="box_276"/>
          <p:cNvSpPr/>
          <p:nvPr/>
        </p:nvSpPr>
        <p:spPr>
          <a:xfrm>
            <a:off x="2331720" y="1508760"/>
            <a:ext cx="1645921" cy="1280161"/>
          </a:xfrm>
          <a:prstGeom prst="roundRect">
            <a:avLst>
              <a:gd name="adj" fmla="val 5714"/>
            </a:avLst>
          </a:prstGeom>
          <a:solidFill>
            <a:srgbClr val="162033"/>
          </a:solidFill>
          <a:ln w="12700">
            <a:miter lim="400000"/>
          </a:ln>
        </p:spPr>
        <p:txBody>
          <a:bodyPr lIns="45719" rIns="45719"/>
          <a:lstStyle/>
          <a:p>
            <a:pPr/>
          </a:p>
        </p:txBody>
      </p:sp>
      <p:sp>
        <p:nvSpPr>
          <p:cNvPr id="343" name="txt_277"/>
          <p:cNvSpPr txBox="1"/>
          <p:nvPr/>
        </p:nvSpPr>
        <p:spPr>
          <a:xfrm>
            <a:off x="2423160" y="1766704"/>
            <a:ext cx="1463041"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3"/>
                </a:solidFill>
              </a:defRPr>
            </a:lvl1pPr>
          </a:lstStyle>
          <a:p>
            <a:pPr/>
            <a:r>
              <a:t>0</a:t>
            </a:r>
          </a:p>
        </p:txBody>
      </p:sp>
      <p:sp>
        <p:nvSpPr>
          <p:cNvPr id="344" name="txt_278"/>
          <p:cNvSpPr txBox="1"/>
          <p:nvPr/>
        </p:nvSpPr>
        <p:spPr>
          <a:xfrm>
            <a:off x="2423160" y="2331720"/>
            <a:ext cx="14630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Tasks failed</a:t>
            </a:r>
          </a:p>
        </p:txBody>
      </p:sp>
      <p:sp>
        <p:nvSpPr>
          <p:cNvPr id="345" name="box_279"/>
          <p:cNvSpPr/>
          <p:nvPr/>
        </p:nvSpPr>
        <p:spPr>
          <a:xfrm>
            <a:off x="4114800" y="1508760"/>
            <a:ext cx="1645921" cy="1280161"/>
          </a:xfrm>
          <a:prstGeom prst="roundRect">
            <a:avLst>
              <a:gd name="adj" fmla="val 5714"/>
            </a:avLst>
          </a:prstGeom>
          <a:solidFill>
            <a:srgbClr val="162033"/>
          </a:solidFill>
          <a:ln w="12700">
            <a:miter lim="400000"/>
          </a:ln>
        </p:spPr>
        <p:txBody>
          <a:bodyPr lIns="45719" rIns="45719"/>
          <a:lstStyle/>
          <a:p>
            <a:pPr/>
          </a:p>
        </p:txBody>
      </p:sp>
      <p:sp>
        <p:nvSpPr>
          <p:cNvPr id="346" name="txt_280"/>
          <p:cNvSpPr txBox="1"/>
          <p:nvPr/>
        </p:nvSpPr>
        <p:spPr>
          <a:xfrm>
            <a:off x="4206240" y="1766704"/>
            <a:ext cx="1463041" cy="39851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3"/>
                </a:solidFill>
              </a:defRPr>
            </a:lvl1pPr>
          </a:lstStyle>
          <a:p>
            <a:pPr/>
            <a:r>
              <a:t>0</a:t>
            </a:r>
          </a:p>
        </p:txBody>
      </p:sp>
      <p:sp>
        <p:nvSpPr>
          <p:cNvPr id="347" name="txt_281"/>
          <p:cNvSpPr txBox="1"/>
          <p:nvPr/>
        </p:nvSpPr>
        <p:spPr>
          <a:xfrm>
            <a:off x="4206240" y="2331720"/>
            <a:ext cx="14630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Tasks blocked</a:t>
            </a:r>
          </a:p>
        </p:txBody>
      </p:sp>
      <p:sp>
        <p:nvSpPr>
          <p:cNvPr id="348" name="box_282"/>
          <p:cNvSpPr/>
          <p:nvPr/>
        </p:nvSpPr>
        <p:spPr>
          <a:xfrm>
            <a:off x="548640" y="2926079"/>
            <a:ext cx="1645921" cy="1280161"/>
          </a:xfrm>
          <a:prstGeom prst="roundRect">
            <a:avLst>
              <a:gd name="adj" fmla="val 5714"/>
            </a:avLst>
          </a:prstGeom>
          <a:solidFill>
            <a:srgbClr val="162033"/>
          </a:solidFill>
          <a:ln w="12700">
            <a:miter lim="400000"/>
          </a:ln>
        </p:spPr>
        <p:txBody>
          <a:bodyPr lIns="45719" rIns="45719"/>
          <a:lstStyle/>
          <a:p>
            <a:pPr/>
          </a:p>
        </p:txBody>
      </p:sp>
      <p:sp>
        <p:nvSpPr>
          <p:cNvPr id="349" name="txt_283"/>
          <p:cNvSpPr txBox="1"/>
          <p:nvPr/>
        </p:nvSpPr>
        <p:spPr>
          <a:xfrm>
            <a:off x="640079" y="3184023"/>
            <a:ext cx="1463042"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1"/>
                </a:solidFill>
              </a:defRPr>
            </a:lvl1pPr>
          </a:lstStyle>
          <a:p>
            <a:pPr/>
            <a:r>
              <a:t>3</a:t>
            </a:r>
          </a:p>
        </p:txBody>
      </p:sp>
      <p:sp>
        <p:nvSpPr>
          <p:cNvPr id="350" name="txt_284"/>
          <p:cNvSpPr txBox="1"/>
          <p:nvPr/>
        </p:nvSpPr>
        <p:spPr>
          <a:xfrm>
            <a:off x="640079" y="3749040"/>
            <a:ext cx="146304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Scheduling rounds</a:t>
            </a:r>
          </a:p>
        </p:txBody>
      </p:sp>
      <p:sp>
        <p:nvSpPr>
          <p:cNvPr id="351" name="box_285"/>
          <p:cNvSpPr/>
          <p:nvPr/>
        </p:nvSpPr>
        <p:spPr>
          <a:xfrm>
            <a:off x="2331720" y="2926079"/>
            <a:ext cx="1645921" cy="1280161"/>
          </a:xfrm>
          <a:prstGeom prst="roundRect">
            <a:avLst>
              <a:gd name="adj" fmla="val 5714"/>
            </a:avLst>
          </a:prstGeom>
          <a:solidFill>
            <a:srgbClr val="162033"/>
          </a:solidFill>
          <a:ln w="12700">
            <a:miter lim="400000"/>
          </a:ln>
        </p:spPr>
        <p:txBody>
          <a:bodyPr lIns="45719" rIns="45719"/>
          <a:lstStyle/>
          <a:p>
            <a:pPr/>
          </a:p>
        </p:txBody>
      </p:sp>
      <p:sp>
        <p:nvSpPr>
          <p:cNvPr id="352" name="txt_286"/>
          <p:cNvSpPr txBox="1"/>
          <p:nvPr/>
        </p:nvSpPr>
        <p:spPr>
          <a:xfrm>
            <a:off x="2423160" y="3184023"/>
            <a:ext cx="1463041"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1"/>
                </a:solidFill>
              </a:defRPr>
            </a:lvl1pPr>
          </a:lstStyle>
          <a:p>
            <a:pPr/>
            <a:r>
              <a:t>30 ms</a:t>
            </a:r>
          </a:p>
        </p:txBody>
      </p:sp>
      <p:sp>
        <p:nvSpPr>
          <p:cNvPr id="353" name="txt_287"/>
          <p:cNvSpPr txBox="1"/>
          <p:nvPr/>
        </p:nvSpPr>
        <p:spPr>
          <a:xfrm>
            <a:off x="2423160" y="3749040"/>
            <a:ext cx="14630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Makespan</a:t>
            </a:r>
          </a:p>
        </p:txBody>
      </p:sp>
      <p:sp>
        <p:nvSpPr>
          <p:cNvPr id="354" name="box_288"/>
          <p:cNvSpPr/>
          <p:nvPr/>
        </p:nvSpPr>
        <p:spPr>
          <a:xfrm>
            <a:off x="4114800" y="2926079"/>
            <a:ext cx="1645921" cy="1280161"/>
          </a:xfrm>
          <a:prstGeom prst="roundRect">
            <a:avLst>
              <a:gd name="adj" fmla="val 5714"/>
            </a:avLst>
          </a:prstGeom>
          <a:solidFill>
            <a:srgbClr val="162033"/>
          </a:solidFill>
          <a:ln w="12700">
            <a:miter lim="400000"/>
          </a:ln>
        </p:spPr>
        <p:txBody>
          <a:bodyPr lIns="45719" rIns="45719"/>
          <a:lstStyle/>
          <a:p>
            <a:pPr/>
          </a:p>
        </p:txBody>
      </p:sp>
      <p:sp>
        <p:nvSpPr>
          <p:cNvPr id="355" name="txt_289"/>
          <p:cNvSpPr txBox="1"/>
          <p:nvPr/>
        </p:nvSpPr>
        <p:spPr>
          <a:xfrm>
            <a:off x="4206240" y="3184023"/>
            <a:ext cx="1463041"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chemeClr val="accent1"/>
                </a:solidFill>
              </a:defRPr>
            </a:lvl1pPr>
          </a:lstStyle>
          <a:p>
            <a:pPr/>
            <a:r>
              <a:t>200.00</a:t>
            </a:r>
          </a:p>
        </p:txBody>
      </p:sp>
      <p:sp>
        <p:nvSpPr>
          <p:cNvPr id="356" name="txt_290"/>
          <p:cNvSpPr txBox="1"/>
          <p:nvPr/>
        </p:nvSpPr>
        <p:spPr>
          <a:xfrm>
            <a:off x="4206240" y="3749040"/>
            <a:ext cx="14630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B4C0D4"/>
                </a:solidFill>
              </a:defRPr>
            </a:lvl1pPr>
          </a:lstStyle>
          <a:p>
            <a:pPr/>
            <a:r>
              <a:t>Tasks / sec</a:t>
            </a:r>
          </a:p>
        </p:txBody>
      </p:sp>
      <p:sp>
        <p:nvSpPr>
          <p:cNvPr id="357" name="txt_291"/>
          <p:cNvSpPr txBox="1"/>
          <p:nvPr/>
        </p:nvSpPr>
        <p:spPr>
          <a:xfrm>
            <a:off x="6126479" y="1188719"/>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ALGORITHM COMPARISON (REAL CONSOLE RUNS)</a:t>
            </a:r>
          </a:p>
        </p:txBody>
      </p:sp>
      <p:graphicFrame>
        <p:nvGraphicFramePr>
          <p:cNvPr id="358" name="compare_table"/>
          <p:cNvGraphicFramePr/>
          <p:nvPr/>
        </p:nvGraphicFramePr>
        <p:xfrm>
          <a:off x="6126479" y="1508760"/>
          <a:ext cx="5486401" cy="146304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28800"/>
                <a:gridCol w="914400"/>
                <a:gridCol w="1005839"/>
                <a:gridCol w="822960"/>
                <a:gridCol w="914400"/>
              </a:tblGrid>
              <a:tr h="365760">
                <a:tc>
                  <a:txBody>
                    <a:bodyPr/>
                    <a:lstStyle/>
                    <a:p>
                      <a:pPr algn="ctr">
                        <a:defRPr sz="1800">
                          <a:solidFill>
                            <a:srgbClr val="000000"/>
                          </a:solidFill>
                        </a:defRPr>
                      </a:pPr>
                      <a:r>
                        <a:rPr b="1" sz="1200">
                          <a:solidFill>
                            <a:srgbClr val="0B1220"/>
                          </a:solidFill>
                        </a:rPr>
                        <a:t>Run</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lgn="ctr">
                        <a:defRPr sz="1800">
                          <a:solidFill>
                            <a:srgbClr val="000000"/>
                          </a:solidFill>
                        </a:defRPr>
                      </a:pPr>
                      <a:r>
                        <a:rPr b="1" sz="1200">
                          <a:solidFill>
                            <a:srgbClr val="0B1220"/>
                          </a:solidFill>
                        </a:rPr>
                        <a:t>KMP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lgn="ctr">
                        <a:defRPr sz="1800">
                          <a:solidFill>
                            <a:srgbClr val="000000"/>
                          </a:solidFill>
                        </a:defRPr>
                      </a:pPr>
                      <a:r>
                        <a:rPr b="1" sz="1200">
                          <a:solidFill>
                            <a:srgbClr val="0B1220"/>
                          </a:solidFill>
                        </a:rPr>
                        <a:t>Rabin-Karp</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lgn="ctr">
                        <a:defRPr sz="1800">
                          <a:solidFill>
                            <a:srgbClr val="000000"/>
                          </a:solidFill>
                        </a:defRPr>
                      </a:pPr>
                      <a:r>
                        <a:rPr b="1" sz="1200">
                          <a:solidFill>
                            <a:srgbClr val="0B1220"/>
                          </a:solidFill>
                        </a:rPr>
                        <a:t>Z</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c>
                  <a:txBody>
                    <a:bodyPr/>
                    <a:lstStyle/>
                    <a:p>
                      <a:pPr algn="ctr">
                        <a:defRPr sz="1800">
                          <a:solidFill>
                            <a:srgbClr val="000000"/>
                          </a:solidFill>
                        </a:defRPr>
                      </a:pPr>
                      <a:r>
                        <a:rPr b="1" sz="1200">
                          <a:solidFill>
                            <a:srgbClr val="0B1220"/>
                          </a:solidFill>
                        </a:rPr>
                        <a:t>Matches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chemeClr val="accent1"/>
                    </a:solidFill>
                  </a:tcPr>
                </a:tc>
              </a:tr>
              <a:tr h="548640">
                <a:tc>
                  <a:txBody>
                    <a:bodyPr/>
                    <a:lstStyle/>
                    <a:p>
                      <a:pPr>
                        <a:defRPr sz="1800">
                          <a:solidFill>
                            <a:srgbClr val="000000"/>
                          </a:solidFill>
                        </a:defRPr>
                      </a:pPr>
                      <a:r>
                        <a:rPr sz="1200">
                          <a:solidFill>
                            <a:srgbClr val="FFFFFF"/>
                          </a:solidFill>
                        </a:rPr>
                        <a:t>D01, "algorithm" (73 chars)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20.500 µs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19.000 µs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1.590 ms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0, all agree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r h="548640">
                <a:tc>
                  <a:txBody>
                    <a:bodyPr/>
                    <a:lstStyle/>
                    <a:p>
                      <a:pPr>
                        <a:defRPr sz="1800">
                          <a:solidFill>
                            <a:srgbClr val="000000"/>
                          </a:solidFill>
                        </a:defRPr>
                      </a:pPr>
                      <a:r>
                        <a:rPr sz="1200">
                          <a:solidFill>
                            <a:srgbClr val="FFFFFF"/>
                          </a:solidFill>
                        </a:rPr>
                        <a:t>D06, "7" (229 chars)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474.875 µs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36.250 µs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104.375 µs</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c>
                  <a:txBody>
                    <a:bodyPr/>
                    <a:lstStyle/>
                    <a:p>
                      <a:pPr algn="ctr">
                        <a:defRPr sz="1800">
                          <a:solidFill>
                            <a:srgbClr val="000000"/>
                          </a:solidFill>
                        </a:defRPr>
                      </a:pPr>
                      <a:r>
                        <a:rPr sz="1200">
                          <a:solidFill>
                            <a:srgbClr val="FFFFFF"/>
                          </a:solidFill>
                        </a:rPr>
                        <a:t>0, all agree</a:t>
                      </a:r>
                    </a:p>
                  </a:txBody>
                  <a:tcPr marL="27432" marR="27432" marT="27432" marB="27432" anchor="ctr" anchorCtr="0" horzOverflow="overflow">
                    <a:lnL>
                      <a:solidFill>
                        <a:schemeClr val="accent6"/>
                      </a:solidFill>
                    </a:lnL>
                    <a:lnR>
                      <a:solidFill>
                        <a:schemeClr val="accent6"/>
                      </a:solidFill>
                    </a:lnR>
                    <a:lnT>
                      <a:solidFill>
                        <a:schemeClr val="accent6"/>
                      </a:solidFill>
                    </a:lnT>
                    <a:lnB>
                      <a:solidFill>
                        <a:schemeClr val="accent6"/>
                      </a:solidFill>
                    </a:lnB>
                    <a:solidFill>
                      <a:srgbClr val="162033"/>
                    </a:solidFill>
                  </a:tcPr>
                </a:tc>
              </a:tr>
            </a:tbl>
          </a:graphicData>
        </a:graphic>
      </p:graphicFrame>
      <p:sp>
        <p:nvSpPr>
          <p:cNvPr id="359" name="txt_292"/>
          <p:cNvSpPr txBox="1"/>
          <p:nvPr/>
        </p:nvSpPr>
        <p:spPr>
          <a:xfrm>
            <a:off x="6126479" y="3108960"/>
            <a:ext cx="548640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B4C0D4"/>
                </a:solidFill>
              </a:defRPr>
            </a:lvl1pPr>
          </a:lstStyle>
          <a:p>
            <a:pPr/>
            <a:r>
              <a:t>Consistency check: PASS in both runs. Single-run timings, so no speed ranking is claimed.</a:t>
            </a:r>
          </a:p>
        </p:txBody>
      </p:sp>
      <p:sp>
        <p:nvSpPr>
          <p:cNvPr id="360" name="box_293"/>
          <p:cNvSpPr/>
          <p:nvPr/>
        </p:nvSpPr>
        <p:spPr>
          <a:xfrm>
            <a:off x="6126479" y="3657600"/>
            <a:ext cx="5486401" cy="685800"/>
          </a:xfrm>
          <a:prstGeom prst="roundRect">
            <a:avLst>
              <a:gd name="adj" fmla="val 10667"/>
            </a:avLst>
          </a:prstGeom>
          <a:solidFill>
            <a:srgbClr val="162033"/>
          </a:solidFill>
          <a:ln w="12700">
            <a:miter lim="400000"/>
          </a:ln>
        </p:spPr>
        <p:txBody>
          <a:bodyPr lIns="45719" rIns="45719"/>
          <a:lstStyle/>
          <a:p>
            <a:pPr/>
          </a:p>
        </p:txBody>
      </p:sp>
      <p:sp>
        <p:nvSpPr>
          <p:cNvPr id="361" name="txt_294"/>
          <p:cNvSpPr txBox="1"/>
          <p:nvPr/>
        </p:nvSpPr>
        <p:spPr>
          <a:xfrm>
            <a:off x="6309359" y="3815519"/>
            <a:ext cx="51206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FFFFFF"/>
                </a:solidFill>
              </a:defRPr>
            </a:lvl1pPr>
          </a:lstStyle>
          <a:p>
            <a:pPr/>
            <a:r>
              <a:t>Saved request history: 18 requests recorded, each with algorithm, resource, runtime and result.</a:t>
            </a:r>
          </a:p>
        </p:txBody>
      </p:sp>
      <p:sp>
        <p:nvSpPr>
          <p:cNvPr id="362" name="box_295"/>
          <p:cNvSpPr/>
          <p:nvPr/>
        </p:nvSpPr>
        <p:spPr>
          <a:xfrm>
            <a:off x="548640" y="4526279"/>
            <a:ext cx="5486401" cy="1463041"/>
          </a:xfrm>
          <a:prstGeom prst="roundRect">
            <a:avLst>
              <a:gd name="adj" fmla="val 5000"/>
            </a:avLst>
          </a:prstGeom>
          <a:solidFill>
            <a:srgbClr val="162033"/>
          </a:solidFill>
          <a:ln w="15875">
            <a:solidFill>
              <a:schemeClr val="accent3"/>
            </a:solidFill>
          </a:ln>
        </p:spPr>
        <p:txBody>
          <a:bodyPr lIns="45719" rIns="45719"/>
          <a:lstStyle/>
          <a:p>
            <a:pPr/>
          </a:p>
        </p:txBody>
      </p:sp>
      <p:sp>
        <p:nvSpPr>
          <p:cNvPr id="363" name="txt_296"/>
          <p:cNvSpPr txBox="1"/>
          <p:nvPr/>
        </p:nvSpPr>
        <p:spPr>
          <a:xfrm>
            <a:off x="731519" y="4617720"/>
            <a:ext cx="5120642"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3"/>
                </a:solidFill>
              </a:defRPr>
            </a:lvl1pPr>
          </a:lstStyle>
          <a:p>
            <a:pPr/>
            <a:r>
              <a:t>WHAT THIS ESTABLISHES</a:t>
            </a:r>
          </a:p>
        </p:txBody>
      </p:sp>
      <p:sp>
        <p:nvSpPr>
          <p:cNvPr id="364" name="txt_297"/>
          <p:cNvSpPr txBox="1"/>
          <p:nvPr/>
        </p:nvSpPr>
        <p:spPr>
          <a:xfrm>
            <a:off x="731519" y="4937759"/>
            <a:ext cx="5120642" cy="748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400"/>
              </a:spcBef>
              <a:buSzPct val="100000"/>
              <a:buChar char="•"/>
              <a:defRPr sz="1400">
                <a:solidFill>
                  <a:srgbClr val="FFFFFF"/>
                </a:solidFill>
              </a:defRPr>
            </a:pPr>
            <a:r>
              <a:t>Correctness: three string algorithms agree</a:t>
            </a:r>
          </a:p>
          <a:p>
            <a:pPr marL="342900" indent="-342900">
              <a:spcBef>
                <a:spcPts val="400"/>
              </a:spcBef>
              <a:buSzPct val="100000"/>
              <a:buChar char="•"/>
              <a:defRPr sz="1400">
                <a:solidFill>
                  <a:srgbClr val="FFFFFF"/>
                </a:solidFill>
              </a:defRPr>
            </a:pPr>
            <a:r>
              <a:t>Measured execution: real runtime per task</a:t>
            </a:r>
          </a:p>
          <a:p>
            <a:pPr marL="342900" indent="-342900">
              <a:spcBef>
                <a:spcPts val="400"/>
              </a:spcBef>
              <a:buSzPct val="100000"/>
              <a:buChar char="•"/>
              <a:defRPr sz="1400">
                <a:solidFill>
                  <a:srgbClr val="FFFFFF"/>
                </a:solidFill>
              </a:defRPr>
            </a:pPr>
            <a:r>
              <a:t>Scheduler behaviour: 6/6 tasks over 3 workers</a:t>
            </a:r>
          </a:p>
        </p:txBody>
      </p:sp>
      <p:sp>
        <p:nvSpPr>
          <p:cNvPr id="365" name="box_298"/>
          <p:cNvSpPr/>
          <p:nvPr/>
        </p:nvSpPr>
        <p:spPr>
          <a:xfrm>
            <a:off x="6126479" y="4526279"/>
            <a:ext cx="5486401" cy="1463041"/>
          </a:xfrm>
          <a:prstGeom prst="roundRect">
            <a:avLst>
              <a:gd name="adj" fmla="val 5000"/>
            </a:avLst>
          </a:prstGeom>
          <a:solidFill>
            <a:srgbClr val="162033"/>
          </a:solidFill>
          <a:ln w="15875">
            <a:solidFill>
              <a:schemeClr val="accent5"/>
            </a:solidFill>
          </a:ln>
        </p:spPr>
        <p:txBody>
          <a:bodyPr lIns="45719" rIns="45719"/>
          <a:lstStyle/>
          <a:p>
            <a:pPr/>
          </a:p>
        </p:txBody>
      </p:sp>
      <p:sp>
        <p:nvSpPr>
          <p:cNvPr id="366" name="txt_299"/>
          <p:cNvSpPr txBox="1"/>
          <p:nvPr/>
        </p:nvSpPr>
        <p:spPr>
          <a:xfrm>
            <a:off x="6309359" y="4617720"/>
            <a:ext cx="51206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5"/>
                </a:solidFill>
              </a:defRPr>
            </a:lvl1pPr>
          </a:lstStyle>
          <a:p>
            <a:pPr/>
            <a:r>
              <a:t>WHAT WE DO NOT CLAIM</a:t>
            </a:r>
          </a:p>
        </p:txBody>
      </p:sp>
      <p:sp>
        <p:nvSpPr>
          <p:cNvPr id="367" name="txt_300"/>
          <p:cNvSpPr txBox="1"/>
          <p:nvPr/>
        </p:nvSpPr>
        <p:spPr>
          <a:xfrm>
            <a:off x="6309359" y="4937759"/>
            <a:ext cx="5120641" cy="748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400"/>
              </a:spcBef>
              <a:buSzPct val="100000"/>
              <a:buChar char="•"/>
              <a:defRPr sz="1400">
                <a:solidFill>
                  <a:srgbClr val="FFFFFF"/>
                </a:solidFill>
              </a:defRPr>
            </a:pPr>
            <a:r>
              <a:t>Not faster than every other algorithm</a:t>
            </a:r>
          </a:p>
          <a:p>
            <a:pPr marL="342900" indent="-342900">
              <a:spcBef>
                <a:spcPts val="400"/>
              </a:spcBef>
              <a:buSzPct val="100000"/>
              <a:buChar char="•"/>
              <a:defRPr sz="1400">
                <a:solidFill>
                  <a:srgbClr val="FFFFFF"/>
                </a:solidFill>
              </a:defRPr>
            </a:pPr>
            <a:r>
              <a:t>Timings are machine-dependent single runs</a:t>
            </a:r>
          </a:p>
          <a:p>
            <a:pPr marL="342900" indent="-342900">
              <a:spcBef>
                <a:spcPts val="400"/>
              </a:spcBef>
              <a:buSzPct val="100000"/>
              <a:buChar char="•"/>
              <a:defRPr sz="1400">
                <a:solidFill>
                  <a:srgbClr val="FFFFFF"/>
                </a:solidFill>
              </a:defRPr>
            </a:pPr>
            <a:r>
              <a:t>Small 10-document corpus, not large-scale</a:t>
            </a:r>
          </a:p>
        </p:txBody>
      </p:sp>
      <p:sp>
        <p:nvSpPr>
          <p:cNvPr id="368"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Text 0"/>
          <p:cNvSpPr txBox="1"/>
          <p:nvPr>
            <p:ph type="title"/>
          </p:nvPr>
        </p:nvSpPr>
        <p:spPr>
          <a:xfrm>
            <a:off x="548639" y="274319"/>
            <a:ext cx="11064242" cy="777242"/>
          </a:xfrm>
          <a:prstGeom prst="rect">
            <a:avLst/>
          </a:prstGeom>
        </p:spPr>
        <p:txBody>
          <a:bodyPr lIns="0" tIns="0" rIns="0" bIns="0" anchor="ctr"/>
          <a:lstStyle/>
          <a:p>
            <a:pPr/>
            <a:r>
              <a:t>Innovation, sustainability and social utility</a:t>
            </a:r>
          </a:p>
        </p:txBody>
      </p:sp>
      <p:sp>
        <p:nvSpPr>
          <p:cNvPr id="373" name="box_301"/>
          <p:cNvSpPr/>
          <p:nvPr/>
        </p:nvSpPr>
        <p:spPr>
          <a:xfrm>
            <a:off x="548640" y="1188719"/>
            <a:ext cx="3566160" cy="5029201"/>
          </a:xfrm>
          <a:prstGeom prst="roundRect">
            <a:avLst>
              <a:gd name="adj" fmla="val 2051"/>
            </a:avLst>
          </a:prstGeom>
          <a:solidFill>
            <a:srgbClr val="162033"/>
          </a:solidFill>
          <a:ln w="19050">
            <a:solidFill>
              <a:schemeClr val="accent1"/>
            </a:solidFill>
          </a:ln>
        </p:spPr>
        <p:txBody>
          <a:bodyPr lIns="45719" rIns="45719"/>
          <a:lstStyle/>
          <a:p>
            <a:pPr/>
          </a:p>
        </p:txBody>
      </p:sp>
      <p:sp>
        <p:nvSpPr>
          <p:cNvPr id="374" name="txt_302"/>
          <p:cNvSpPr txBox="1"/>
          <p:nvPr/>
        </p:nvSpPr>
        <p:spPr>
          <a:xfrm>
            <a:off x="777239" y="1371599"/>
            <a:ext cx="3108962"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chemeClr val="accent1"/>
                </a:solidFill>
              </a:defRPr>
            </a:lvl1pPr>
          </a:lstStyle>
          <a:p>
            <a:pPr/>
            <a:r>
              <a:t>INNOVATION</a:t>
            </a:r>
          </a:p>
        </p:txBody>
      </p:sp>
      <p:sp>
        <p:nvSpPr>
          <p:cNvPr id="375" name="txt_303"/>
          <p:cNvSpPr txBox="1"/>
          <p:nvPr/>
        </p:nvSpPr>
        <p:spPr>
          <a:xfrm>
            <a:off x="777239" y="1920239"/>
            <a:ext cx="3108962" cy="39429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900"/>
              </a:spcBef>
              <a:buSzPct val="100000"/>
              <a:buChar char="•"/>
              <a:defRPr sz="1600">
                <a:solidFill>
                  <a:srgbClr val="FFFFFF"/>
                </a:solidFill>
              </a:defRPr>
            </a:pPr>
            <a:r>
              <a:t>Many DSA algorithms in one engine</a:t>
            </a:r>
          </a:p>
          <a:p>
            <a:pPr marL="342900" indent="-342900">
              <a:spcBef>
                <a:spcPts val="900"/>
              </a:spcBef>
              <a:buSzPct val="100000"/>
              <a:buChar char="•"/>
              <a:defRPr sz="1600">
                <a:solidFill>
                  <a:srgbClr val="FFFFFF"/>
                </a:solidFill>
              </a:defRPr>
            </a:pPr>
            <a:r>
              <a:t>Algorithms treated as schedulable tasks</a:t>
            </a:r>
          </a:p>
          <a:p>
            <a:pPr marL="342900" indent="-342900">
              <a:spcBef>
                <a:spcPts val="900"/>
              </a:spcBef>
              <a:buSzPct val="100000"/>
              <a:buChar char="•"/>
              <a:defRPr sz="1600">
                <a:solidFill>
                  <a:srgbClr val="FFFFFF"/>
                </a:solidFill>
              </a:defRPr>
            </a:pPr>
            <a:r>
              <a:t>Dependency-aware scheduling (DAG)</a:t>
            </a:r>
          </a:p>
          <a:p>
            <a:pPr marL="342900" indent="-342900">
              <a:spcBef>
                <a:spcPts val="900"/>
              </a:spcBef>
              <a:buSzPct val="100000"/>
              <a:buChar char="•"/>
              <a:defRPr sz="1600">
                <a:solidFill>
                  <a:srgbClr val="FFFFFF"/>
                </a:solidFill>
              </a:defRPr>
            </a:pPr>
            <a:r>
              <a:t>Runtime-aware HEFT V3 with learned estimates</a:t>
            </a:r>
          </a:p>
          <a:p>
            <a:pPr marL="342900" indent="-342900">
              <a:spcBef>
                <a:spcPts val="900"/>
              </a:spcBef>
              <a:buSzPct val="100000"/>
              <a:buChar char="•"/>
              <a:defRPr sz="1600">
                <a:solidFill>
                  <a:srgbClr val="FFFFFF"/>
                </a:solidFill>
              </a:defRPr>
            </a:pPr>
            <a:r>
              <a:t>Heterogeneous logical resources</a:t>
            </a:r>
          </a:p>
          <a:p>
            <a:pPr marL="342900" indent="-342900">
              <a:spcBef>
                <a:spcPts val="900"/>
              </a:spcBef>
              <a:buSzPct val="100000"/>
              <a:buChar char="•"/>
              <a:defRPr sz="1600">
                <a:solidFill>
                  <a:srgbClr val="FFFFFF"/>
                </a:solidFill>
              </a:defRPr>
            </a:pPr>
            <a:r>
              <a:t>Parallel execution of independent tasks</a:t>
            </a:r>
          </a:p>
          <a:p>
            <a:pPr marL="342900" indent="-342900">
              <a:spcBef>
                <a:spcPts val="900"/>
              </a:spcBef>
              <a:buSzPct val="100000"/>
              <a:buChar char="•"/>
              <a:defRPr sz="1600">
                <a:solidFill>
                  <a:srgbClr val="FFFFFF"/>
                </a:solidFill>
              </a:defRPr>
            </a:pPr>
            <a:r>
              <a:t>Runtime measurement and saved history</a:t>
            </a:r>
          </a:p>
        </p:txBody>
      </p:sp>
      <p:sp>
        <p:nvSpPr>
          <p:cNvPr id="376" name="box_304"/>
          <p:cNvSpPr/>
          <p:nvPr/>
        </p:nvSpPr>
        <p:spPr>
          <a:xfrm>
            <a:off x="4297679" y="1188719"/>
            <a:ext cx="3566161" cy="5029201"/>
          </a:xfrm>
          <a:prstGeom prst="roundRect">
            <a:avLst>
              <a:gd name="adj" fmla="val 2051"/>
            </a:avLst>
          </a:prstGeom>
          <a:solidFill>
            <a:srgbClr val="162033"/>
          </a:solidFill>
          <a:ln w="19050">
            <a:solidFill>
              <a:schemeClr val="accent3"/>
            </a:solidFill>
          </a:ln>
        </p:spPr>
        <p:txBody>
          <a:bodyPr lIns="45719" rIns="45719"/>
          <a:lstStyle/>
          <a:p>
            <a:pPr/>
          </a:p>
        </p:txBody>
      </p:sp>
      <p:sp>
        <p:nvSpPr>
          <p:cNvPr id="377" name="txt_305"/>
          <p:cNvSpPr txBox="1"/>
          <p:nvPr/>
        </p:nvSpPr>
        <p:spPr>
          <a:xfrm>
            <a:off x="4526279" y="1371599"/>
            <a:ext cx="310896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chemeClr val="accent3"/>
                </a:solidFill>
              </a:defRPr>
            </a:lvl1pPr>
          </a:lstStyle>
          <a:p>
            <a:pPr/>
            <a:r>
              <a:t>SUSTAINABILITY</a:t>
            </a:r>
          </a:p>
        </p:txBody>
      </p:sp>
      <p:sp>
        <p:nvSpPr>
          <p:cNvPr id="378" name="txt_306"/>
          <p:cNvSpPr txBox="1"/>
          <p:nvPr/>
        </p:nvSpPr>
        <p:spPr>
          <a:xfrm>
            <a:off x="4526279" y="1920240"/>
            <a:ext cx="3108961" cy="2076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900"/>
              </a:spcBef>
              <a:buSzPct val="100000"/>
              <a:buChar char="•"/>
              <a:defRPr sz="1600">
                <a:solidFill>
                  <a:srgbClr val="FFFFFF"/>
                </a:solidFill>
              </a:defRPr>
            </a:pPr>
            <a:r>
              <a:t>Tasks matched to workers that fit their CPU and RAM</a:t>
            </a:r>
          </a:p>
          <a:p>
            <a:pPr marL="342900" indent="-342900">
              <a:spcBef>
                <a:spcPts val="900"/>
              </a:spcBef>
              <a:buSzPct val="100000"/>
              <a:buChar char="•"/>
              <a:defRPr sz="1600">
                <a:solidFill>
                  <a:srgbClr val="FFFFFF"/>
                </a:solidFill>
              </a:defRPr>
            </a:pPr>
            <a:r>
              <a:t>Independent work runs in parallel, not in sequence</a:t>
            </a:r>
          </a:p>
          <a:p>
            <a:pPr marL="342900" indent="-342900">
              <a:spcBef>
                <a:spcPts val="900"/>
              </a:spcBef>
              <a:buSzPct val="100000"/>
              <a:buChar char="•"/>
              <a:defRPr sz="1600">
                <a:solidFill>
                  <a:srgbClr val="FFFFFF"/>
                </a:solidFill>
              </a:defRPr>
            </a:pPr>
            <a:r>
              <a:t>Estimates learn from measured runtimes</a:t>
            </a:r>
          </a:p>
          <a:p>
            <a:pPr marL="342900" indent="-342900">
              <a:spcBef>
                <a:spcPts val="900"/>
              </a:spcBef>
              <a:buSzPct val="100000"/>
              <a:buChar char="•"/>
              <a:defRPr sz="1600">
                <a:solidFill>
                  <a:srgbClr val="FFFFFF"/>
                </a:solidFill>
              </a:defRPr>
            </a:pPr>
            <a:r>
              <a:t>Better use of available compute</a:t>
            </a:r>
          </a:p>
        </p:txBody>
      </p:sp>
      <p:sp>
        <p:nvSpPr>
          <p:cNvPr id="379" name="txt_307"/>
          <p:cNvSpPr txBox="1"/>
          <p:nvPr/>
        </p:nvSpPr>
        <p:spPr>
          <a:xfrm>
            <a:off x="4526279" y="5440679"/>
            <a:ext cx="310896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200">
                <a:solidFill>
                  <a:srgbClr val="B4C0D4"/>
                </a:solidFill>
              </a:defRPr>
            </a:lvl1pPr>
          </a:lstStyle>
          <a:p>
            <a:pPr/>
            <a:r>
              <a:t>Computational efficiency angle only. We did not measure energy.</a:t>
            </a:r>
          </a:p>
        </p:txBody>
      </p:sp>
      <p:sp>
        <p:nvSpPr>
          <p:cNvPr id="380" name="box_308"/>
          <p:cNvSpPr/>
          <p:nvPr/>
        </p:nvSpPr>
        <p:spPr>
          <a:xfrm>
            <a:off x="8046719" y="1188719"/>
            <a:ext cx="3566161" cy="5029201"/>
          </a:xfrm>
          <a:prstGeom prst="roundRect">
            <a:avLst>
              <a:gd name="adj" fmla="val 2051"/>
            </a:avLst>
          </a:prstGeom>
          <a:solidFill>
            <a:srgbClr val="162033"/>
          </a:solidFill>
          <a:ln w="19050">
            <a:solidFill>
              <a:schemeClr val="accent2"/>
            </a:solidFill>
          </a:ln>
        </p:spPr>
        <p:txBody>
          <a:bodyPr lIns="45719" rIns="45719"/>
          <a:lstStyle/>
          <a:p>
            <a:pPr/>
          </a:p>
        </p:txBody>
      </p:sp>
      <p:sp>
        <p:nvSpPr>
          <p:cNvPr id="381" name="txt_309"/>
          <p:cNvSpPr txBox="1"/>
          <p:nvPr/>
        </p:nvSpPr>
        <p:spPr>
          <a:xfrm>
            <a:off x="8275319" y="1371599"/>
            <a:ext cx="310896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chemeClr val="accent2"/>
                </a:solidFill>
              </a:defRPr>
            </a:lvl1pPr>
          </a:lstStyle>
          <a:p>
            <a:pPr/>
            <a:r>
              <a:t>UTILITY TO SOCIETY</a:t>
            </a:r>
          </a:p>
        </p:txBody>
      </p:sp>
      <p:sp>
        <p:nvSpPr>
          <p:cNvPr id="382" name="txt_310"/>
          <p:cNvSpPr txBox="1"/>
          <p:nvPr/>
        </p:nvSpPr>
        <p:spPr>
          <a:xfrm>
            <a:off x="8275319" y="1920240"/>
            <a:ext cx="3108961" cy="20506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900"/>
              </a:spcBef>
              <a:buSzPct val="100000"/>
              <a:buChar char="•"/>
              <a:defRPr sz="1600">
                <a:solidFill>
                  <a:srgbClr val="FFFFFF"/>
                </a:solidFill>
              </a:defRPr>
            </a:pPr>
            <a:r>
              <a:t>Digital libraries</a:t>
            </a:r>
          </a:p>
          <a:p>
            <a:pPr marL="342900" indent="-342900">
              <a:spcBef>
                <a:spcPts val="900"/>
              </a:spcBef>
              <a:buSzPct val="100000"/>
              <a:buChar char="•"/>
              <a:defRPr sz="1600">
                <a:solidFill>
                  <a:srgbClr val="FFFFFF"/>
                </a:solidFill>
              </a:defRPr>
            </a:pPr>
            <a:r>
              <a:t>Document analysis and similarity</a:t>
            </a:r>
          </a:p>
          <a:p>
            <a:pPr marL="342900" indent="-342900">
              <a:spcBef>
                <a:spcPts val="900"/>
              </a:spcBef>
              <a:buSzPct val="100000"/>
              <a:buChar char="•"/>
              <a:defRPr sz="1600">
                <a:solidFill>
                  <a:srgbClr val="FFFFFF"/>
                </a:solidFill>
              </a:defRPr>
            </a:pPr>
            <a:r>
              <a:t>Educational systems</a:t>
            </a:r>
          </a:p>
          <a:p>
            <a:pPr marL="342900" indent="-342900">
              <a:spcBef>
                <a:spcPts val="900"/>
              </a:spcBef>
              <a:buSzPct val="100000"/>
              <a:buChar char="•"/>
              <a:defRPr sz="1600">
                <a:solidFill>
                  <a:srgbClr val="FFFFFF"/>
                </a:solidFill>
              </a:defRPr>
            </a:pPr>
            <a:r>
              <a:t>Information retrieval</a:t>
            </a:r>
          </a:p>
          <a:p>
            <a:pPr marL="342900" indent="-342900">
              <a:spcBef>
                <a:spcPts val="900"/>
              </a:spcBef>
              <a:buSzPct val="100000"/>
              <a:buChar char="•"/>
              <a:defRPr sz="1600">
                <a:solidFill>
                  <a:srgbClr val="FFFFFF"/>
                </a:solidFill>
              </a:defRPr>
            </a:pPr>
            <a:r>
              <a:t>Research text processing</a:t>
            </a:r>
          </a:p>
          <a:p>
            <a:pPr marL="342900" indent="-342900">
              <a:spcBef>
                <a:spcPts val="900"/>
              </a:spcBef>
              <a:buSzPct val="100000"/>
              <a:buChar char="•"/>
              <a:defRPr sz="1600">
                <a:solidFill>
                  <a:srgbClr val="FFFFFF"/>
                </a:solidFill>
              </a:defRPr>
            </a:pPr>
            <a:r>
              <a:t>Large-scale text workflows</a:t>
            </a:r>
          </a:p>
        </p:txBody>
      </p:sp>
      <p:sp>
        <p:nvSpPr>
          <p:cNvPr id="383" name="txt_311"/>
          <p:cNvSpPr txBox="1"/>
          <p:nvPr/>
        </p:nvSpPr>
        <p:spPr>
          <a:xfrm>
            <a:off x="8275319" y="5440679"/>
            <a:ext cx="31089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200">
                <a:solidFill>
                  <a:srgbClr val="B4C0D4"/>
                </a:solidFill>
              </a:defRPr>
            </a:lvl1pPr>
          </a:lstStyle>
          <a:p>
            <a:pPr/>
            <a:r>
              <a:t>Potential applications. Not deployed.</a:t>
            </a:r>
          </a:p>
        </p:txBody>
      </p:sp>
      <p:sp>
        <p:nvSpPr>
          <p:cNvPr id="384" name="Slide Number Placeholder 0"/>
          <p:cNvSpPr txBox="1"/>
          <p:nvPr>
            <p:ph type="sldNum" sz="quarter" idx="4294967295"/>
          </p:nvPr>
        </p:nvSpPr>
        <p:spPr>
          <a:xfrm>
            <a:off x="11155680"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Text 0"/>
          <p:cNvSpPr txBox="1"/>
          <p:nvPr>
            <p:ph type="title"/>
          </p:nvPr>
        </p:nvSpPr>
        <p:spPr>
          <a:xfrm>
            <a:off x="548639" y="274319"/>
            <a:ext cx="11064242" cy="777242"/>
          </a:xfrm>
          <a:prstGeom prst="rect">
            <a:avLst/>
          </a:prstGeom>
        </p:spPr>
        <p:txBody>
          <a:bodyPr lIns="0" tIns="0" rIns="0" bIns="0" anchor="ctr"/>
          <a:lstStyle/>
          <a:p>
            <a:pPr/>
            <a:r>
              <a:t>Conclusion, future scope and takeaway</a:t>
            </a:r>
          </a:p>
        </p:txBody>
      </p:sp>
      <p:sp>
        <p:nvSpPr>
          <p:cNvPr id="389" name="txt_312"/>
          <p:cNvSpPr txBox="1"/>
          <p:nvPr/>
        </p:nvSpPr>
        <p:spPr>
          <a:xfrm>
            <a:off x="548640" y="1142999"/>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WHAT WE ACHIEVED</a:t>
            </a:r>
          </a:p>
        </p:txBody>
      </p:sp>
      <p:sp>
        <p:nvSpPr>
          <p:cNvPr id="390" name="box_313"/>
          <p:cNvSpPr/>
          <p:nvPr/>
        </p:nvSpPr>
        <p:spPr>
          <a:xfrm>
            <a:off x="548640" y="1463039"/>
            <a:ext cx="1384663" cy="777241"/>
          </a:xfrm>
          <a:prstGeom prst="roundRect">
            <a:avLst>
              <a:gd name="adj" fmla="val 9412"/>
            </a:avLst>
          </a:prstGeom>
          <a:solidFill>
            <a:srgbClr val="162033"/>
          </a:solidFill>
          <a:ln w="15875">
            <a:solidFill>
              <a:schemeClr val="accent1"/>
            </a:solidFill>
          </a:ln>
        </p:spPr>
        <p:txBody>
          <a:bodyPr lIns="45719" rIns="45719"/>
          <a:lstStyle/>
          <a:p>
            <a:pPr/>
          </a:p>
        </p:txBody>
      </p:sp>
      <p:sp>
        <p:nvSpPr>
          <p:cNvPr id="391" name="txt_314"/>
          <p:cNvSpPr txBox="1"/>
          <p:nvPr/>
        </p:nvSpPr>
        <p:spPr>
          <a:xfrm>
            <a:off x="594359" y="1768279"/>
            <a:ext cx="1293224"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DSA Algorithms</a:t>
            </a:r>
          </a:p>
        </p:txBody>
      </p:sp>
      <p:sp>
        <p:nvSpPr>
          <p:cNvPr id="392" name="arrow_315"/>
          <p:cNvSpPr/>
          <p:nvPr/>
        </p:nvSpPr>
        <p:spPr>
          <a:xfrm>
            <a:off x="1960734" y="1851660"/>
            <a:ext cx="173737" cy="1"/>
          </a:xfrm>
          <a:prstGeom prst="line">
            <a:avLst/>
          </a:prstGeom>
          <a:ln w="22225">
            <a:solidFill>
              <a:schemeClr val="accent1"/>
            </a:solidFill>
            <a:tailEnd type="triangle"/>
          </a:ln>
        </p:spPr>
        <p:txBody>
          <a:bodyPr lIns="45719" rIns="45719"/>
          <a:lstStyle/>
          <a:p>
            <a:pPr/>
          </a:p>
        </p:txBody>
      </p:sp>
      <p:sp>
        <p:nvSpPr>
          <p:cNvPr id="393" name="box_316"/>
          <p:cNvSpPr/>
          <p:nvPr/>
        </p:nvSpPr>
        <p:spPr>
          <a:xfrm>
            <a:off x="2161902" y="1463039"/>
            <a:ext cx="1384664" cy="777241"/>
          </a:xfrm>
          <a:prstGeom prst="roundRect">
            <a:avLst>
              <a:gd name="adj" fmla="val 9412"/>
            </a:avLst>
          </a:prstGeom>
          <a:solidFill>
            <a:srgbClr val="162033"/>
          </a:solidFill>
          <a:ln w="15875">
            <a:solidFill>
              <a:schemeClr val="accent1"/>
            </a:solidFill>
          </a:ln>
        </p:spPr>
        <p:txBody>
          <a:bodyPr lIns="45719" rIns="45719"/>
          <a:lstStyle/>
          <a:p>
            <a:pPr/>
          </a:p>
        </p:txBody>
      </p:sp>
      <p:sp>
        <p:nvSpPr>
          <p:cNvPr id="394" name="txt_317"/>
          <p:cNvSpPr txBox="1"/>
          <p:nvPr/>
        </p:nvSpPr>
        <p:spPr>
          <a:xfrm>
            <a:off x="2207623" y="1768279"/>
            <a:ext cx="1293224"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Task Modeling</a:t>
            </a:r>
          </a:p>
        </p:txBody>
      </p:sp>
      <p:sp>
        <p:nvSpPr>
          <p:cNvPr id="395" name="arrow_318"/>
          <p:cNvSpPr/>
          <p:nvPr/>
        </p:nvSpPr>
        <p:spPr>
          <a:xfrm>
            <a:off x="3573998" y="1851660"/>
            <a:ext cx="173737" cy="1"/>
          </a:xfrm>
          <a:prstGeom prst="line">
            <a:avLst/>
          </a:prstGeom>
          <a:ln w="22225">
            <a:solidFill>
              <a:schemeClr val="accent1"/>
            </a:solidFill>
            <a:tailEnd type="triangle"/>
          </a:ln>
        </p:spPr>
        <p:txBody>
          <a:bodyPr lIns="45719" rIns="45719"/>
          <a:lstStyle/>
          <a:p>
            <a:pPr/>
          </a:p>
        </p:txBody>
      </p:sp>
      <p:sp>
        <p:nvSpPr>
          <p:cNvPr id="396" name="box_319"/>
          <p:cNvSpPr/>
          <p:nvPr/>
        </p:nvSpPr>
        <p:spPr>
          <a:xfrm>
            <a:off x="3775166" y="1463039"/>
            <a:ext cx="1384664" cy="777241"/>
          </a:xfrm>
          <a:prstGeom prst="roundRect">
            <a:avLst>
              <a:gd name="adj" fmla="val 9412"/>
            </a:avLst>
          </a:prstGeom>
          <a:solidFill>
            <a:srgbClr val="162033"/>
          </a:solidFill>
          <a:ln w="15875">
            <a:solidFill>
              <a:schemeClr val="accent4"/>
            </a:solidFill>
          </a:ln>
        </p:spPr>
        <p:txBody>
          <a:bodyPr lIns="45719" rIns="45719"/>
          <a:lstStyle/>
          <a:p>
            <a:pPr/>
          </a:p>
        </p:txBody>
      </p:sp>
      <p:sp>
        <p:nvSpPr>
          <p:cNvPr id="397" name="txt_320"/>
          <p:cNvSpPr txBox="1"/>
          <p:nvPr/>
        </p:nvSpPr>
        <p:spPr>
          <a:xfrm>
            <a:off x="3820886" y="1666679"/>
            <a:ext cx="1293224"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Dependency Graph</a:t>
            </a:r>
          </a:p>
        </p:txBody>
      </p:sp>
      <p:sp>
        <p:nvSpPr>
          <p:cNvPr id="398" name="arrow_321"/>
          <p:cNvSpPr/>
          <p:nvPr/>
        </p:nvSpPr>
        <p:spPr>
          <a:xfrm>
            <a:off x="5187260" y="1851660"/>
            <a:ext cx="173737" cy="1"/>
          </a:xfrm>
          <a:prstGeom prst="line">
            <a:avLst/>
          </a:prstGeom>
          <a:ln w="22225">
            <a:solidFill>
              <a:schemeClr val="accent1"/>
            </a:solidFill>
            <a:tailEnd type="triangle"/>
          </a:ln>
        </p:spPr>
        <p:txBody>
          <a:bodyPr lIns="45719" rIns="45719"/>
          <a:lstStyle/>
          <a:p>
            <a:pPr/>
          </a:p>
        </p:txBody>
      </p:sp>
      <p:sp>
        <p:nvSpPr>
          <p:cNvPr id="399" name="box_322"/>
          <p:cNvSpPr/>
          <p:nvPr/>
        </p:nvSpPr>
        <p:spPr>
          <a:xfrm>
            <a:off x="5388428" y="1463039"/>
            <a:ext cx="1384664" cy="777241"/>
          </a:xfrm>
          <a:prstGeom prst="roundRect">
            <a:avLst>
              <a:gd name="adj" fmla="val 9412"/>
            </a:avLst>
          </a:prstGeom>
          <a:solidFill>
            <a:srgbClr val="162033"/>
          </a:solidFill>
          <a:ln w="15875">
            <a:solidFill>
              <a:schemeClr val="accent2"/>
            </a:solidFill>
          </a:ln>
        </p:spPr>
        <p:txBody>
          <a:bodyPr lIns="45719" rIns="45719"/>
          <a:lstStyle/>
          <a:p>
            <a:pPr/>
          </a:p>
        </p:txBody>
      </p:sp>
      <p:sp>
        <p:nvSpPr>
          <p:cNvPr id="400" name="txt_323"/>
          <p:cNvSpPr txBox="1"/>
          <p:nvPr/>
        </p:nvSpPr>
        <p:spPr>
          <a:xfrm>
            <a:off x="5434148" y="1666679"/>
            <a:ext cx="1293224"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Intelligent Scheduling</a:t>
            </a:r>
          </a:p>
        </p:txBody>
      </p:sp>
      <p:sp>
        <p:nvSpPr>
          <p:cNvPr id="401" name="arrow_324"/>
          <p:cNvSpPr/>
          <p:nvPr/>
        </p:nvSpPr>
        <p:spPr>
          <a:xfrm>
            <a:off x="6800522" y="1851660"/>
            <a:ext cx="173737" cy="1"/>
          </a:xfrm>
          <a:prstGeom prst="line">
            <a:avLst/>
          </a:prstGeom>
          <a:ln w="22225">
            <a:solidFill>
              <a:schemeClr val="accent1"/>
            </a:solidFill>
            <a:tailEnd type="triangle"/>
          </a:ln>
        </p:spPr>
        <p:txBody>
          <a:bodyPr lIns="45719" rIns="45719"/>
          <a:lstStyle/>
          <a:p>
            <a:pPr/>
          </a:p>
        </p:txBody>
      </p:sp>
      <p:sp>
        <p:nvSpPr>
          <p:cNvPr id="402" name="box_325"/>
          <p:cNvSpPr/>
          <p:nvPr/>
        </p:nvSpPr>
        <p:spPr>
          <a:xfrm>
            <a:off x="7001691" y="1463039"/>
            <a:ext cx="1384664" cy="777241"/>
          </a:xfrm>
          <a:prstGeom prst="roundRect">
            <a:avLst>
              <a:gd name="adj" fmla="val 9412"/>
            </a:avLst>
          </a:prstGeom>
          <a:solidFill>
            <a:srgbClr val="162033"/>
          </a:solidFill>
          <a:ln w="15875">
            <a:solidFill>
              <a:schemeClr val="accent2"/>
            </a:solidFill>
          </a:ln>
        </p:spPr>
        <p:txBody>
          <a:bodyPr lIns="45719" rIns="45719"/>
          <a:lstStyle/>
          <a:p>
            <a:pPr/>
          </a:p>
        </p:txBody>
      </p:sp>
      <p:sp>
        <p:nvSpPr>
          <p:cNvPr id="403" name="txt_326"/>
          <p:cNvSpPr txBox="1"/>
          <p:nvPr/>
        </p:nvSpPr>
        <p:spPr>
          <a:xfrm>
            <a:off x="7047410" y="1666679"/>
            <a:ext cx="1293224"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Resource Assignment</a:t>
            </a:r>
          </a:p>
        </p:txBody>
      </p:sp>
      <p:sp>
        <p:nvSpPr>
          <p:cNvPr id="404" name="arrow_327"/>
          <p:cNvSpPr/>
          <p:nvPr/>
        </p:nvSpPr>
        <p:spPr>
          <a:xfrm>
            <a:off x="8413785" y="1851660"/>
            <a:ext cx="173737" cy="1"/>
          </a:xfrm>
          <a:prstGeom prst="line">
            <a:avLst/>
          </a:prstGeom>
          <a:ln w="22225">
            <a:solidFill>
              <a:schemeClr val="accent1"/>
            </a:solidFill>
            <a:tailEnd type="triangle"/>
          </a:ln>
        </p:spPr>
        <p:txBody>
          <a:bodyPr lIns="45719" rIns="45719"/>
          <a:lstStyle/>
          <a:p>
            <a:pPr/>
          </a:p>
        </p:txBody>
      </p:sp>
      <p:sp>
        <p:nvSpPr>
          <p:cNvPr id="405" name="box_328"/>
          <p:cNvSpPr/>
          <p:nvPr/>
        </p:nvSpPr>
        <p:spPr>
          <a:xfrm>
            <a:off x="8614953" y="1463039"/>
            <a:ext cx="1384664" cy="777241"/>
          </a:xfrm>
          <a:prstGeom prst="roundRect">
            <a:avLst>
              <a:gd name="adj" fmla="val 9412"/>
            </a:avLst>
          </a:prstGeom>
          <a:solidFill>
            <a:srgbClr val="162033"/>
          </a:solidFill>
          <a:ln w="15875">
            <a:solidFill>
              <a:schemeClr val="accent3"/>
            </a:solidFill>
          </a:ln>
        </p:spPr>
        <p:txBody>
          <a:bodyPr lIns="45719" rIns="45719"/>
          <a:lstStyle/>
          <a:p>
            <a:pPr/>
          </a:p>
        </p:txBody>
      </p:sp>
      <p:sp>
        <p:nvSpPr>
          <p:cNvPr id="406" name="txt_329"/>
          <p:cNvSpPr txBox="1"/>
          <p:nvPr/>
        </p:nvSpPr>
        <p:spPr>
          <a:xfrm>
            <a:off x="8660673" y="1768279"/>
            <a:ext cx="1293224"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Actual Execution</a:t>
            </a:r>
          </a:p>
        </p:txBody>
      </p:sp>
      <p:sp>
        <p:nvSpPr>
          <p:cNvPr id="407" name="arrow_330"/>
          <p:cNvSpPr/>
          <p:nvPr/>
        </p:nvSpPr>
        <p:spPr>
          <a:xfrm>
            <a:off x="10027049" y="1851660"/>
            <a:ext cx="173737" cy="1"/>
          </a:xfrm>
          <a:prstGeom prst="line">
            <a:avLst/>
          </a:prstGeom>
          <a:ln w="22225">
            <a:solidFill>
              <a:schemeClr val="accent1"/>
            </a:solidFill>
            <a:tailEnd type="triangle"/>
          </a:ln>
        </p:spPr>
        <p:txBody>
          <a:bodyPr lIns="45719" rIns="45719"/>
          <a:lstStyle/>
          <a:p>
            <a:pPr/>
          </a:p>
        </p:txBody>
      </p:sp>
      <p:sp>
        <p:nvSpPr>
          <p:cNvPr id="408" name="box_331"/>
          <p:cNvSpPr/>
          <p:nvPr/>
        </p:nvSpPr>
        <p:spPr>
          <a:xfrm>
            <a:off x="10228216" y="1463039"/>
            <a:ext cx="1384664" cy="777241"/>
          </a:xfrm>
          <a:prstGeom prst="roundRect">
            <a:avLst>
              <a:gd name="adj" fmla="val 9412"/>
            </a:avLst>
          </a:prstGeom>
          <a:solidFill>
            <a:srgbClr val="162033"/>
          </a:solidFill>
          <a:ln w="15875">
            <a:solidFill>
              <a:schemeClr val="accent3"/>
            </a:solidFill>
          </a:ln>
        </p:spPr>
        <p:txBody>
          <a:bodyPr lIns="45719" rIns="45719"/>
          <a:lstStyle/>
          <a:p>
            <a:pPr/>
          </a:p>
        </p:txBody>
      </p:sp>
      <p:sp>
        <p:nvSpPr>
          <p:cNvPr id="409" name="txt_332"/>
          <p:cNvSpPr txBox="1"/>
          <p:nvPr/>
        </p:nvSpPr>
        <p:spPr>
          <a:xfrm>
            <a:off x="10273937" y="1768279"/>
            <a:ext cx="1293224"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Measured Results</a:t>
            </a:r>
          </a:p>
        </p:txBody>
      </p:sp>
      <p:sp>
        <p:nvSpPr>
          <p:cNvPr id="410" name="box_333"/>
          <p:cNvSpPr/>
          <p:nvPr/>
        </p:nvSpPr>
        <p:spPr>
          <a:xfrm>
            <a:off x="548640" y="2514600"/>
            <a:ext cx="5212080" cy="3703321"/>
          </a:xfrm>
          <a:prstGeom prst="roundRect">
            <a:avLst>
              <a:gd name="adj" fmla="val 1975"/>
            </a:avLst>
          </a:prstGeom>
          <a:solidFill>
            <a:srgbClr val="162033"/>
          </a:solidFill>
          <a:ln w="12700">
            <a:miter lim="400000"/>
          </a:ln>
        </p:spPr>
        <p:txBody>
          <a:bodyPr lIns="45719" rIns="45719"/>
          <a:lstStyle/>
          <a:p>
            <a:pPr/>
          </a:p>
        </p:txBody>
      </p:sp>
      <p:sp>
        <p:nvSpPr>
          <p:cNvPr id="411" name="txt_334"/>
          <p:cNvSpPr txBox="1"/>
          <p:nvPr/>
        </p:nvSpPr>
        <p:spPr>
          <a:xfrm>
            <a:off x="777240" y="2651760"/>
            <a:ext cx="475488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2"/>
                </a:solidFill>
              </a:defRPr>
            </a:lvl1pPr>
          </a:lstStyle>
          <a:p>
            <a:pPr/>
            <a:r>
              <a:t>FUTURE SCOPE (not implemented)</a:t>
            </a:r>
          </a:p>
        </p:txBody>
      </p:sp>
      <p:sp>
        <p:nvSpPr>
          <p:cNvPr id="412" name="txt_335"/>
          <p:cNvSpPr txBox="1"/>
          <p:nvPr/>
        </p:nvSpPr>
        <p:spPr>
          <a:xfrm>
            <a:off x="777240" y="3108959"/>
            <a:ext cx="4754880" cy="22355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1400"/>
              </a:spcBef>
              <a:buSzPct val="100000"/>
              <a:buChar char="•"/>
              <a:defRPr>
                <a:solidFill>
                  <a:srgbClr val="FFFFFF"/>
                </a:solidFill>
              </a:defRPr>
            </a:pPr>
            <a:r>
              <a:t>Larger document corpus</a:t>
            </a:r>
          </a:p>
          <a:p>
            <a:pPr marL="342900" indent="-342900">
              <a:spcBef>
                <a:spcPts val="1400"/>
              </a:spcBef>
              <a:buSzPct val="100000"/>
              <a:buChar char="•"/>
              <a:defRPr>
                <a:solidFill>
                  <a:srgbClr val="FFFFFF"/>
                </a:solidFill>
              </a:defRPr>
            </a:pPr>
            <a:r>
              <a:t>Faster suffix array construction and smarter runtime prediction</a:t>
            </a:r>
          </a:p>
          <a:p>
            <a:pPr marL="342900" indent="-342900">
              <a:spcBef>
                <a:spcPts val="1400"/>
              </a:spcBef>
              <a:buSzPct val="100000"/>
              <a:buChar char="•"/>
              <a:defRPr>
                <a:solidFill>
                  <a:srgbClr val="FFFFFF"/>
                </a:solidFill>
              </a:defRPr>
            </a:pPr>
            <a:r>
              <a:t>Distributed execution and GPU acceleration</a:t>
            </a:r>
          </a:p>
          <a:p>
            <a:pPr marL="342900" indent="-342900">
              <a:spcBef>
                <a:spcPts val="1400"/>
              </a:spcBef>
              <a:buSzPct val="100000"/>
              <a:buChar char="•"/>
              <a:defRPr>
                <a:solidFill>
                  <a:srgbClr val="FFFFFF"/>
                </a:solidFill>
              </a:defRPr>
            </a:pPr>
            <a:r>
              <a:t>Energy-aware scheduling and more scheduling strategies</a:t>
            </a:r>
          </a:p>
        </p:txBody>
      </p:sp>
      <p:sp>
        <p:nvSpPr>
          <p:cNvPr id="413" name="box_336"/>
          <p:cNvSpPr/>
          <p:nvPr/>
        </p:nvSpPr>
        <p:spPr>
          <a:xfrm>
            <a:off x="6035040" y="2514600"/>
            <a:ext cx="5577841" cy="2240280"/>
          </a:xfrm>
          <a:prstGeom prst="roundRect">
            <a:avLst>
              <a:gd name="adj" fmla="val 3265"/>
            </a:avLst>
          </a:prstGeom>
          <a:solidFill>
            <a:srgbClr val="162033"/>
          </a:solidFill>
          <a:ln w="19050">
            <a:solidFill>
              <a:schemeClr val="accent1"/>
            </a:solidFill>
          </a:ln>
        </p:spPr>
        <p:txBody>
          <a:bodyPr lIns="45719" rIns="45719"/>
          <a:lstStyle/>
          <a:p>
            <a:pPr/>
          </a:p>
        </p:txBody>
      </p:sp>
      <p:sp>
        <p:nvSpPr>
          <p:cNvPr id="414" name="txt_337"/>
          <p:cNvSpPr txBox="1"/>
          <p:nvPr/>
        </p:nvSpPr>
        <p:spPr>
          <a:xfrm>
            <a:off x="6263640" y="2651760"/>
            <a:ext cx="51206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chemeClr val="accent1"/>
                </a:solidFill>
              </a:defRPr>
            </a:lvl1pPr>
          </a:lstStyle>
          <a:p>
            <a:pPr/>
            <a:r>
              <a:t>KEY TAKEAWAY</a:t>
            </a:r>
          </a:p>
        </p:txBody>
      </p:sp>
      <p:sp>
        <p:nvSpPr>
          <p:cNvPr id="415" name="txt_338"/>
          <p:cNvSpPr txBox="1"/>
          <p:nvPr/>
        </p:nvSpPr>
        <p:spPr>
          <a:xfrm>
            <a:off x="6263640" y="3017520"/>
            <a:ext cx="5120641" cy="11631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FFFFFF"/>
                </a:solidFill>
              </a:defRPr>
            </a:lvl1pPr>
          </a:lstStyle>
          <a:p>
            <a:pPr/>
            <a:r>
              <a:t>"TEXT HACK does not just implement DSA algorithms — it turns them into an intelligent, dependency-aware and resource-aware computational pipeline."</a:t>
            </a:r>
          </a:p>
        </p:txBody>
      </p:sp>
      <p:sp>
        <p:nvSpPr>
          <p:cNvPr id="416" name="box_339"/>
          <p:cNvSpPr/>
          <p:nvPr/>
        </p:nvSpPr>
        <p:spPr>
          <a:xfrm>
            <a:off x="6035040" y="4937759"/>
            <a:ext cx="5577841" cy="1280161"/>
          </a:xfrm>
          <a:prstGeom prst="roundRect">
            <a:avLst>
              <a:gd name="adj" fmla="val 5714"/>
            </a:avLst>
          </a:prstGeom>
          <a:solidFill>
            <a:schemeClr val="accent6"/>
          </a:solidFill>
          <a:ln w="12700">
            <a:miter lim="400000"/>
          </a:ln>
        </p:spPr>
        <p:txBody>
          <a:bodyPr lIns="45719" rIns="45719"/>
          <a:lstStyle/>
          <a:p>
            <a:pPr/>
          </a:p>
        </p:txBody>
      </p:sp>
      <p:sp>
        <p:nvSpPr>
          <p:cNvPr id="417" name="txt_340"/>
          <p:cNvSpPr txBox="1"/>
          <p:nvPr/>
        </p:nvSpPr>
        <p:spPr>
          <a:xfrm>
            <a:off x="6263640" y="5146436"/>
            <a:ext cx="5120641"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FFFFFF"/>
                </a:solidFill>
              </a:defRPr>
            </a:lvl1pPr>
          </a:lstStyle>
          <a:p>
            <a:pPr/>
            <a:r>
              <a:t>Thank You</a:t>
            </a:r>
          </a:p>
        </p:txBody>
      </p:sp>
      <p:sp>
        <p:nvSpPr>
          <p:cNvPr id="418" name="txt_341"/>
          <p:cNvSpPr txBox="1"/>
          <p:nvPr/>
        </p:nvSpPr>
        <p:spPr>
          <a:xfrm>
            <a:off x="6263640" y="5727789"/>
            <a:ext cx="512064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2"/>
                </a:solidFill>
              </a:defRPr>
            </a:lvl1pPr>
          </a:lstStyle>
          <a:p>
            <a:pPr/>
            <a:r>
              <a:t>Questions?</a:t>
            </a:r>
          </a:p>
        </p:txBody>
      </p:sp>
      <p:sp>
        <p:nvSpPr>
          <p:cNvPr id="419" name="Slide Number Placeholder 0"/>
          <p:cNvSpPr txBox="1"/>
          <p:nvPr>
            <p:ph type="sldNum" sz="quarter" idx="4294967295"/>
          </p:nvPr>
        </p:nvSpPr>
        <p:spPr>
          <a:xfrm>
            <a:off x="11155680"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TextHack Console">
  <a:themeElements>
    <a:clrScheme name="TextHack Console">
      <a:dk1>
        <a:srgbClr val="0B1220"/>
      </a:dk1>
      <a:lt1>
        <a:srgbClr val="0B1220"/>
      </a:lt1>
      <a:dk2>
        <a:srgbClr val="A7A7A7"/>
      </a:dk2>
      <a:lt2>
        <a:srgbClr val="535353"/>
      </a:lt2>
      <a:accent1>
        <a:srgbClr val="22D3EE"/>
      </a:accent1>
      <a:accent2>
        <a:srgbClr val="F5B83D"/>
      </a:accent2>
      <a:accent3>
        <a:srgbClr val="34D399"/>
      </a:accent3>
      <a:accent4>
        <a:srgbClr val="A78BFA"/>
      </a:accent4>
      <a:accent5>
        <a:srgbClr val="FB7185"/>
      </a:accent5>
      <a:accent6>
        <a:srgbClr val="334155"/>
      </a:accent6>
      <a:hlink>
        <a:srgbClr val="0000FF"/>
      </a:hlink>
      <a:folHlink>
        <a:srgbClr val="FF00FF"/>
      </a:folHlink>
    </a:clrScheme>
    <a:fontScheme name="TextHack Console">
      <a:majorFont>
        <a:latin typeface="Helvetica"/>
        <a:ea typeface="Helvetica"/>
        <a:cs typeface="Helvetica"/>
      </a:majorFont>
      <a:minorFont>
        <a:latin typeface="Calibri"/>
        <a:ea typeface="Calibri"/>
        <a:cs typeface="Calibri"/>
      </a:minorFont>
    </a:fontScheme>
    <a:fmtScheme name="TextHack Conso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TextHack Console">
  <a:themeElements>
    <a:clrScheme name="TextHack Console">
      <a:dk1>
        <a:srgbClr val="0B1220"/>
      </a:dk1>
      <a:lt1>
        <a:srgbClr val="201C15"/>
      </a:lt1>
      <a:dk2>
        <a:srgbClr val="A7A7A7"/>
      </a:dk2>
      <a:lt2>
        <a:srgbClr val="535353"/>
      </a:lt2>
      <a:accent1>
        <a:srgbClr val="22D3EE"/>
      </a:accent1>
      <a:accent2>
        <a:srgbClr val="F5B83D"/>
      </a:accent2>
      <a:accent3>
        <a:srgbClr val="34D399"/>
      </a:accent3>
      <a:accent4>
        <a:srgbClr val="A78BFA"/>
      </a:accent4>
      <a:accent5>
        <a:srgbClr val="FB7185"/>
      </a:accent5>
      <a:accent6>
        <a:srgbClr val="334155"/>
      </a:accent6>
      <a:hlink>
        <a:srgbClr val="0000FF"/>
      </a:hlink>
      <a:folHlink>
        <a:srgbClr val="FF00FF"/>
      </a:folHlink>
    </a:clrScheme>
    <a:fontScheme name="TextHack Console">
      <a:majorFont>
        <a:latin typeface="Helvetica"/>
        <a:ea typeface="Helvetica"/>
        <a:cs typeface="Helvetica"/>
      </a:majorFont>
      <a:minorFont>
        <a:latin typeface="Calibri"/>
        <a:ea typeface="Calibri"/>
        <a:cs typeface="Calibri"/>
      </a:minorFont>
    </a:fontScheme>
    <a:fmtScheme name="TextHack Conso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122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