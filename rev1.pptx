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Inria Serif Bold" charset="1" panose="00000000000000000000"/>
      <p:regular r:id="rId13"/>
    </p:embeddedFont>
    <p:embeddedFont>
      <p:font typeface="TT Commons Pro" charset="1" panose="020B0103030102020204"/>
      <p:regular r:id="rId14"/>
    </p:embeddedFont>
    <p:embeddedFont>
      <p:font typeface="Inria Serif"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2166472" y="697111"/>
            <a:ext cx="14679886" cy="4266092"/>
          </a:xfrm>
          <a:prstGeom prst="rect">
            <a:avLst/>
          </a:prstGeom>
        </p:spPr>
        <p:txBody>
          <a:bodyPr anchor="t" rtlCol="false" tIns="0" lIns="0" bIns="0" rIns="0">
            <a:spAutoFit/>
          </a:bodyPr>
          <a:lstStyle/>
          <a:p>
            <a:pPr algn="ctr">
              <a:lnSpc>
                <a:spcPts val="8663"/>
              </a:lnSpc>
            </a:pPr>
            <a:r>
              <a:rPr lang="en-US" b="true" sz="7599">
                <a:solidFill>
                  <a:srgbClr val="728F82"/>
                </a:solidFill>
                <a:latin typeface="Inria Serif Bold"/>
                <a:ea typeface="Inria Serif Bold"/>
                <a:cs typeface="Inria Serif Bold"/>
                <a:sym typeface="Inria Serif Bold"/>
              </a:rPr>
              <a:t>Intelligent Resource Scheduling for Text Processing Pipelines</a:t>
            </a:r>
          </a:p>
          <a:p>
            <a:pPr algn="ctr">
              <a:lnSpc>
                <a:spcPts val="8104"/>
              </a:lnSpc>
            </a:pPr>
          </a:p>
          <a:p>
            <a:pPr algn="ctr">
              <a:lnSpc>
                <a:spcPts val="8104"/>
              </a:lnSpc>
            </a:pPr>
            <a:r>
              <a:rPr lang="en-US" b="true" sz="7109" spc="-113">
                <a:solidFill>
                  <a:srgbClr val="728F82"/>
                </a:solidFill>
                <a:latin typeface="Inria Serif Bold"/>
                <a:ea typeface="Inria Serif Bold"/>
                <a:cs typeface="Inria Serif Bold"/>
                <a:sym typeface="Inria Serif Bold"/>
              </a:rPr>
              <a:t>Team Members</a:t>
            </a:r>
          </a:p>
        </p:txBody>
      </p:sp>
      <p:sp>
        <p:nvSpPr>
          <p:cNvPr name="TextBox 3" id="3"/>
          <p:cNvSpPr txBox="true"/>
          <p:nvPr/>
        </p:nvSpPr>
        <p:spPr>
          <a:xfrm rot="0">
            <a:off x="5503548" y="5297705"/>
            <a:ext cx="8005733" cy="420701"/>
          </a:xfrm>
          <a:prstGeom prst="rect">
            <a:avLst/>
          </a:prstGeom>
        </p:spPr>
        <p:txBody>
          <a:bodyPr anchor="t" rtlCol="false" tIns="0" lIns="0" bIns="0" rIns="0">
            <a:spAutoFit/>
          </a:bodyPr>
          <a:lstStyle/>
          <a:p>
            <a:pPr algn="ctr">
              <a:lnSpc>
                <a:spcPts val="3074"/>
              </a:lnSpc>
            </a:pPr>
            <a:r>
              <a:rPr lang="en-US" sz="3533">
                <a:solidFill>
                  <a:srgbClr val="728F82"/>
                </a:solidFill>
                <a:latin typeface="TT Commons Pro"/>
                <a:ea typeface="TT Commons Pro"/>
                <a:cs typeface="TT Commons Pro"/>
                <a:sym typeface="TT Commons Pro"/>
              </a:rPr>
              <a:t>2510030287 - Kollu sree lasya</a:t>
            </a:r>
          </a:p>
        </p:txBody>
      </p:sp>
      <p:sp>
        <p:nvSpPr>
          <p:cNvPr name="TextBox 4" id="4"/>
          <p:cNvSpPr txBox="true"/>
          <p:nvPr/>
        </p:nvSpPr>
        <p:spPr>
          <a:xfrm rot="0">
            <a:off x="5367527" y="6062434"/>
            <a:ext cx="8277776" cy="429356"/>
          </a:xfrm>
          <a:prstGeom prst="rect">
            <a:avLst/>
          </a:prstGeom>
        </p:spPr>
        <p:txBody>
          <a:bodyPr anchor="t" rtlCol="false" tIns="0" lIns="0" bIns="0" rIns="0">
            <a:spAutoFit/>
          </a:bodyPr>
          <a:lstStyle/>
          <a:p>
            <a:pPr algn="ctr">
              <a:lnSpc>
                <a:spcPts val="3178"/>
              </a:lnSpc>
            </a:pPr>
            <a:r>
              <a:rPr lang="en-US" sz="3653">
                <a:solidFill>
                  <a:srgbClr val="728F82"/>
                </a:solidFill>
                <a:latin typeface="TT Commons Pro"/>
                <a:ea typeface="TT Commons Pro"/>
                <a:cs typeface="TT Commons Pro"/>
                <a:sym typeface="TT Commons Pro"/>
              </a:rPr>
              <a:t>2510030022 - Punreddy Shrenika Reddy</a:t>
            </a:r>
          </a:p>
        </p:txBody>
      </p:sp>
      <p:sp>
        <p:nvSpPr>
          <p:cNvPr name="TextBox 5" id="5"/>
          <p:cNvSpPr txBox="true"/>
          <p:nvPr/>
        </p:nvSpPr>
        <p:spPr>
          <a:xfrm rot="0">
            <a:off x="5434694" y="6943191"/>
            <a:ext cx="8458520" cy="441435"/>
          </a:xfrm>
          <a:prstGeom prst="rect">
            <a:avLst/>
          </a:prstGeom>
        </p:spPr>
        <p:txBody>
          <a:bodyPr anchor="t" rtlCol="false" tIns="0" lIns="0" bIns="0" rIns="0">
            <a:spAutoFit/>
          </a:bodyPr>
          <a:lstStyle/>
          <a:p>
            <a:pPr algn="ctr">
              <a:lnSpc>
                <a:spcPts val="3248"/>
              </a:lnSpc>
            </a:pPr>
            <a:r>
              <a:rPr lang="en-US" sz="3733">
                <a:solidFill>
                  <a:srgbClr val="728F82"/>
                </a:solidFill>
                <a:latin typeface="TT Commons Pro"/>
                <a:ea typeface="TT Commons Pro"/>
                <a:cs typeface="TT Commons Pro"/>
                <a:sym typeface="TT Commons Pro"/>
              </a:rPr>
              <a:t>2510030130 - Pasham Rishikha Reddy</a:t>
            </a:r>
          </a:p>
        </p:txBody>
      </p:sp>
      <p:sp>
        <p:nvSpPr>
          <p:cNvPr name="TextBox 6" id="6"/>
          <p:cNvSpPr txBox="true"/>
          <p:nvPr/>
        </p:nvSpPr>
        <p:spPr>
          <a:xfrm rot="0">
            <a:off x="5119616" y="7836026"/>
            <a:ext cx="8773597" cy="462490"/>
          </a:xfrm>
          <a:prstGeom prst="rect">
            <a:avLst/>
          </a:prstGeom>
        </p:spPr>
        <p:txBody>
          <a:bodyPr anchor="t" rtlCol="false" tIns="0" lIns="0" bIns="0" rIns="0">
            <a:spAutoFit/>
          </a:bodyPr>
          <a:lstStyle/>
          <a:p>
            <a:pPr algn="ctr">
              <a:lnSpc>
                <a:spcPts val="3369"/>
              </a:lnSpc>
            </a:pPr>
            <a:r>
              <a:rPr lang="en-US" sz="3872">
                <a:solidFill>
                  <a:srgbClr val="728F82"/>
                </a:solidFill>
                <a:latin typeface="TT Commons Pro"/>
                <a:ea typeface="TT Commons Pro"/>
                <a:cs typeface="TT Commons Pro"/>
                <a:sym typeface="TT Commons Pro"/>
              </a:rPr>
              <a:t>2510030101 - Pasham Meghana</a:t>
            </a:r>
          </a:p>
        </p:txBody>
      </p:sp>
      <p:sp>
        <p:nvSpPr>
          <p:cNvPr name="Freeform 7" id="7"/>
          <p:cNvSpPr/>
          <p:nvPr/>
        </p:nvSpPr>
        <p:spPr>
          <a:xfrm flipH="false" flipV="false" rot="-5400000">
            <a:off x="261851" y="6705488"/>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true" rot="1745001">
            <a:off x="15843422" y="6803356"/>
            <a:ext cx="1281043" cy="2990320"/>
          </a:xfrm>
          <a:custGeom>
            <a:avLst/>
            <a:gdLst/>
            <a:ahLst/>
            <a:cxnLst/>
            <a:rect r="r" b="b" t="t" l="l"/>
            <a:pathLst>
              <a:path h="2990320" w="1281043">
                <a:moveTo>
                  <a:pt x="1281042" y="2990321"/>
                </a:moveTo>
                <a:lnTo>
                  <a:pt x="0" y="2990321"/>
                </a:lnTo>
                <a:lnTo>
                  <a:pt x="0" y="0"/>
                </a:lnTo>
                <a:lnTo>
                  <a:pt x="1281042" y="0"/>
                </a:lnTo>
                <a:lnTo>
                  <a:pt x="1281042" y="299032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512203" y="9258300"/>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4720851" y="122422"/>
            <a:ext cx="8077942" cy="1039014"/>
          </a:xfrm>
          <a:prstGeom prst="rect">
            <a:avLst/>
          </a:prstGeom>
        </p:spPr>
        <p:txBody>
          <a:bodyPr anchor="t" rtlCol="false" tIns="0" lIns="0" bIns="0" rIns="0">
            <a:spAutoFit/>
          </a:bodyPr>
          <a:lstStyle/>
          <a:p>
            <a:pPr algn="ctr">
              <a:lnSpc>
                <a:spcPts val="7460"/>
              </a:lnSpc>
            </a:pPr>
            <a:r>
              <a:rPr lang="en-US" sz="8575" b="true">
                <a:solidFill>
                  <a:srgbClr val="728F82"/>
                </a:solidFill>
                <a:latin typeface="Inria Serif Bold"/>
                <a:ea typeface="Inria Serif Bold"/>
                <a:cs typeface="Inria Serif Bold"/>
                <a:sym typeface="Inria Serif Bold"/>
              </a:rPr>
              <a:t>Int</a:t>
            </a:r>
            <a:r>
              <a:rPr lang="en-US" b="true" sz="8575">
                <a:solidFill>
                  <a:srgbClr val="728F82"/>
                </a:solidFill>
                <a:latin typeface="Inria Serif Bold"/>
                <a:ea typeface="Inria Serif Bold"/>
                <a:cs typeface="Inria Serif Bold"/>
                <a:sym typeface="Inria Serif Bold"/>
              </a:rPr>
              <a:t>roduction</a:t>
            </a:r>
          </a:p>
        </p:txBody>
      </p:sp>
      <p:sp>
        <p:nvSpPr>
          <p:cNvPr name="TextBox 3" id="3"/>
          <p:cNvSpPr txBox="true"/>
          <p:nvPr/>
        </p:nvSpPr>
        <p:spPr>
          <a:xfrm rot="0">
            <a:off x="0" y="757632"/>
            <a:ext cx="18651013" cy="18276825"/>
          </a:xfrm>
          <a:prstGeom prst="rect">
            <a:avLst/>
          </a:prstGeom>
        </p:spPr>
        <p:txBody>
          <a:bodyPr anchor="t" rtlCol="false" tIns="0" lIns="0" bIns="0" rIns="0">
            <a:spAutoFit/>
          </a:bodyPr>
          <a:lstStyle/>
          <a:p>
            <a:pPr algn="l">
              <a:lnSpc>
                <a:spcPts val="2919"/>
              </a:lnSpc>
            </a:pPr>
          </a:p>
          <a:p>
            <a:pPr algn="l">
              <a:lnSpc>
                <a:spcPts val="4261"/>
              </a:lnSpc>
            </a:pPr>
            <a:r>
              <a:rPr lang="en-US" sz="3355">
                <a:solidFill>
                  <a:srgbClr val="728F82"/>
                </a:solidFill>
                <a:latin typeface="TT Commons Pro"/>
                <a:ea typeface="TT Commons Pro"/>
                <a:cs typeface="TT Commons Pro"/>
                <a:sym typeface="TT Commons Pro"/>
              </a:rPr>
              <a:t>  Intelligent Resource Scheduling for Text Processing Pipelines is a system that efficiently manages and schedules text processing tasks by allocating available computing resources intelligently. It optimizes task execution, reduces processing time, improves resource utilization, and enhances the overall performance of text processing workflow.</a:t>
            </a:r>
          </a:p>
          <a:p>
            <a:pPr algn="l">
              <a:lnSpc>
                <a:spcPts val="4261"/>
              </a:lnSpc>
            </a:pPr>
          </a:p>
          <a:p>
            <a:pPr algn="l">
              <a:lnSpc>
                <a:spcPts val="4261"/>
              </a:lnSpc>
            </a:pPr>
          </a:p>
          <a:p>
            <a:pPr algn="l">
              <a:lnSpc>
                <a:spcPts val="4261"/>
              </a:lnSpc>
            </a:pP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Intelligent Task Scheduling</a:t>
            </a:r>
            <a:r>
              <a:rPr lang="en-US" sz="3355">
                <a:solidFill>
                  <a:srgbClr val="728F82"/>
                </a:solidFill>
                <a:latin typeface="TT Commons Pro"/>
                <a:ea typeface="TT Commons Pro"/>
                <a:cs typeface="TT Commons Pro"/>
                <a:sym typeface="TT Commons Pro"/>
              </a:rPr>
              <a:t> – Assigns tasks to the best available processor for faster execution.</a:t>
            </a: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 </a:t>
            </a:r>
            <a:r>
              <a:rPr lang="en-US" sz="3355">
                <a:solidFill>
                  <a:srgbClr val="728F82"/>
                </a:solidFill>
                <a:latin typeface="TT Commons Pro"/>
                <a:ea typeface="TT Commons Pro"/>
                <a:cs typeface="TT Commons Pro"/>
                <a:sym typeface="TT Commons Pro"/>
              </a:rPr>
              <a:t>Dynamic Resource Allocation</a:t>
            </a:r>
            <a:r>
              <a:rPr lang="en-US" sz="3355">
                <a:solidFill>
                  <a:srgbClr val="728F82"/>
                </a:solidFill>
                <a:latin typeface="TT Commons Pro"/>
                <a:ea typeface="TT Commons Pro"/>
                <a:cs typeface="TT Commons Pro"/>
                <a:sym typeface="TT Commons Pro"/>
              </a:rPr>
              <a:t> – Automatically distributes work based on processor availability.</a:t>
            </a: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 </a:t>
            </a:r>
            <a:r>
              <a:rPr lang="en-US" sz="3355">
                <a:solidFill>
                  <a:srgbClr val="728F82"/>
                </a:solidFill>
                <a:latin typeface="TT Commons Pro"/>
                <a:ea typeface="TT Commons Pro"/>
                <a:cs typeface="TT Commons Pro"/>
                <a:sym typeface="TT Commons Pro"/>
              </a:rPr>
              <a:t>Pipeline Task Prioritization</a:t>
            </a:r>
            <a:r>
              <a:rPr lang="en-US" sz="3355">
                <a:solidFill>
                  <a:srgbClr val="728F82"/>
                </a:solidFill>
                <a:latin typeface="TT Commons Pro"/>
                <a:ea typeface="TT Commons Pro"/>
                <a:cs typeface="TT Commons Pro"/>
                <a:sym typeface="TT Commons Pro"/>
              </a:rPr>
              <a:t> – Processes high-priority tasks before less important ones.</a:t>
            </a: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 </a:t>
            </a:r>
            <a:r>
              <a:rPr lang="en-US" sz="3355">
                <a:solidFill>
                  <a:srgbClr val="728F82"/>
                </a:solidFill>
                <a:latin typeface="TT Commons Pro"/>
                <a:ea typeface="TT Commons Pro"/>
                <a:cs typeface="TT Commons Pro"/>
                <a:sym typeface="TT Commons Pro"/>
              </a:rPr>
              <a:t>Parallel Task Execution</a:t>
            </a:r>
            <a:r>
              <a:rPr lang="en-US" sz="3355">
                <a:solidFill>
                  <a:srgbClr val="728F82"/>
                </a:solidFill>
                <a:latin typeface="TT Commons Pro"/>
                <a:ea typeface="TT Commons Pro"/>
                <a:cs typeface="TT Commons Pro"/>
                <a:sym typeface="TT Commons Pro"/>
              </a:rPr>
              <a:t> – Runs multiple text processing tasks at the same time to save time.</a:t>
            </a: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 </a:t>
            </a:r>
            <a:r>
              <a:rPr lang="en-US" sz="3355">
                <a:solidFill>
                  <a:srgbClr val="728F82"/>
                </a:solidFill>
                <a:latin typeface="TT Commons Pro"/>
                <a:ea typeface="TT Commons Pro"/>
                <a:cs typeface="TT Commons Pro"/>
                <a:sym typeface="TT Commons Pro"/>
              </a:rPr>
              <a:t>Resource Utilization Monitoring</a:t>
            </a:r>
            <a:r>
              <a:rPr lang="en-US" sz="3355">
                <a:solidFill>
                  <a:srgbClr val="728F82"/>
                </a:solidFill>
                <a:latin typeface="TT Commons Pro"/>
                <a:ea typeface="TT Commons Pro"/>
                <a:cs typeface="TT Commons Pro"/>
                <a:sym typeface="TT Commons Pro"/>
              </a:rPr>
              <a:t> – Tracks CPU, memory, and processor usage to avoid overload.</a:t>
            </a: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 </a:t>
            </a:r>
            <a:r>
              <a:rPr lang="en-US" sz="3355">
                <a:solidFill>
                  <a:srgbClr val="728F82"/>
                </a:solidFill>
                <a:latin typeface="TT Commons Pro"/>
                <a:ea typeface="TT Commons Pro"/>
                <a:cs typeface="TT Commons Pro"/>
                <a:sym typeface="TT Commons Pro"/>
              </a:rPr>
              <a:t>Execution Time Optimization</a:t>
            </a:r>
            <a:r>
              <a:rPr lang="en-US" sz="3355">
                <a:solidFill>
                  <a:srgbClr val="728F82"/>
                </a:solidFill>
                <a:latin typeface="TT Commons Pro"/>
                <a:ea typeface="TT Commons Pro"/>
                <a:cs typeface="TT Commons Pro"/>
                <a:sym typeface="TT Commons Pro"/>
              </a:rPr>
              <a:t> – Reduces the total time required to complete all tasks.</a:t>
            </a: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 </a:t>
            </a:r>
            <a:r>
              <a:rPr lang="en-US" sz="3355">
                <a:solidFill>
                  <a:srgbClr val="728F82"/>
                </a:solidFill>
                <a:latin typeface="TT Commons Pro"/>
                <a:ea typeface="TT Commons Pro"/>
                <a:cs typeface="TT Commons Pro"/>
                <a:sym typeface="TT Commons Pro"/>
              </a:rPr>
              <a:t>Performance Dashboard</a:t>
            </a:r>
            <a:r>
              <a:rPr lang="en-US" sz="3355">
                <a:solidFill>
                  <a:srgbClr val="728F82"/>
                </a:solidFill>
                <a:latin typeface="TT Commons Pro"/>
                <a:ea typeface="TT Commons Pro"/>
                <a:cs typeface="TT Commons Pro"/>
                <a:sym typeface="TT Commons Pro"/>
              </a:rPr>
              <a:t> – Displays task progress, processor status, and system performance in real time.</a:t>
            </a:r>
          </a:p>
          <a:p>
            <a:pPr algn="l" marL="724483" indent="-362241" lvl="1">
              <a:lnSpc>
                <a:spcPts val="4261"/>
              </a:lnSpc>
              <a:buAutoNum type="arabicPeriod" startAt="1"/>
            </a:pPr>
            <a:r>
              <a:rPr lang="en-US" sz="3355">
                <a:solidFill>
                  <a:srgbClr val="728F82"/>
                </a:solidFill>
                <a:latin typeface="TT Commons Pro"/>
                <a:ea typeface="TT Commons Pro"/>
                <a:cs typeface="TT Commons Pro"/>
                <a:sym typeface="TT Commons Pro"/>
              </a:rPr>
              <a:t>- </a:t>
            </a:r>
            <a:r>
              <a:rPr lang="en-US" sz="3355">
                <a:solidFill>
                  <a:srgbClr val="728F82"/>
                </a:solidFill>
                <a:latin typeface="TT Commons Pro"/>
                <a:ea typeface="TT Commons Pro"/>
                <a:cs typeface="TT Commons Pro"/>
                <a:sym typeface="TT Commons Pro"/>
              </a:rPr>
              <a:t>Error Detection and Task Recovery</a:t>
            </a:r>
            <a:r>
              <a:rPr lang="en-US" sz="3355">
                <a:solidFill>
                  <a:srgbClr val="728F82"/>
                </a:solidFill>
                <a:latin typeface="TT Commons Pro"/>
                <a:ea typeface="TT Commons Pro"/>
                <a:cs typeface="TT Commons Pro"/>
                <a:sym typeface="TT Commons Pro"/>
              </a:rPr>
              <a:t> – Detects failed tasks and automatically reassigns them to continue processing.</a:t>
            </a: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4261"/>
              </a:lnSpc>
            </a:pPr>
          </a:p>
          <a:p>
            <a:pPr algn="l">
              <a:lnSpc>
                <a:spcPts val="2919"/>
              </a:lnSpc>
            </a:pPr>
          </a:p>
          <a:p>
            <a:pPr algn="l">
              <a:lnSpc>
                <a:spcPts val="3590"/>
              </a:lnSpc>
            </a:pPr>
          </a:p>
          <a:p>
            <a:pPr algn="l">
              <a:lnSpc>
                <a:spcPts val="2919"/>
              </a:lnSpc>
            </a:pPr>
          </a:p>
        </p:txBody>
      </p:sp>
      <p:sp>
        <p:nvSpPr>
          <p:cNvPr name="TextBox 4" id="4"/>
          <p:cNvSpPr txBox="true"/>
          <p:nvPr/>
        </p:nvSpPr>
        <p:spPr>
          <a:xfrm rot="0">
            <a:off x="-2267050" y="3798178"/>
            <a:ext cx="8395551" cy="637396"/>
          </a:xfrm>
          <a:prstGeom prst="rect">
            <a:avLst/>
          </a:prstGeom>
        </p:spPr>
        <p:txBody>
          <a:bodyPr anchor="t" rtlCol="false" tIns="0" lIns="0" bIns="0" rIns="0">
            <a:spAutoFit/>
          </a:bodyPr>
          <a:lstStyle/>
          <a:p>
            <a:pPr algn="ctr" marL="0" indent="0" lvl="0">
              <a:lnSpc>
                <a:spcPts val="4524"/>
              </a:lnSpc>
              <a:spcBef>
                <a:spcPct val="0"/>
              </a:spcBef>
            </a:pPr>
            <a:r>
              <a:rPr lang="en-US" b="true" sz="5200" strike="noStrike" u="none">
                <a:solidFill>
                  <a:srgbClr val="728F82"/>
                </a:solidFill>
                <a:latin typeface="Inria Serif Bold"/>
                <a:ea typeface="Inria Serif Bold"/>
                <a:cs typeface="Inria Serif Bold"/>
                <a:sym typeface="Inria Serif Bold"/>
              </a:rPr>
              <a:t>Features</a:t>
            </a:r>
          </a:p>
        </p:txBody>
      </p:sp>
      <p:sp>
        <p:nvSpPr>
          <p:cNvPr name="Freeform 5" id="5"/>
          <p:cNvSpPr/>
          <p:nvPr/>
        </p:nvSpPr>
        <p:spPr>
          <a:xfrm flipH="false" flipV="false" rot="-5400000">
            <a:off x="14435051" y="-1795549"/>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false" rot="0">
            <a:off x="15212143" y="-2096909"/>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41117" y="7728513"/>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745001">
            <a:off x="16066212" y="6991354"/>
            <a:ext cx="1250610" cy="2919281"/>
          </a:xfrm>
          <a:custGeom>
            <a:avLst/>
            <a:gdLst/>
            <a:ahLst/>
            <a:cxnLst/>
            <a:rect r="r" b="b" t="t" l="l"/>
            <a:pathLst>
              <a:path h="2919281" w="1250610">
                <a:moveTo>
                  <a:pt x="0" y="0"/>
                </a:moveTo>
                <a:lnTo>
                  <a:pt x="1250610" y="0"/>
                </a:lnTo>
                <a:lnTo>
                  <a:pt x="1250610" y="2919281"/>
                </a:lnTo>
                <a:lnTo>
                  <a:pt x="0" y="29192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5" id="5"/>
          <p:cNvGraphicFramePr>
            <a:graphicFrameLocks noGrp="true"/>
          </p:cNvGraphicFramePr>
          <p:nvPr/>
        </p:nvGraphicFramePr>
        <p:xfrm>
          <a:off x="963686" y="2856151"/>
          <a:ext cx="15321212" cy="6079462"/>
        </p:xfrm>
        <a:graphic>
          <a:graphicData uri="http://schemas.openxmlformats.org/drawingml/2006/table">
            <a:tbl>
              <a:tblPr/>
              <a:tblGrid>
                <a:gridCol w="7747753"/>
                <a:gridCol w="7573459"/>
              </a:tblGrid>
              <a:tr h="1359932">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63886">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5789">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44312">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95543">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008247" y="798616"/>
            <a:ext cx="11449178" cy="996458"/>
          </a:xfrm>
          <a:prstGeom prst="rect">
            <a:avLst/>
          </a:prstGeom>
        </p:spPr>
        <p:txBody>
          <a:bodyPr anchor="t" rtlCol="false" tIns="0" lIns="0" bIns="0" rIns="0">
            <a:spAutoFit/>
          </a:bodyPr>
          <a:lstStyle/>
          <a:p>
            <a:pPr algn="ctr">
              <a:lnSpc>
                <a:spcPts val="7300"/>
              </a:lnSpc>
            </a:pPr>
            <a:r>
              <a:rPr lang="en-US" b="true" sz="7684" spc="-530">
                <a:solidFill>
                  <a:srgbClr val="728F82"/>
                </a:solidFill>
                <a:latin typeface="Inria Serif Bold"/>
                <a:ea typeface="Inria Serif Bold"/>
                <a:cs typeface="Inria Serif Bold"/>
                <a:sym typeface="Inria Serif Bold"/>
              </a:rPr>
              <a:t> Team Members Roles</a:t>
            </a:r>
          </a:p>
        </p:txBody>
      </p:sp>
      <p:sp>
        <p:nvSpPr>
          <p:cNvPr name="TextBox 7" id="7"/>
          <p:cNvSpPr txBox="true"/>
          <p:nvPr/>
        </p:nvSpPr>
        <p:spPr>
          <a:xfrm rot="0">
            <a:off x="1734224" y="4522650"/>
            <a:ext cx="6016027" cy="370221"/>
          </a:xfrm>
          <a:prstGeom prst="rect">
            <a:avLst/>
          </a:prstGeom>
        </p:spPr>
        <p:txBody>
          <a:bodyPr anchor="t" rtlCol="false" tIns="0" lIns="0" bIns="0" rIns="0">
            <a:spAutoFit/>
          </a:bodyPr>
          <a:lstStyle/>
          <a:p>
            <a:pPr algn="l">
              <a:lnSpc>
                <a:spcPts val="2784"/>
              </a:lnSpc>
            </a:pPr>
            <a:r>
              <a:rPr lang="en-US" sz="3200">
                <a:solidFill>
                  <a:srgbClr val="728F82"/>
                </a:solidFill>
                <a:latin typeface="TT Commons Pro"/>
                <a:ea typeface="TT Commons Pro"/>
                <a:cs typeface="TT Commons Pro"/>
                <a:sym typeface="TT Commons Pro"/>
              </a:rPr>
              <a:t>.</a:t>
            </a:r>
          </a:p>
        </p:txBody>
      </p:sp>
      <p:sp>
        <p:nvSpPr>
          <p:cNvPr name="TextBox 8" id="8"/>
          <p:cNvSpPr txBox="true"/>
          <p:nvPr/>
        </p:nvSpPr>
        <p:spPr>
          <a:xfrm rot="0">
            <a:off x="1947060" y="3172465"/>
            <a:ext cx="5538565" cy="831059"/>
          </a:xfrm>
          <a:prstGeom prst="rect">
            <a:avLst/>
          </a:prstGeom>
        </p:spPr>
        <p:txBody>
          <a:bodyPr anchor="t" rtlCol="false" tIns="0" lIns="0" bIns="0" rIns="0">
            <a:spAutoFit/>
          </a:bodyPr>
          <a:lstStyle/>
          <a:p>
            <a:pPr algn="ctr" marL="0" indent="0" lvl="0">
              <a:lnSpc>
                <a:spcPts val="6180"/>
              </a:lnSpc>
              <a:spcBef>
                <a:spcPct val="0"/>
              </a:spcBef>
            </a:pPr>
            <a:r>
              <a:rPr lang="en-US" b="true" sz="6505" spc="-552" strike="noStrike" u="none">
                <a:solidFill>
                  <a:srgbClr val="728F82"/>
                </a:solidFill>
                <a:latin typeface="Inria Serif Bold"/>
                <a:ea typeface="Inria Serif Bold"/>
                <a:cs typeface="Inria Serif Bold"/>
                <a:sym typeface="Inria Serif Bold"/>
              </a:rPr>
              <a:t>Team Member</a:t>
            </a:r>
          </a:p>
        </p:txBody>
      </p:sp>
      <p:sp>
        <p:nvSpPr>
          <p:cNvPr name="TextBox 9" id="9"/>
          <p:cNvSpPr txBox="true"/>
          <p:nvPr/>
        </p:nvSpPr>
        <p:spPr>
          <a:xfrm rot="0">
            <a:off x="9896857" y="3236193"/>
            <a:ext cx="5315286" cy="767331"/>
          </a:xfrm>
          <a:prstGeom prst="rect">
            <a:avLst/>
          </a:prstGeom>
        </p:spPr>
        <p:txBody>
          <a:bodyPr anchor="t" rtlCol="false" tIns="0" lIns="0" bIns="0" rIns="0">
            <a:spAutoFit/>
          </a:bodyPr>
          <a:lstStyle/>
          <a:p>
            <a:pPr algn="ctr" marL="0" indent="0" lvl="0">
              <a:lnSpc>
                <a:spcPts val="5681"/>
              </a:lnSpc>
              <a:spcBef>
                <a:spcPct val="0"/>
              </a:spcBef>
            </a:pPr>
            <a:r>
              <a:rPr lang="en-US" b="true" sz="5980" spc="-412" strike="noStrike" u="none">
                <a:solidFill>
                  <a:srgbClr val="728F82"/>
                </a:solidFill>
                <a:latin typeface="Inria Serif Bold"/>
                <a:ea typeface="Inria Serif Bold"/>
                <a:cs typeface="Inria Serif Bold"/>
                <a:sym typeface="Inria Serif Bold"/>
              </a:rPr>
              <a:t>Responsibility</a:t>
            </a:r>
          </a:p>
        </p:txBody>
      </p:sp>
      <p:sp>
        <p:nvSpPr>
          <p:cNvPr name="TextBox 10" id="10"/>
          <p:cNvSpPr txBox="true"/>
          <p:nvPr/>
        </p:nvSpPr>
        <p:spPr>
          <a:xfrm rot="0">
            <a:off x="1544981" y="4496989"/>
            <a:ext cx="7079311" cy="429356"/>
          </a:xfrm>
          <a:prstGeom prst="rect">
            <a:avLst/>
          </a:prstGeom>
        </p:spPr>
        <p:txBody>
          <a:bodyPr anchor="t" rtlCol="false" tIns="0" lIns="0" bIns="0" rIns="0">
            <a:spAutoFit/>
          </a:bodyPr>
          <a:lstStyle/>
          <a:p>
            <a:pPr algn="l" marL="0" indent="0" lvl="0">
              <a:lnSpc>
                <a:spcPts val="3178"/>
              </a:lnSpc>
              <a:spcBef>
                <a:spcPct val="0"/>
              </a:spcBef>
            </a:pPr>
            <a:r>
              <a:rPr lang="en-US" sz="3653" strike="noStrike" u="none">
                <a:solidFill>
                  <a:srgbClr val="728F82"/>
                </a:solidFill>
                <a:latin typeface="TT Commons Pro"/>
                <a:ea typeface="TT Commons Pro"/>
                <a:cs typeface="TT Commons Pro"/>
                <a:sym typeface="TT Commons Pro"/>
              </a:rPr>
              <a:t>2510030287</a:t>
            </a:r>
            <a:r>
              <a:rPr lang="en-US" sz="3653" strike="noStrike" u="none">
                <a:solidFill>
                  <a:srgbClr val="728F82"/>
                </a:solidFill>
                <a:latin typeface="TT Commons Pro"/>
                <a:ea typeface="TT Commons Pro"/>
                <a:cs typeface="TT Commons Pro"/>
                <a:sym typeface="TT Commons Pro"/>
              </a:rPr>
              <a:t> - </a:t>
            </a:r>
            <a:r>
              <a:rPr lang="en-US" sz="3653" strike="noStrike" u="none">
                <a:solidFill>
                  <a:srgbClr val="728F82"/>
                </a:solidFill>
                <a:latin typeface="TT Commons Pro"/>
                <a:ea typeface="TT Commons Pro"/>
                <a:cs typeface="TT Commons Pro"/>
                <a:sym typeface="TT Commons Pro"/>
              </a:rPr>
              <a:t>Kollu sree lasya</a:t>
            </a:r>
          </a:p>
        </p:txBody>
      </p:sp>
      <p:sp>
        <p:nvSpPr>
          <p:cNvPr name="TextBox 11" id="11"/>
          <p:cNvSpPr txBox="true"/>
          <p:nvPr/>
        </p:nvSpPr>
        <p:spPr>
          <a:xfrm rot="0">
            <a:off x="1544981" y="5431170"/>
            <a:ext cx="15146536" cy="621568"/>
          </a:xfrm>
          <a:prstGeom prst="rect">
            <a:avLst/>
          </a:prstGeom>
        </p:spPr>
        <p:txBody>
          <a:bodyPr anchor="t" rtlCol="false" tIns="0" lIns="0" bIns="0" rIns="0">
            <a:spAutoFit/>
          </a:bodyPr>
          <a:lstStyle/>
          <a:p>
            <a:pPr algn="l">
              <a:lnSpc>
                <a:spcPts val="5115"/>
              </a:lnSpc>
              <a:spcBef>
                <a:spcPct val="0"/>
              </a:spcBef>
            </a:pPr>
            <a:r>
              <a:rPr lang="en-US" sz="3653">
                <a:solidFill>
                  <a:srgbClr val="728F82"/>
                </a:solidFill>
                <a:latin typeface="TT Commons Pro"/>
                <a:ea typeface="TT Commons Pro"/>
                <a:cs typeface="TT Commons Pro"/>
                <a:sym typeface="TT Commons Pro"/>
              </a:rPr>
              <a:t>2510030022 - Punreddy Shrenika </a:t>
            </a:r>
          </a:p>
        </p:txBody>
      </p:sp>
      <p:sp>
        <p:nvSpPr>
          <p:cNvPr name="TextBox 12" id="12"/>
          <p:cNvSpPr txBox="true"/>
          <p:nvPr/>
        </p:nvSpPr>
        <p:spPr>
          <a:xfrm rot="0">
            <a:off x="1544981" y="6595663"/>
            <a:ext cx="6881959" cy="621568"/>
          </a:xfrm>
          <a:prstGeom prst="rect">
            <a:avLst/>
          </a:prstGeom>
        </p:spPr>
        <p:txBody>
          <a:bodyPr anchor="t" rtlCol="false" tIns="0" lIns="0" bIns="0" rIns="0">
            <a:spAutoFit/>
          </a:bodyPr>
          <a:lstStyle/>
          <a:p>
            <a:pPr algn="l">
              <a:lnSpc>
                <a:spcPts val="5115"/>
              </a:lnSpc>
              <a:spcBef>
                <a:spcPct val="0"/>
              </a:spcBef>
            </a:pPr>
            <a:r>
              <a:rPr lang="en-US" sz="3653">
                <a:solidFill>
                  <a:srgbClr val="728F82"/>
                </a:solidFill>
                <a:latin typeface="TT Commons Pro"/>
                <a:ea typeface="TT Commons Pro"/>
                <a:cs typeface="TT Commons Pro"/>
                <a:sym typeface="TT Commons Pro"/>
              </a:rPr>
              <a:t> 2510030130 - Pasham Rishikha </a:t>
            </a:r>
          </a:p>
        </p:txBody>
      </p:sp>
      <p:sp>
        <p:nvSpPr>
          <p:cNvPr name="TextBox 13" id="13"/>
          <p:cNvSpPr txBox="true"/>
          <p:nvPr/>
        </p:nvSpPr>
        <p:spPr>
          <a:xfrm rot="0">
            <a:off x="1028700" y="7829426"/>
            <a:ext cx="7595592" cy="621568"/>
          </a:xfrm>
          <a:prstGeom prst="rect">
            <a:avLst/>
          </a:prstGeom>
        </p:spPr>
        <p:txBody>
          <a:bodyPr anchor="t" rtlCol="false" tIns="0" lIns="0" bIns="0" rIns="0">
            <a:spAutoFit/>
          </a:bodyPr>
          <a:lstStyle/>
          <a:p>
            <a:pPr algn="ctr">
              <a:lnSpc>
                <a:spcPts val="5115"/>
              </a:lnSpc>
              <a:spcBef>
                <a:spcPct val="0"/>
              </a:spcBef>
            </a:pPr>
            <a:r>
              <a:rPr lang="en-US" sz="3653">
                <a:solidFill>
                  <a:srgbClr val="728F82"/>
                </a:solidFill>
                <a:latin typeface="TT Commons Pro"/>
                <a:ea typeface="TT Commons Pro"/>
                <a:cs typeface="TT Commons Pro"/>
                <a:sym typeface="TT Commons Pro"/>
              </a:rPr>
              <a:t> 2510030101 - </a:t>
            </a:r>
            <a:r>
              <a:rPr lang="en-US" sz="3653">
                <a:solidFill>
                  <a:srgbClr val="728F82"/>
                </a:solidFill>
                <a:latin typeface="TT Commons Pro"/>
                <a:ea typeface="TT Commons Pro"/>
                <a:cs typeface="TT Commons Pro"/>
                <a:sym typeface="TT Commons Pro"/>
              </a:rPr>
              <a:t>Pasham Meghana</a:t>
            </a:r>
          </a:p>
        </p:txBody>
      </p:sp>
      <p:sp>
        <p:nvSpPr>
          <p:cNvPr name="TextBox 14" id="14"/>
          <p:cNvSpPr txBox="true"/>
          <p:nvPr/>
        </p:nvSpPr>
        <p:spPr>
          <a:xfrm rot="0">
            <a:off x="8812160" y="4178532"/>
            <a:ext cx="7879358" cy="2199299"/>
          </a:xfrm>
          <a:prstGeom prst="rect">
            <a:avLst/>
          </a:prstGeom>
        </p:spPr>
        <p:txBody>
          <a:bodyPr anchor="t" rtlCol="false" tIns="0" lIns="0" bIns="0" rIns="0">
            <a:spAutoFit/>
          </a:bodyPr>
          <a:lstStyle/>
          <a:p>
            <a:pPr algn="l">
              <a:lnSpc>
                <a:spcPts val="4386"/>
              </a:lnSpc>
            </a:pPr>
            <a:r>
              <a:rPr lang="en-US" sz="3133">
                <a:solidFill>
                  <a:srgbClr val="728F82"/>
                </a:solidFill>
                <a:latin typeface="TT Commons Pro"/>
                <a:ea typeface="TT Commons Pro"/>
                <a:cs typeface="TT Commons Pro"/>
                <a:sym typeface="TT Commons Pro"/>
              </a:rPr>
              <a:t>Text Processing Pipeline Development &amp; Performance Testing</a:t>
            </a:r>
          </a:p>
          <a:p>
            <a:pPr algn="l">
              <a:lnSpc>
                <a:spcPts val="4386"/>
              </a:lnSpc>
            </a:pPr>
          </a:p>
          <a:p>
            <a:pPr algn="l">
              <a:lnSpc>
                <a:spcPts val="4386"/>
              </a:lnSpc>
              <a:spcBef>
                <a:spcPct val="0"/>
              </a:spcBef>
            </a:pPr>
          </a:p>
        </p:txBody>
      </p:sp>
      <p:sp>
        <p:nvSpPr>
          <p:cNvPr name="TextBox 15" id="15"/>
          <p:cNvSpPr txBox="true"/>
          <p:nvPr/>
        </p:nvSpPr>
        <p:spPr>
          <a:xfrm rot="0">
            <a:off x="8812160" y="5416872"/>
            <a:ext cx="7219326" cy="1077641"/>
          </a:xfrm>
          <a:prstGeom prst="rect">
            <a:avLst/>
          </a:prstGeom>
        </p:spPr>
        <p:txBody>
          <a:bodyPr anchor="t" rtlCol="false" tIns="0" lIns="0" bIns="0" rIns="0">
            <a:spAutoFit/>
          </a:bodyPr>
          <a:lstStyle/>
          <a:p>
            <a:pPr algn="l" marL="0" indent="0" lvl="0">
              <a:lnSpc>
                <a:spcPts val="4386"/>
              </a:lnSpc>
              <a:spcBef>
                <a:spcPct val="0"/>
              </a:spcBef>
            </a:pPr>
            <a:r>
              <a:rPr lang="en-US" sz="3133" strike="noStrike" u="none">
                <a:solidFill>
                  <a:srgbClr val="728F82"/>
                </a:solidFill>
                <a:latin typeface="TT Commons Pro"/>
                <a:ea typeface="TT Commons Pro"/>
                <a:cs typeface="TT Commons Pro"/>
                <a:sym typeface="TT Commons Pro"/>
              </a:rPr>
              <a:t> Project Planning, Requirement Analysis &amp; Documentation</a:t>
            </a:r>
          </a:p>
        </p:txBody>
      </p:sp>
      <p:sp>
        <p:nvSpPr>
          <p:cNvPr name="TextBox 16" id="16"/>
          <p:cNvSpPr txBox="true"/>
          <p:nvPr/>
        </p:nvSpPr>
        <p:spPr>
          <a:xfrm rot="0">
            <a:off x="8812160" y="6605188"/>
            <a:ext cx="7014512" cy="1085577"/>
          </a:xfrm>
          <a:prstGeom prst="rect">
            <a:avLst/>
          </a:prstGeom>
        </p:spPr>
        <p:txBody>
          <a:bodyPr anchor="t" rtlCol="false" tIns="0" lIns="0" bIns="0" rIns="0">
            <a:spAutoFit/>
          </a:bodyPr>
          <a:lstStyle/>
          <a:p>
            <a:pPr algn="l" marL="0" indent="0" lvl="0">
              <a:lnSpc>
                <a:spcPts val="4386"/>
              </a:lnSpc>
              <a:spcBef>
                <a:spcPct val="0"/>
              </a:spcBef>
            </a:pPr>
            <a:r>
              <a:rPr lang="en-US" sz="3133" strike="noStrike" u="none">
                <a:solidFill>
                  <a:srgbClr val="728F82"/>
                </a:solidFill>
                <a:latin typeface="TT Commons Pro"/>
                <a:ea typeface="TT Commons Pro"/>
                <a:cs typeface="TT Commons Pro"/>
                <a:sym typeface="TT Commons Pro"/>
              </a:rPr>
              <a:t>Frontend/UI Design, GitHub Repository Management &amp; Presentation</a:t>
            </a:r>
          </a:p>
        </p:txBody>
      </p:sp>
      <p:sp>
        <p:nvSpPr>
          <p:cNvPr name="TextBox 17" id="17"/>
          <p:cNvSpPr txBox="true"/>
          <p:nvPr/>
        </p:nvSpPr>
        <p:spPr>
          <a:xfrm rot="0">
            <a:off x="8812160" y="7805065"/>
            <a:ext cx="7346032" cy="1082456"/>
          </a:xfrm>
          <a:prstGeom prst="rect">
            <a:avLst/>
          </a:prstGeom>
        </p:spPr>
        <p:txBody>
          <a:bodyPr anchor="t" rtlCol="false" tIns="0" lIns="0" bIns="0" rIns="0">
            <a:spAutoFit/>
          </a:bodyPr>
          <a:lstStyle/>
          <a:p>
            <a:pPr algn="l" marL="0" indent="0" lvl="0">
              <a:lnSpc>
                <a:spcPts val="4386"/>
              </a:lnSpc>
              <a:spcBef>
                <a:spcPct val="0"/>
              </a:spcBef>
            </a:pPr>
            <a:r>
              <a:rPr lang="en-US" sz="3133" strike="noStrike" u="none">
                <a:solidFill>
                  <a:srgbClr val="728F82"/>
                </a:solidFill>
                <a:latin typeface="TT Commons Pro"/>
                <a:ea typeface="TT Commons Pro"/>
                <a:cs typeface="TT Commons Pro"/>
                <a:sym typeface="TT Commons Pro"/>
              </a:rPr>
              <a:t>Scheduling Algorithm Development &amp; Backend Implementation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387596" y="1244426"/>
            <a:ext cx="16180656" cy="1041528"/>
          </a:xfrm>
          <a:prstGeom prst="rect">
            <a:avLst/>
          </a:prstGeom>
        </p:spPr>
        <p:txBody>
          <a:bodyPr anchor="t" rtlCol="false" tIns="0" lIns="0" bIns="0" rIns="0">
            <a:spAutoFit/>
          </a:bodyPr>
          <a:lstStyle/>
          <a:p>
            <a:pPr algn="ctr">
              <a:lnSpc>
                <a:spcPts val="7048"/>
              </a:lnSpc>
            </a:pPr>
            <a:r>
              <a:rPr lang="en-US" b="true" sz="9655" spc="-666">
                <a:solidFill>
                  <a:srgbClr val="728F82"/>
                </a:solidFill>
                <a:latin typeface="Inria Serif Bold"/>
                <a:ea typeface="Inria Serif Bold"/>
                <a:cs typeface="Inria Serif Bold"/>
                <a:sym typeface="Inria Serif Bold"/>
              </a:rPr>
              <a:t>Projected Expected Outcomes</a:t>
            </a:r>
          </a:p>
        </p:txBody>
      </p:sp>
      <p:sp>
        <p:nvSpPr>
          <p:cNvPr name="TextBox 3" id="3"/>
          <p:cNvSpPr txBox="true"/>
          <p:nvPr/>
        </p:nvSpPr>
        <p:spPr>
          <a:xfrm rot="0">
            <a:off x="1383153" y="2914219"/>
            <a:ext cx="12469401" cy="6961539"/>
          </a:xfrm>
          <a:prstGeom prst="rect">
            <a:avLst/>
          </a:prstGeom>
        </p:spPr>
        <p:txBody>
          <a:bodyPr anchor="t" rtlCol="false" tIns="0" lIns="0" bIns="0" rIns="0">
            <a:spAutoFit/>
          </a:bodyPr>
          <a:lstStyle/>
          <a:p>
            <a:pPr algn="l" marL="851682" indent="-425841" lvl="1">
              <a:lnSpc>
                <a:spcPts val="7968"/>
              </a:lnSpc>
              <a:buAutoNum type="arabicPeriod" startAt="1"/>
            </a:pPr>
            <a:r>
              <a:rPr lang="en-US" sz="3944">
                <a:solidFill>
                  <a:srgbClr val="728F82"/>
                </a:solidFill>
                <a:latin typeface="TT Commons Pro"/>
                <a:ea typeface="TT Commons Pro"/>
                <a:cs typeface="TT Commons Pro"/>
                <a:sym typeface="TT Commons Pro"/>
              </a:rPr>
              <a:t> Reduce text processing execution time.</a:t>
            </a:r>
          </a:p>
          <a:p>
            <a:pPr algn="l" marL="851682" indent="-425841" lvl="1">
              <a:lnSpc>
                <a:spcPts val="7968"/>
              </a:lnSpc>
              <a:buAutoNum type="arabicPeriod" startAt="1"/>
            </a:pPr>
            <a:r>
              <a:rPr lang="en-US" sz="3944">
                <a:solidFill>
                  <a:srgbClr val="728F82"/>
                </a:solidFill>
                <a:latin typeface="TT Commons Pro"/>
                <a:ea typeface="TT Commons Pro"/>
                <a:cs typeface="TT Commons Pro"/>
                <a:sym typeface="TT Commons Pro"/>
              </a:rPr>
              <a:t> Improve CPU and memory utilization.</a:t>
            </a:r>
          </a:p>
          <a:p>
            <a:pPr algn="l" marL="851682" indent="-425841" lvl="1">
              <a:lnSpc>
                <a:spcPts val="7968"/>
              </a:lnSpc>
              <a:buAutoNum type="arabicPeriod" startAt="1"/>
            </a:pPr>
            <a:r>
              <a:rPr lang="en-US" sz="3944">
                <a:solidFill>
                  <a:srgbClr val="728F82"/>
                </a:solidFill>
                <a:latin typeface="TT Commons Pro"/>
                <a:ea typeface="TT Commons Pro"/>
                <a:cs typeface="TT Commons Pro"/>
                <a:sym typeface="TT Commons Pro"/>
              </a:rPr>
              <a:t>Efficiently allocate available resources.</a:t>
            </a:r>
          </a:p>
          <a:p>
            <a:pPr algn="l" marL="851682" indent="-425841" lvl="1">
              <a:lnSpc>
                <a:spcPts val="7968"/>
              </a:lnSpc>
              <a:buAutoNum type="arabicPeriod" startAt="1"/>
            </a:pPr>
            <a:r>
              <a:rPr lang="en-US" sz="3944">
                <a:solidFill>
                  <a:srgbClr val="728F82"/>
                </a:solidFill>
                <a:latin typeface="TT Commons Pro"/>
                <a:ea typeface="TT Commons Pro"/>
                <a:cs typeface="TT Commons Pro"/>
                <a:sym typeface="TT Commons Pro"/>
              </a:rPr>
              <a:t>Increase overall system performance.</a:t>
            </a:r>
          </a:p>
          <a:p>
            <a:pPr algn="l" marL="851682" indent="-425841" lvl="1">
              <a:lnSpc>
                <a:spcPts val="7968"/>
              </a:lnSpc>
              <a:buAutoNum type="arabicPeriod" startAt="1"/>
            </a:pPr>
            <a:r>
              <a:rPr lang="en-US" sz="3944">
                <a:solidFill>
                  <a:srgbClr val="728F82"/>
                </a:solidFill>
                <a:latin typeface="TT Commons Pro"/>
                <a:ea typeface="TT Commons Pro"/>
                <a:cs typeface="TT Commons Pro"/>
                <a:sym typeface="TT Commons Pro"/>
              </a:rPr>
              <a:t>Support faster and scalable text processing.</a:t>
            </a:r>
          </a:p>
          <a:p>
            <a:pPr algn="l">
              <a:lnSpc>
                <a:spcPts val="7968"/>
              </a:lnSpc>
            </a:pPr>
          </a:p>
          <a:p>
            <a:pPr algn="l">
              <a:lnSpc>
                <a:spcPts val="7968"/>
              </a:lnSpc>
            </a:pPr>
          </a:p>
        </p:txBody>
      </p:sp>
      <p:sp>
        <p:nvSpPr>
          <p:cNvPr name="Freeform 4" id="4"/>
          <p:cNvSpPr/>
          <p:nvPr/>
        </p:nvSpPr>
        <p:spPr>
          <a:xfrm flipH="false" flipV="false" rot="-5400000">
            <a:off x="17038550" y="7143418"/>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4918790" y="-1486339"/>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028700" y="8229600"/>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1170632" y="1102445"/>
            <a:ext cx="15232486" cy="1147529"/>
          </a:xfrm>
          <a:prstGeom prst="rect">
            <a:avLst/>
          </a:prstGeom>
        </p:spPr>
        <p:txBody>
          <a:bodyPr anchor="t" rtlCol="false" tIns="0" lIns="0" bIns="0" rIns="0">
            <a:spAutoFit/>
          </a:bodyPr>
          <a:lstStyle/>
          <a:p>
            <a:pPr algn="ctr">
              <a:lnSpc>
                <a:spcPts val="8244"/>
              </a:lnSpc>
            </a:pPr>
            <a:r>
              <a:rPr lang="en-US" b="true" sz="9476" spc="-701">
                <a:solidFill>
                  <a:srgbClr val="728F82"/>
                </a:solidFill>
                <a:latin typeface="Inria Serif Bold"/>
                <a:ea typeface="Inria Serif Bold"/>
                <a:cs typeface="Inria Serif Bold"/>
                <a:sym typeface="Inria Serif Bold"/>
              </a:rPr>
              <a:t>Real-World Applications</a:t>
            </a:r>
          </a:p>
        </p:txBody>
      </p:sp>
      <p:sp>
        <p:nvSpPr>
          <p:cNvPr name="TextBox 3" id="3"/>
          <p:cNvSpPr txBox="true"/>
          <p:nvPr/>
        </p:nvSpPr>
        <p:spPr>
          <a:xfrm rot="0">
            <a:off x="1241220" y="2637986"/>
            <a:ext cx="12467792" cy="6496543"/>
          </a:xfrm>
          <a:prstGeom prst="rect">
            <a:avLst/>
          </a:prstGeom>
        </p:spPr>
        <p:txBody>
          <a:bodyPr anchor="t" rtlCol="false" tIns="0" lIns="0" bIns="0" rIns="0">
            <a:spAutoFit/>
          </a:bodyPr>
          <a:lstStyle/>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Search Engine Processing</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AI Chatbots and Virtual Assistants</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Document Processing Systems</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Machine Translation Services</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Social Media Text Analysis</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Customer Feedback Analysis</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Email Spam Detection</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News and Content Recommendation Systems</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Healthcare Text Analytics</a:t>
            </a:r>
          </a:p>
          <a:p>
            <a:pPr algn="l" marL="851572" indent="-425786" lvl="1">
              <a:lnSpc>
                <a:spcPts val="4654"/>
              </a:lnSpc>
              <a:buAutoNum type="arabicPeriod" startAt="1"/>
            </a:pPr>
            <a:r>
              <a:rPr lang="en-US" sz="3944">
                <a:solidFill>
                  <a:srgbClr val="728F82"/>
                </a:solidFill>
                <a:latin typeface="TT Commons Pro"/>
                <a:ea typeface="TT Commons Pro"/>
                <a:cs typeface="TT Commons Pro"/>
                <a:sym typeface="TT Commons Pro"/>
              </a:rPr>
              <a:t>Legal Document Processing</a:t>
            </a:r>
          </a:p>
          <a:p>
            <a:pPr algn="l">
              <a:lnSpc>
                <a:spcPts val="4654"/>
              </a:lnSpc>
            </a:pPr>
          </a:p>
        </p:txBody>
      </p:sp>
      <p:sp>
        <p:nvSpPr>
          <p:cNvPr name="Freeform 4" id="4"/>
          <p:cNvSpPr/>
          <p:nvPr/>
        </p:nvSpPr>
        <p:spPr>
          <a:xfrm flipH="false" flipV="false" rot="-5400000">
            <a:off x="17038550" y="7143418"/>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4918790" y="-1486339"/>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028700" y="8229600"/>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568843" y="965146"/>
            <a:ext cx="13852540" cy="1236510"/>
          </a:xfrm>
          <a:prstGeom prst="rect">
            <a:avLst/>
          </a:prstGeom>
        </p:spPr>
        <p:txBody>
          <a:bodyPr anchor="t" rtlCol="false" tIns="0" lIns="0" bIns="0" rIns="0">
            <a:spAutoFit/>
          </a:bodyPr>
          <a:lstStyle/>
          <a:p>
            <a:pPr algn="ctr">
              <a:lnSpc>
                <a:spcPts val="8861"/>
              </a:lnSpc>
            </a:pPr>
            <a:r>
              <a:rPr lang="en-US" b="true" sz="10185" spc="-488">
                <a:solidFill>
                  <a:srgbClr val="728F82"/>
                </a:solidFill>
                <a:latin typeface="Inria Serif Bold"/>
                <a:ea typeface="Inria Serif Bold"/>
                <a:cs typeface="Inria Serif Bold"/>
                <a:sym typeface="Inria Serif Bold"/>
              </a:rPr>
              <a:t>GitHub Repository</a:t>
            </a:r>
          </a:p>
        </p:txBody>
      </p:sp>
      <p:sp>
        <p:nvSpPr>
          <p:cNvPr name="TextBox 3" id="3"/>
          <p:cNvSpPr txBox="true"/>
          <p:nvPr/>
        </p:nvSpPr>
        <p:spPr>
          <a:xfrm rot="0">
            <a:off x="4342882" y="4314094"/>
            <a:ext cx="10690526" cy="829406"/>
          </a:xfrm>
          <a:prstGeom prst="rect">
            <a:avLst/>
          </a:prstGeom>
        </p:spPr>
        <p:txBody>
          <a:bodyPr anchor="t" rtlCol="false" tIns="0" lIns="0" bIns="0" rIns="0">
            <a:spAutoFit/>
          </a:bodyPr>
          <a:lstStyle/>
          <a:p>
            <a:pPr algn="l">
              <a:lnSpc>
                <a:spcPts val="3178"/>
              </a:lnSpc>
            </a:pPr>
            <a:r>
              <a:rPr lang="en-US" sz="3653">
                <a:solidFill>
                  <a:srgbClr val="728F82"/>
                </a:solidFill>
                <a:latin typeface="TT Commons Pro"/>
                <a:ea typeface="TT Commons Pro"/>
                <a:cs typeface="TT Commons Pro"/>
                <a:sym typeface="TT Commons Pro"/>
              </a:rPr>
              <a:t>A5_DSA-3_G2</a:t>
            </a:r>
          </a:p>
          <a:p>
            <a:pPr algn="l">
              <a:lnSpc>
                <a:spcPts val="3178"/>
              </a:lnSpc>
            </a:pPr>
          </a:p>
        </p:txBody>
      </p:sp>
      <p:sp>
        <p:nvSpPr>
          <p:cNvPr name="TextBox 4" id="4"/>
          <p:cNvSpPr txBox="true"/>
          <p:nvPr/>
        </p:nvSpPr>
        <p:spPr>
          <a:xfrm rot="0">
            <a:off x="-1385744" y="2978649"/>
            <a:ext cx="8923202" cy="714624"/>
          </a:xfrm>
          <a:prstGeom prst="rect">
            <a:avLst/>
          </a:prstGeom>
        </p:spPr>
        <p:txBody>
          <a:bodyPr anchor="t" rtlCol="false" tIns="0" lIns="0" bIns="0" rIns="0">
            <a:spAutoFit/>
          </a:bodyPr>
          <a:lstStyle/>
          <a:p>
            <a:pPr algn="ctr">
              <a:lnSpc>
                <a:spcPts val="5171"/>
              </a:lnSpc>
            </a:pPr>
            <a:r>
              <a:rPr lang="en-US" sz="5944" spc="-564">
                <a:solidFill>
                  <a:srgbClr val="728F82"/>
                </a:solidFill>
                <a:latin typeface="Inria Serif"/>
                <a:ea typeface="Inria Serif"/>
                <a:cs typeface="Inria Serif"/>
                <a:sym typeface="Inria Serif"/>
              </a:rPr>
              <a:t>Repository Name</a:t>
            </a:r>
          </a:p>
        </p:txBody>
      </p:sp>
      <p:sp>
        <p:nvSpPr>
          <p:cNvPr name="TextBox 5" id="5"/>
          <p:cNvSpPr txBox="true"/>
          <p:nvPr/>
        </p:nvSpPr>
        <p:spPr>
          <a:xfrm rot="0">
            <a:off x="3628251" y="6995271"/>
            <a:ext cx="10719939" cy="429356"/>
          </a:xfrm>
          <a:prstGeom prst="rect">
            <a:avLst/>
          </a:prstGeom>
        </p:spPr>
        <p:txBody>
          <a:bodyPr anchor="t" rtlCol="false" tIns="0" lIns="0" bIns="0" rIns="0">
            <a:spAutoFit/>
          </a:bodyPr>
          <a:lstStyle/>
          <a:p>
            <a:pPr algn="l" marL="0" indent="0" lvl="0">
              <a:lnSpc>
                <a:spcPts val="3178"/>
              </a:lnSpc>
              <a:spcBef>
                <a:spcPct val="0"/>
              </a:spcBef>
            </a:pPr>
            <a:r>
              <a:rPr lang="en-US" sz="3653" strike="noStrike" u="none">
                <a:solidFill>
                  <a:srgbClr val="728F82"/>
                </a:solidFill>
                <a:latin typeface="TT Commons Pro"/>
                <a:ea typeface="TT Commons Pro"/>
                <a:cs typeface="TT Commons Pro"/>
                <a:sym typeface="TT Commons Pro"/>
              </a:rPr>
              <a:t>https://github.com/sreelasya07-kollu/A5_DSA-3_G-2</a:t>
            </a:r>
          </a:p>
        </p:txBody>
      </p:sp>
      <p:sp>
        <p:nvSpPr>
          <p:cNvPr name="TextBox 6" id="6"/>
          <p:cNvSpPr txBox="true"/>
          <p:nvPr/>
        </p:nvSpPr>
        <p:spPr>
          <a:xfrm rot="0">
            <a:off x="-3269893" y="5635675"/>
            <a:ext cx="12691501" cy="2302021"/>
          </a:xfrm>
          <a:prstGeom prst="rect">
            <a:avLst/>
          </a:prstGeom>
        </p:spPr>
        <p:txBody>
          <a:bodyPr anchor="t" rtlCol="false" tIns="0" lIns="0" bIns="0" rIns="0">
            <a:spAutoFit/>
          </a:bodyPr>
          <a:lstStyle/>
          <a:p>
            <a:pPr algn="ctr" marL="0" indent="0" lvl="0">
              <a:lnSpc>
                <a:spcPts val="4484"/>
              </a:lnSpc>
              <a:spcBef>
                <a:spcPct val="0"/>
              </a:spcBef>
            </a:pPr>
            <a:r>
              <a:rPr lang="en-US" sz="5155" spc="-190" strike="noStrike" u="none">
                <a:solidFill>
                  <a:srgbClr val="728F82"/>
                </a:solidFill>
                <a:latin typeface="Inria Serif"/>
                <a:ea typeface="Inria Serif"/>
                <a:cs typeface="Inria Serif"/>
                <a:sym typeface="Inria Serif"/>
              </a:rPr>
              <a:t>GitHub Link</a:t>
            </a:r>
          </a:p>
          <a:p>
            <a:pPr algn="ctr" marL="0" indent="0" lvl="0">
              <a:lnSpc>
                <a:spcPts val="4484"/>
              </a:lnSpc>
              <a:spcBef>
                <a:spcPct val="0"/>
              </a:spcBef>
            </a:pPr>
          </a:p>
          <a:p>
            <a:pPr algn="ctr" marL="0" indent="0" lvl="0">
              <a:lnSpc>
                <a:spcPts val="4484"/>
              </a:lnSpc>
              <a:spcBef>
                <a:spcPct val="0"/>
              </a:spcBef>
            </a:pPr>
          </a:p>
          <a:p>
            <a:pPr algn="ctr" marL="0" indent="0" lvl="0">
              <a:lnSpc>
                <a:spcPts val="4484"/>
              </a:lnSpc>
              <a:spcBef>
                <a:spcPct val="0"/>
              </a:spcBef>
            </a:pPr>
          </a:p>
        </p:txBody>
      </p:sp>
      <p:sp>
        <p:nvSpPr>
          <p:cNvPr name="Freeform 7" id="7"/>
          <p:cNvSpPr/>
          <p:nvPr/>
        </p:nvSpPr>
        <p:spPr>
          <a:xfrm flipH="false" flipV="false" rot="0">
            <a:off x="15212143" y="-2096909"/>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41117" y="7728513"/>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745001">
            <a:off x="16066212" y="6991354"/>
            <a:ext cx="1250610" cy="2919281"/>
          </a:xfrm>
          <a:custGeom>
            <a:avLst/>
            <a:gdLst/>
            <a:ahLst/>
            <a:cxnLst/>
            <a:rect r="r" b="b" t="t" l="l"/>
            <a:pathLst>
              <a:path h="2919281" w="1250610">
                <a:moveTo>
                  <a:pt x="0" y="0"/>
                </a:moveTo>
                <a:lnTo>
                  <a:pt x="1250610" y="0"/>
                </a:lnTo>
                <a:lnTo>
                  <a:pt x="1250610" y="2919281"/>
                </a:lnTo>
                <a:lnTo>
                  <a:pt x="0" y="29192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true" rot="0">
            <a:off x="-3795005" y="1556844"/>
            <a:ext cx="4823705" cy="4114800"/>
          </a:xfrm>
          <a:custGeom>
            <a:avLst/>
            <a:gdLst/>
            <a:ahLst/>
            <a:cxnLst/>
            <a:rect r="r" b="b" t="t" l="l"/>
            <a:pathLst>
              <a:path h="4114800" w="4823705">
                <a:moveTo>
                  <a:pt x="0" y="4114800"/>
                </a:moveTo>
                <a:lnTo>
                  <a:pt x="4823705" y="4114800"/>
                </a:lnTo>
                <a:lnTo>
                  <a:pt x="482370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745001">
            <a:off x="147317" y="31948"/>
            <a:ext cx="1762766" cy="4114800"/>
          </a:xfrm>
          <a:custGeom>
            <a:avLst/>
            <a:gdLst/>
            <a:ahLst/>
            <a:cxnLst/>
            <a:rect r="r" b="b" t="t" l="l"/>
            <a:pathLst>
              <a:path h="4114800" w="1762766">
                <a:moveTo>
                  <a:pt x="0" y="0"/>
                </a:moveTo>
                <a:lnTo>
                  <a:pt x="1762766" y="0"/>
                </a:lnTo>
                <a:lnTo>
                  <a:pt x="176276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16794618" y="4843293"/>
            <a:ext cx="4823705" cy="4114800"/>
          </a:xfrm>
          <a:custGeom>
            <a:avLst/>
            <a:gdLst/>
            <a:ahLst/>
            <a:cxnLst/>
            <a:rect r="r" b="b" t="t" l="l"/>
            <a:pathLst>
              <a:path h="4114800" w="4823705">
                <a:moveTo>
                  <a:pt x="0" y="4114800"/>
                </a:moveTo>
                <a:lnTo>
                  <a:pt x="4823705" y="4114800"/>
                </a:lnTo>
                <a:lnTo>
                  <a:pt x="482370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1745001">
            <a:off x="16377917" y="6140252"/>
            <a:ext cx="1762766" cy="4114800"/>
          </a:xfrm>
          <a:custGeom>
            <a:avLst/>
            <a:gdLst/>
            <a:ahLst/>
            <a:cxnLst/>
            <a:rect r="r" b="b" t="t" l="l"/>
            <a:pathLst>
              <a:path h="4114800" w="1762766">
                <a:moveTo>
                  <a:pt x="1762766" y="4114800"/>
                </a:moveTo>
                <a:lnTo>
                  <a:pt x="0" y="4114800"/>
                </a:lnTo>
                <a:lnTo>
                  <a:pt x="0" y="0"/>
                </a:lnTo>
                <a:lnTo>
                  <a:pt x="1762766" y="0"/>
                </a:lnTo>
                <a:lnTo>
                  <a:pt x="1762766"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58623" y="6900693"/>
            <a:ext cx="5116974" cy="5116974"/>
          </a:xfrm>
          <a:custGeom>
            <a:avLst/>
            <a:gdLst/>
            <a:ahLst/>
            <a:cxnLst/>
            <a:rect r="r" b="b" t="t" l="l"/>
            <a:pathLst>
              <a:path h="5116974" w="5116974">
                <a:moveTo>
                  <a:pt x="0" y="0"/>
                </a:moveTo>
                <a:lnTo>
                  <a:pt x="5116974" y="0"/>
                </a:lnTo>
                <a:lnTo>
                  <a:pt x="5116974" y="5116975"/>
                </a:lnTo>
                <a:lnTo>
                  <a:pt x="0" y="51169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929649" y="-1730668"/>
            <a:ext cx="5116974" cy="5116974"/>
          </a:xfrm>
          <a:custGeom>
            <a:avLst/>
            <a:gdLst/>
            <a:ahLst/>
            <a:cxnLst/>
            <a:rect r="r" b="b" t="t" l="l"/>
            <a:pathLst>
              <a:path h="5116974" w="5116974">
                <a:moveTo>
                  <a:pt x="0" y="0"/>
                </a:moveTo>
                <a:lnTo>
                  <a:pt x="5116974" y="0"/>
                </a:lnTo>
                <a:lnTo>
                  <a:pt x="5116974" y="5116975"/>
                </a:lnTo>
                <a:lnTo>
                  <a:pt x="0" y="51169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966718" y="3421806"/>
            <a:ext cx="10354563" cy="3976789"/>
          </a:xfrm>
          <a:prstGeom prst="rect">
            <a:avLst/>
          </a:prstGeom>
        </p:spPr>
        <p:txBody>
          <a:bodyPr anchor="t" rtlCol="false" tIns="0" lIns="0" bIns="0" rIns="0">
            <a:spAutoFit/>
          </a:bodyPr>
          <a:lstStyle/>
          <a:p>
            <a:pPr algn="ctr">
              <a:lnSpc>
                <a:spcPts val="14929"/>
              </a:lnSpc>
            </a:pPr>
            <a:r>
              <a:rPr lang="en-US" sz="17160" b="true">
                <a:solidFill>
                  <a:srgbClr val="728F82"/>
                </a:solidFill>
                <a:latin typeface="Inria Serif Bold"/>
                <a:ea typeface="Inria Serif Bold"/>
                <a:cs typeface="Inria Serif Bold"/>
                <a:sym typeface="Inria Serif Bold"/>
              </a:rPr>
              <a:t>Thank</a:t>
            </a:r>
          </a:p>
          <a:p>
            <a:pPr algn="ctr">
              <a:lnSpc>
                <a:spcPts val="14929"/>
              </a:lnSpc>
            </a:pPr>
            <a:r>
              <a:rPr lang="en-US" sz="17160" b="true">
                <a:solidFill>
                  <a:srgbClr val="728F82"/>
                </a:solidFill>
                <a:latin typeface="Inria Serif Bold"/>
                <a:ea typeface="Inria Serif Bold"/>
                <a:cs typeface="Inria Serif Bold"/>
                <a:sym typeface="Inria Serif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DAHRJGFCDaE</dc:identifier>
  <dcterms:modified xsi:type="dcterms:W3CDTF">2011-08-01T06:04:30Z</dcterms:modified>
  <cp:revision>1</cp:revision>
  <dc:title>DSA-3 Project Presentation</dc:title>
</cp:coreProperties>
</file>