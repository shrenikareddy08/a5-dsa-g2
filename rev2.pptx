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Shape 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29179" y="4844491"/>
            <a:ext cx="1071844" cy="256033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841" y="380181"/>
            <a:ext cx="3287242" cy="4383064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ext 1"/>
          <p:cNvSpPr txBox="1"/>
          <p:nvPr/>
        </p:nvSpPr>
        <p:spPr>
          <a:xfrm>
            <a:off x="3925118" y="747637"/>
            <a:ext cx="4722764" cy="1328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sz="2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INTELLIGENT RESOURCE SCHEDULING FOR TEXT PROCESSING PIPELINES</a:t>
            </a:r>
          </a:p>
        </p:txBody>
      </p:sp>
      <p:sp>
        <p:nvSpPr>
          <p:cNvPr id="33" name="Text 2"/>
          <p:cNvSpPr txBox="1"/>
          <p:nvPr/>
        </p:nvSpPr>
        <p:spPr>
          <a:xfrm>
            <a:off x="3925118" y="2133301"/>
            <a:ext cx="129125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PBL REVIEW – 2</a:t>
            </a:r>
          </a:p>
        </p:txBody>
      </p:sp>
      <p:sp>
        <p:nvSpPr>
          <p:cNvPr id="34" name="Text 3"/>
          <p:cNvSpPr txBox="1"/>
          <p:nvPr/>
        </p:nvSpPr>
        <p:spPr>
          <a:xfrm>
            <a:off x="3925118" y="2567359"/>
            <a:ext cx="43193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Team: </a:t>
            </a:r>
          </a:p>
        </p:txBody>
      </p:sp>
      <p:sp>
        <p:nvSpPr>
          <p:cNvPr id="35" name="Text 4"/>
          <p:cNvSpPr txBox="1"/>
          <p:nvPr/>
        </p:nvSpPr>
        <p:spPr>
          <a:xfrm>
            <a:off x="3925118" y="3010349"/>
            <a:ext cx="4722764" cy="99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 2510030287 – Kollu Sree Lasya   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 2510030022 – Punreddy Shrenika Reddy  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 2510030130 – Pasham Rishikha Reddy   </a:t>
            </a:r>
          </a:p>
          <a:p>
            <a:pPr marL="223520" indent="-223520">
              <a:lnSpc>
                <a:spcPct val="133000"/>
              </a:lnSpc>
              <a:buSzPct val="100000"/>
              <a:buChar char="•"/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  2510030101 – Pasham Meghana   </a:t>
            </a:r>
          </a:p>
        </p:txBody>
      </p:sp>
      <p:sp>
        <p:nvSpPr>
          <p:cNvPr id="36" name="Text 5"/>
          <p:cNvSpPr txBox="1"/>
          <p:nvPr/>
        </p:nvSpPr>
        <p:spPr>
          <a:xfrm>
            <a:off x="3925118" y="4169047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 txBox="1"/>
          <p:nvPr/>
        </p:nvSpPr>
        <p:spPr>
          <a:xfrm>
            <a:off x="496119" y="399083"/>
            <a:ext cx="502299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INTRODUCTION — THE SCHEDULING PROBLEM</a:t>
            </a:r>
          </a:p>
        </p:txBody>
      </p:sp>
      <p:pic>
        <p:nvPicPr>
          <p:cNvPr id="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807095"/>
            <a:ext cx="3552380" cy="3552379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 1"/>
          <p:cNvSpPr txBox="1"/>
          <p:nvPr/>
        </p:nvSpPr>
        <p:spPr>
          <a:xfrm>
            <a:off x="4263999" y="1854025"/>
            <a:ext cx="70529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8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Multiple Tasks</a:t>
            </a:r>
          </a:p>
        </p:txBody>
      </p:sp>
      <p:sp>
        <p:nvSpPr>
          <p:cNvPr id="41" name="Text 2"/>
          <p:cNvSpPr txBox="1"/>
          <p:nvPr/>
        </p:nvSpPr>
        <p:spPr>
          <a:xfrm>
            <a:off x="4263999" y="2041550"/>
            <a:ext cx="3714801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6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Text-processing pipelines contain multiple dependent and independent tasks (tokenize, parse, index, classify).</a:t>
            </a:r>
          </a:p>
        </p:txBody>
      </p:sp>
      <p:sp>
        <p:nvSpPr>
          <p:cNvPr id="42" name="Text 3"/>
          <p:cNvSpPr txBox="1"/>
          <p:nvPr/>
        </p:nvSpPr>
        <p:spPr>
          <a:xfrm>
            <a:off x="4263999" y="2205334"/>
            <a:ext cx="113615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8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Different Requirements</a:t>
            </a:r>
          </a:p>
        </p:txBody>
      </p:sp>
      <p:sp>
        <p:nvSpPr>
          <p:cNvPr id="43" name="Text 4"/>
          <p:cNvSpPr txBox="1"/>
          <p:nvPr/>
        </p:nvSpPr>
        <p:spPr>
          <a:xfrm>
            <a:off x="4263999" y="2392858"/>
            <a:ext cx="26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6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Tasks differ in priority, CPU demand, memory footprint, and execution profiles.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4263999" y="2556643"/>
            <a:ext cx="419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8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45" name="Text 6"/>
          <p:cNvSpPr txBox="1"/>
          <p:nvPr/>
        </p:nvSpPr>
        <p:spPr>
          <a:xfrm>
            <a:off x="4263999" y="2744166"/>
            <a:ext cx="30751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7000"/>
              </a:lnSpc>
              <a:defRPr sz="6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Sequential execution often yields waiting, limited parallelism, and resource underutilization.</a:t>
            </a:r>
          </a:p>
        </p:txBody>
      </p:sp>
      <p:sp>
        <p:nvSpPr>
          <p:cNvPr id="46" name="Text 7"/>
          <p:cNvSpPr txBox="1"/>
          <p:nvPr/>
        </p:nvSpPr>
        <p:spPr>
          <a:xfrm>
            <a:off x="4263999" y="2907952"/>
            <a:ext cx="9157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8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Proposed Solution</a:t>
            </a:r>
          </a:p>
        </p:txBody>
      </p:sp>
      <p:sp>
        <p:nvSpPr>
          <p:cNvPr id="47" name="Text 8"/>
          <p:cNvSpPr txBox="1"/>
          <p:nvPr/>
        </p:nvSpPr>
        <p:spPr>
          <a:xfrm>
            <a:off x="4263999" y="3095475"/>
            <a:ext cx="4388570" cy="222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7000"/>
              </a:lnSpc>
              <a:defRPr sz="6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An intelligent scheduler that selects the next task and allocates resources to improve execution time, throughput, and utilization.</a:t>
            </a:r>
          </a:p>
        </p:txBody>
      </p:sp>
      <p:sp>
        <p:nvSpPr>
          <p:cNvPr id="48" name="Shape 9"/>
          <p:cNvSpPr/>
          <p:nvPr/>
        </p:nvSpPr>
        <p:spPr>
          <a:xfrm>
            <a:off x="496118" y="4497784"/>
            <a:ext cx="815176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6" y="0"/>
                  <a:pt x="13" y="0"/>
                </a:cubicBezTo>
                <a:lnTo>
                  <a:pt x="21587" y="0"/>
                </a:lnTo>
                <a:cubicBezTo>
                  <a:pt x="21594" y="0"/>
                  <a:pt x="21600" y="4835"/>
                  <a:pt x="21600" y="10800"/>
                </a:cubicBezTo>
                <a:lnTo>
                  <a:pt x="21600" y="10800"/>
                </a:lnTo>
                <a:cubicBezTo>
                  <a:pt x="21600" y="16765"/>
                  <a:pt x="21594" y="21600"/>
                  <a:pt x="21587" y="21600"/>
                </a:cubicBezTo>
                <a:lnTo>
                  <a:pt x="13" y="21598"/>
                </a:lnTo>
                <a:cubicBezTo>
                  <a:pt x="6" y="21598"/>
                  <a:pt x="0" y="16762"/>
                  <a:pt x="0" y="10798"/>
                </a:cubicBezTo>
                <a:close/>
              </a:path>
            </a:pathLst>
          </a:custGeom>
          <a:solidFill>
            <a:srgbClr val="3C3939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 txBox="1"/>
          <p:nvPr/>
        </p:nvSpPr>
        <p:spPr>
          <a:xfrm>
            <a:off x="496119" y="415155"/>
            <a:ext cx="6954354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LITERATURE REVIEW — EXISTING APPROACHES</a:t>
            </a:r>
          </a:p>
        </p:txBody>
      </p:sp>
      <p:sp>
        <p:nvSpPr>
          <p:cNvPr id="51" name="Text 1"/>
          <p:cNvSpPr txBox="1"/>
          <p:nvPr/>
        </p:nvSpPr>
        <p:spPr>
          <a:xfrm>
            <a:off x="496119" y="976461"/>
            <a:ext cx="8151763" cy="343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b="1" sz="9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Three representative scheduling approaches were studied across dependency handling, prioritization, parallelism, resource awareness, monitoring, and recovery.</a:t>
            </a:r>
          </a:p>
        </p:txBody>
      </p:sp>
      <p:pic>
        <p:nvPicPr>
          <p:cNvPr id="5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1429121"/>
            <a:ext cx="764457" cy="472456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Text 2"/>
          <p:cNvSpPr txBox="1"/>
          <p:nvPr/>
        </p:nvSpPr>
        <p:spPr>
          <a:xfrm>
            <a:off x="1382092" y="1429121"/>
            <a:ext cx="93684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Apache Airflow</a:t>
            </a:r>
          </a:p>
        </p:txBody>
      </p:sp>
      <p:sp>
        <p:nvSpPr>
          <p:cNvPr id="54" name="Text 3"/>
          <p:cNvSpPr txBox="1"/>
          <p:nvPr/>
        </p:nvSpPr>
        <p:spPr>
          <a:xfrm>
            <a:off x="1382092" y="1670818"/>
            <a:ext cx="1750219" cy="515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Dependency-aware orchestration using DAGs; readiness checks and concurrency controls.</a:t>
            </a:r>
          </a:p>
        </p:txBody>
      </p:sp>
      <p:pic>
        <p:nvPicPr>
          <p:cNvPr id="5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53828" y="1429121"/>
            <a:ext cx="764457" cy="472456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ext 4"/>
          <p:cNvSpPr txBox="1"/>
          <p:nvPr/>
        </p:nvSpPr>
        <p:spPr>
          <a:xfrm>
            <a:off x="4139803" y="1429121"/>
            <a:ext cx="89025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Apache Spark</a:t>
            </a:r>
          </a:p>
        </p:txBody>
      </p:sp>
      <p:sp>
        <p:nvSpPr>
          <p:cNvPr id="57" name="Text 5"/>
          <p:cNvSpPr txBox="1"/>
          <p:nvPr/>
        </p:nvSpPr>
        <p:spPr>
          <a:xfrm>
            <a:off x="4139803" y="1670818"/>
            <a:ext cx="1750294" cy="686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Distributed execution with stage/task decomposition, FIFO/FAIR scheduling, and resource sharing.</a:t>
            </a:r>
          </a:p>
        </p:txBody>
      </p:sp>
      <p:pic>
        <p:nvPicPr>
          <p:cNvPr id="5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11614" y="1429121"/>
            <a:ext cx="764457" cy="472456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6"/>
          <p:cNvSpPr txBox="1"/>
          <p:nvPr/>
        </p:nvSpPr>
        <p:spPr>
          <a:xfrm>
            <a:off x="6897588" y="1429121"/>
            <a:ext cx="37743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1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HEFT</a:t>
            </a:r>
          </a:p>
        </p:txBody>
      </p:sp>
      <p:sp>
        <p:nvSpPr>
          <p:cNvPr id="60" name="Text 7"/>
          <p:cNvSpPr txBox="1"/>
          <p:nvPr/>
        </p:nvSpPr>
        <p:spPr>
          <a:xfrm>
            <a:off x="6897588" y="1670818"/>
            <a:ext cx="1750294" cy="515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Heuristic computing of priorities (upward rank) and resource selection to reduce makespan.</a:t>
            </a:r>
          </a:p>
        </p:txBody>
      </p:sp>
      <p:sp>
        <p:nvSpPr>
          <p:cNvPr id="61" name="Shape 8"/>
          <p:cNvSpPr/>
          <p:nvPr/>
        </p:nvSpPr>
        <p:spPr>
          <a:xfrm>
            <a:off x="496118" y="2496144"/>
            <a:ext cx="8151764" cy="14289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9"/>
          <p:cNvSpPr txBox="1"/>
          <p:nvPr/>
        </p:nvSpPr>
        <p:spPr>
          <a:xfrm>
            <a:off x="496119" y="2649066"/>
            <a:ext cx="235679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Compact comparison across core dimensions:</a:t>
            </a:r>
          </a:p>
        </p:txBody>
      </p:sp>
      <p:sp>
        <p:nvSpPr>
          <p:cNvPr id="63" name="Shape 10"/>
          <p:cNvSpPr/>
          <p:nvPr/>
        </p:nvSpPr>
        <p:spPr>
          <a:xfrm>
            <a:off x="496118" y="2930053"/>
            <a:ext cx="8151764" cy="1517229"/>
          </a:xfrm>
          <a:prstGeom prst="roundRect">
            <a:avLst>
              <a:gd name="adj" fmla="val 3250"/>
            </a:avLst>
          </a:prstGeom>
          <a:ln w="4763">
            <a:solidFill>
              <a:srgbClr val="000000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1"/>
          <p:cNvSpPr/>
          <p:nvPr/>
        </p:nvSpPr>
        <p:spPr>
          <a:xfrm>
            <a:off x="496119" y="3232246"/>
            <a:ext cx="8151763" cy="12701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12"/>
          <p:cNvSpPr/>
          <p:nvPr/>
        </p:nvSpPr>
        <p:spPr>
          <a:xfrm>
            <a:off x="496119" y="3534739"/>
            <a:ext cx="8151763" cy="12701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Shape 13"/>
          <p:cNvSpPr/>
          <p:nvPr/>
        </p:nvSpPr>
        <p:spPr>
          <a:xfrm>
            <a:off x="496119" y="3837233"/>
            <a:ext cx="8151763" cy="12701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Shape 14"/>
          <p:cNvSpPr/>
          <p:nvPr/>
        </p:nvSpPr>
        <p:spPr>
          <a:xfrm>
            <a:off x="496119" y="4139727"/>
            <a:ext cx="8151763" cy="12701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5"/>
          <p:cNvSpPr txBox="1"/>
          <p:nvPr/>
        </p:nvSpPr>
        <p:spPr>
          <a:xfrm>
            <a:off x="618454" y="2997844"/>
            <a:ext cx="5969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b="1" sz="9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Dimension</a:t>
            </a:r>
          </a:p>
        </p:txBody>
      </p:sp>
      <p:sp>
        <p:nvSpPr>
          <p:cNvPr id="69" name="Text 16"/>
          <p:cNvSpPr txBox="1"/>
          <p:nvPr/>
        </p:nvSpPr>
        <p:spPr>
          <a:xfrm>
            <a:off x="3305323" y="2997844"/>
            <a:ext cx="40002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b="1" sz="9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Airflow</a:t>
            </a:r>
          </a:p>
        </p:txBody>
      </p:sp>
      <p:sp>
        <p:nvSpPr>
          <p:cNvPr id="70" name="Text 17"/>
          <p:cNvSpPr txBox="1"/>
          <p:nvPr/>
        </p:nvSpPr>
        <p:spPr>
          <a:xfrm>
            <a:off x="5096545" y="2997844"/>
            <a:ext cx="33037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b="1" sz="9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Spark</a:t>
            </a:r>
          </a:p>
        </p:txBody>
      </p:sp>
      <p:sp>
        <p:nvSpPr>
          <p:cNvPr id="71" name="Text 18"/>
          <p:cNvSpPr txBox="1"/>
          <p:nvPr/>
        </p:nvSpPr>
        <p:spPr>
          <a:xfrm>
            <a:off x="6887765" y="2997844"/>
            <a:ext cx="3111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b="1" sz="9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HEFT</a:t>
            </a:r>
          </a:p>
        </p:txBody>
      </p:sp>
      <p:sp>
        <p:nvSpPr>
          <p:cNvPr id="72" name="Text 19"/>
          <p:cNvSpPr txBox="1"/>
          <p:nvPr/>
        </p:nvSpPr>
        <p:spPr>
          <a:xfrm>
            <a:off x="618454" y="3300338"/>
            <a:ext cx="113745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Dependency Handling</a:t>
            </a:r>
          </a:p>
        </p:txBody>
      </p:sp>
      <p:sp>
        <p:nvSpPr>
          <p:cNvPr id="73" name="Text 20"/>
          <p:cNvSpPr txBox="1"/>
          <p:nvPr/>
        </p:nvSpPr>
        <p:spPr>
          <a:xfrm>
            <a:off x="3305323" y="3300338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74" name="Text 21"/>
          <p:cNvSpPr txBox="1"/>
          <p:nvPr/>
        </p:nvSpPr>
        <p:spPr>
          <a:xfrm>
            <a:off x="5096545" y="3300338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75" name="Text 22"/>
          <p:cNvSpPr txBox="1"/>
          <p:nvPr/>
        </p:nvSpPr>
        <p:spPr>
          <a:xfrm>
            <a:off x="6887765" y="3300338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76" name="Text 23"/>
          <p:cNvSpPr txBox="1"/>
          <p:nvPr/>
        </p:nvSpPr>
        <p:spPr>
          <a:xfrm>
            <a:off x="618454" y="3602830"/>
            <a:ext cx="641575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Prioritization</a:t>
            </a:r>
          </a:p>
        </p:txBody>
      </p:sp>
      <p:sp>
        <p:nvSpPr>
          <p:cNvPr id="77" name="Text 24"/>
          <p:cNvSpPr txBox="1"/>
          <p:nvPr/>
        </p:nvSpPr>
        <p:spPr>
          <a:xfrm>
            <a:off x="3305323" y="3602830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78" name="Text 25"/>
          <p:cNvSpPr txBox="1"/>
          <p:nvPr/>
        </p:nvSpPr>
        <p:spPr>
          <a:xfrm>
            <a:off x="5096545" y="3602830"/>
            <a:ext cx="6670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Policy-based</a:t>
            </a:r>
          </a:p>
        </p:txBody>
      </p:sp>
      <p:sp>
        <p:nvSpPr>
          <p:cNvPr id="79" name="Text 26"/>
          <p:cNvSpPr txBox="1"/>
          <p:nvPr/>
        </p:nvSpPr>
        <p:spPr>
          <a:xfrm>
            <a:off x="6887765" y="3602830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80" name="Text 27"/>
          <p:cNvSpPr txBox="1"/>
          <p:nvPr/>
        </p:nvSpPr>
        <p:spPr>
          <a:xfrm>
            <a:off x="618454" y="3905324"/>
            <a:ext cx="57164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Parallelism</a:t>
            </a:r>
          </a:p>
        </p:txBody>
      </p:sp>
      <p:sp>
        <p:nvSpPr>
          <p:cNvPr id="81" name="Text 28"/>
          <p:cNvSpPr txBox="1"/>
          <p:nvPr/>
        </p:nvSpPr>
        <p:spPr>
          <a:xfrm>
            <a:off x="3305323" y="3905324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82" name="Text 29"/>
          <p:cNvSpPr txBox="1"/>
          <p:nvPr/>
        </p:nvSpPr>
        <p:spPr>
          <a:xfrm>
            <a:off x="5096545" y="3905324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83" name="Text 30"/>
          <p:cNvSpPr txBox="1"/>
          <p:nvPr/>
        </p:nvSpPr>
        <p:spPr>
          <a:xfrm>
            <a:off x="6887765" y="3905324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84" name="Text 31"/>
          <p:cNvSpPr txBox="1"/>
          <p:nvPr/>
        </p:nvSpPr>
        <p:spPr>
          <a:xfrm>
            <a:off x="618454" y="4207817"/>
            <a:ext cx="109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Resource Awareness</a:t>
            </a:r>
          </a:p>
        </p:txBody>
      </p:sp>
      <p:sp>
        <p:nvSpPr>
          <p:cNvPr id="85" name="Text 32"/>
          <p:cNvSpPr txBox="1"/>
          <p:nvPr/>
        </p:nvSpPr>
        <p:spPr>
          <a:xfrm>
            <a:off x="3305323" y="4207817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86" name="Text 33"/>
          <p:cNvSpPr txBox="1"/>
          <p:nvPr/>
        </p:nvSpPr>
        <p:spPr>
          <a:xfrm>
            <a:off x="5096545" y="4207817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87" name="Text 34"/>
          <p:cNvSpPr txBox="1"/>
          <p:nvPr/>
        </p:nvSpPr>
        <p:spPr>
          <a:xfrm>
            <a:off x="6887765" y="4207817"/>
            <a:ext cx="1270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88" name="Text 35"/>
          <p:cNvSpPr txBox="1"/>
          <p:nvPr/>
        </p:nvSpPr>
        <p:spPr>
          <a:xfrm>
            <a:off x="496119" y="4556595"/>
            <a:ext cx="43691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2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Each approach addresses important scheduling concerns from a different perspective.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 txBox="1"/>
          <p:nvPr/>
        </p:nvSpPr>
        <p:spPr>
          <a:xfrm>
            <a:off x="496119" y="445591"/>
            <a:ext cx="4255139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STUDY 1 — APACHE AIRFLOW</a:t>
            </a:r>
          </a:p>
        </p:txBody>
      </p:sp>
      <p:pic>
        <p:nvPicPr>
          <p:cNvPr id="9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1502642"/>
            <a:ext cx="2663355" cy="2663355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ext 1"/>
          <p:cNvSpPr txBox="1"/>
          <p:nvPr/>
        </p:nvSpPr>
        <p:spPr>
          <a:xfrm>
            <a:off x="3456087" y="1071637"/>
            <a:ext cx="132736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Problem Addressed</a:t>
            </a:r>
          </a:p>
        </p:txBody>
      </p:sp>
      <p:sp>
        <p:nvSpPr>
          <p:cNvPr id="93" name="Text 2"/>
          <p:cNvSpPr txBox="1"/>
          <p:nvPr/>
        </p:nvSpPr>
        <p:spPr>
          <a:xfrm>
            <a:off x="3456087" y="1359395"/>
            <a:ext cx="494953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Orchestration of dependent tasks using DAGs; tasks scheduled when dependencies are satisfied.</a:t>
            </a:r>
          </a:p>
        </p:txBody>
      </p:sp>
      <p:sp>
        <p:nvSpPr>
          <p:cNvPr id="94" name="Text 3"/>
          <p:cNvSpPr txBox="1"/>
          <p:nvPr/>
        </p:nvSpPr>
        <p:spPr>
          <a:xfrm>
            <a:off x="3456087" y="1636663"/>
            <a:ext cx="6650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Key Ideas</a:t>
            </a:r>
          </a:p>
        </p:txBody>
      </p:sp>
      <p:sp>
        <p:nvSpPr>
          <p:cNvPr id="95" name="Text 4"/>
          <p:cNvSpPr txBox="1"/>
          <p:nvPr/>
        </p:nvSpPr>
        <p:spPr>
          <a:xfrm>
            <a:off x="3456087" y="1972268"/>
            <a:ext cx="5196483" cy="763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DAG-based readiness checks</a:t>
            </a:r>
          </a:p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Dependency enforcement</a:t>
            </a:r>
          </a:p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Pool slots and concurrency controls</a:t>
            </a:r>
          </a:p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Task prioritization</a:t>
            </a:r>
          </a:p>
        </p:txBody>
      </p:sp>
      <p:sp>
        <p:nvSpPr>
          <p:cNvPr id="96" name="Text 5"/>
          <p:cNvSpPr txBox="1"/>
          <p:nvPr/>
        </p:nvSpPr>
        <p:spPr>
          <a:xfrm>
            <a:off x="3456087" y="2836590"/>
            <a:ext cx="58698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Strength</a:t>
            </a:r>
          </a:p>
        </p:txBody>
      </p:sp>
      <p:sp>
        <p:nvSpPr>
          <p:cNvPr id="97" name="Text 6"/>
          <p:cNvSpPr txBox="1"/>
          <p:nvPr/>
        </p:nvSpPr>
        <p:spPr>
          <a:xfrm>
            <a:off x="3456087" y="3124349"/>
            <a:ext cx="385012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Strong dependency-aware workflow orchestration and readiness semantics.</a:t>
            </a:r>
          </a:p>
        </p:txBody>
      </p:sp>
      <p:sp>
        <p:nvSpPr>
          <p:cNvPr id="98" name="Text 7"/>
          <p:cNvSpPr txBox="1"/>
          <p:nvPr/>
        </p:nvSpPr>
        <p:spPr>
          <a:xfrm>
            <a:off x="3456087" y="3401616"/>
            <a:ext cx="11539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Scope Difference</a:t>
            </a:r>
          </a:p>
        </p:txBody>
      </p:sp>
      <p:sp>
        <p:nvSpPr>
          <p:cNvPr id="99" name="Text 8"/>
          <p:cNvSpPr txBox="1"/>
          <p:nvPr/>
        </p:nvSpPr>
        <p:spPr>
          <a:xfrm>
            <a:off x="3456087" y="3689375"/>
            <a:ext cx="5196483" cy="352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"Airflow is a general-purpose orchestration platform; our work focuses specifically on scheduling within text-processing pipelines."</a:t>
            </a:r>
          </a:p>
        </p:txBody>
      </p:sp>
      <p:sp>
        <p:nvSpPr>
          <p:cNvPr id="100" name="Text 9"/>
          <p:cNvSpPr txBox="1"/>
          <p:nvPr/>
        </p:nvSpPr>
        <p:spPr>
          <a:xfrm>
            <a:off x="3456087" y="4143002"/>
            <a:ext cx="6882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Reference</a:t>
            </a:r>
          </a:p>
        </p:txBody>
      </p:sp>
      <p:sp>
        <p:nvSpPr>
          <p:cNvPr id="101" name="Text 10"/>
          <p:cNvSpPr txBox="1"/>
          <p:nvPr/>
        </p:nvSpPr>
        <p:spPr>
          <a:xfrm>
            <a:off x="3456087" y="4430762"/>
            <a:ext cx="226186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Apache Airflow Documentation — Scheduler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/>
        </p:nvSpPr>
        <p:spPr>
          <a:xfrm>
            <a:off x="496119" y="445591"/>
            <a:ext cx="3909126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3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STUDY 2 — APACHE SPARK</a:t>
            </a:r>
          </a:p>
        </p:txBody>
      </p:sp>
      <p:pic>
        <p:nvPicPr>
          <p:cNvPr id="10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1502642"/>
            <a:ext cx="2663355" cy="2663355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 1"/>
          <p:cNvSpPr txBox="1"/>
          <p:nvPr/>
        </p:nvSpPr>
        <p:spPr>
          <a:xfrm>
            <a:off x="3456087" y="1071637"/>
            <a:ext cx="132736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Problem Addressed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3456087" y="1359395"/>
            <a:ext cx="383120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Scheduling and resource sharing for distributed data-processing workloads.</a:t>
            </a:r>
          </a:p>
        </p:txBody>
      </p:sp>
      <p:sp>
        <p:nvSpPr>
          <p:cNvPr id="107" name="Text 3"/>
          <p:cNvSpPr txBox="1"/>
          <p:nvPr/>
        </p:nvSpPr>
        <p:spPr>
          <a:xfrm>
            <a:off x="3456087" y="1636663"/>
            <a:ext cx="66502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Key Ideas</a:t>
            </a:r>
          </a:p>
        </p:txBody>
      </p:sp>
      <p:sp>
        <p:nvSpPr>
          <p:cNvPr id="108" name="Text 4"/>
          <p:cNvSpPr txBox="1"/>
          <p:nvPr/>
        </p:nvSpPr>
        <p:spPr>
          <a:xfrm>
            <a:off x="3456087" y="1972268"/>
            <a:ext cx="5196483" cy="763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FIFO and FAIR scheduling policies</a:t>
            </a:r>
          </a:p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Stage/task decomposition</a:t>
            </a:r>
          </a:p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Parallel execution across executors</a:t>
            </a:r>
          </a:p>
          <a:p>
            <a:pPr marL="182879" indent="-182879">
              <a:lnSpc>
                <a:spcPct val="123000"/>
              </a:lnSpc>
              <a:buSzPct val="100000"/>
              <a:buChar char="•"/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Resource sharing mechanisms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3456087" y="2836590"/>
            <a:ext cx="58698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Strength</a:t>
            </a:r>
          </a:p>
        </p:txBody>
      </p:sp>
      <p:sp>
        <p:nvSpPr>
          <p:cNvPr id="110" name="Text 6"/>
          <p:cNvSpPr txBox="1"/>
          <p:nvPr/>
        </p:nvSpPr>
        <p:spPr>
          <a:xfrm>
            <a:off x="3456087" y="3124349"/>
            <a:ext cx="30119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Scalable distributed execution and high parallel throughput.</a:t>
            </a:r>
          </a:p>
        </p:txBody>
      </p:sp>
      <p:sp>
        <p:nvSpPr>
          <p:cNvPr id="111" name="Text 7"/>
          <p:cNvSpPr txBox="1"/>
          <p:nvPr/>
        </p:nvSpPr>
        <p:spPr>
          <a:xfrm>
            <a:off x="3456087" y="3401616"/>
            <a:ext cx="115397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Scope Difference</a:t>
            </a:r>
          </a:p>
        </p:txBody>
      </p:sp>
      <p:sp>
        <p:nvSpPr>
          <p:cNvPr id="112" name="Text 8"/>
          <p:cNvSpPr txBox="1"/>
          <p:nvPr/>
        </p:nvSpPr>
        <p:spPr>
          <a:xfrm>
            <a:off x="3456087" y="3689375"/>
            <a:ext cx="5196483" cy="352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Spark targets large-scale distributed computation; our project focuses on scheduling behavior within a dedicated text-processing pipeline.</a:t>
            </a:r>
          </a:p>
        </p:txBody>
      </p:sp>
      <p:sp>
        <p:nvSpPr>
          <p:cNvPr id="113" name="Text 9"/>
          <p:cNvSpPr txBox="1"/>
          <p:nvPr/>
        </p:nvSpPr>
        <p:spPr>
          <a:xfrm>
            <a:off x="3456087" y="4143002"/>
            <a:ext cx="68828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Reference</a:t>
            </a:r>
          </a:p>
        </p:txBody>
      </p:sp>
      <p:sp>
        <p:nvSpPr>
          <p:cNvPr id="114" name="Text 10"/>
          <p:cNvSpPr txBox="1"/>
          <p:nvPr/>
        </p:nvSpPr>
        <p:spPr>
          <a:xfrm>
            <a:off x="3456087" y="4430762"/>
            <a:ext cx="2274647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Apache Spark Documentation — Scheduling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 txBox="1"/>
          <p:nvPr/>
        </p:nvSpPr>
        <p:spPr>
          <a:xfrm>
            <a:off x="496119" y="438000"/>
            <a:ext cx="224553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STUDY 3 — HEFT</a:t>
            </a:r>
          </a:p>
        </p:txBody>
      </p:sp>
      <p:pic>
        <p:nvPicPr>
          <p:cNvPr id="1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1470867"/>
            <a:ext cx="2677493" cy="2677493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ext 1"/>
          <p:cNvSpPr txBox="1"/>
          <p:nvPr/>
        </p:nvSpPr>
        <p:spPr>
          <a:xfrm>
            <a:off x="3448496" y="1000348"/>
            <a:ext cx="619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Full Name</a:t>
            </a:r>
          </a:p>
        </p:txBody>
      </p:sp>
      <p:sp>
        <p:nvSpPr>
          <p:cNvPr id="119" name="Text 2"/>
          <p:cNvSpPr txBox="1"/>
          <p:nvPr/>
        </p:nvSpPr>
        <p:spPr>
          <a:xfrm>
            <a:off x="3448496" y="1259829"/>
            <a:ext cx="162222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9000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Heterogeneous Earliest Finish Time</a:t>
            </a:r>
          </a:p>
        </p:txBody>
      </p:sp>
      <p:sp>
        <p:nvSpPr>
          <p:cNvPr id="120" name="Text 3"/>
          <p:cNvSpPr txBox="1"/>
          <p:nvPr/>
        </p:nvSpPr>
        <p:spPr>
          <a:xfrm>
            <a:off x="3448496" y="1504057"/>
            <a:ext cx="120785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Problem Addressed</a:t>
            </a:r>
          </a:p>
        </p:txBody>
      </p:sp>
      <p:sp>
        <p:nvSpPr>
          <p:cNvPr id="121" name="Text 4"/>
          <p:cNvSpPr txBox="1"/>
          <p:nvPr/>
        </p:nvSpPr>
        <p:spPr>
          <a:xfrm>
            <a:off x="3448496" y="1763539"/>
            <a:ext cx="40718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9000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Efficient scheduling of dependent tasks on heterogeneous resources to reduce makespan.</a:t>
            </a:r>
          </a:p>
        </p:txBody>
      </p:sp>
      <p:sp>
        <p:nvSpPr>
          <p:cNvPr id="122" name="Text 5"/>
          <p:cNvSpPr txBox="1"/>
          <p:nvPr/>
        </p:nvSpPr>
        <p:spPr>
          <a:xfrm>
            <a:off x="3448496" y="2007766"/>
            <a:ext cx="53508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Key Idea</a:t>
            </a:r>
          </a:p>
        </p:txBody>
      </p:sp>
      <p:sp>
        <p:nvSpPr>
          <p:cNvPr id="123" name="Text 6"/>
          <p:cNvSpPr txBox="1"/>
          <p:nvPr/>
        </p:nvSpPr>
        <p:spPr>
          <a:xfrm>
            <a:off x="3448496" y="2267248"/>
            <a:ext cx="39938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9000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Compute task priorities using upward rank and select resources by estimated finish time.</a:t>
            </a:r>
          </a:p>
        </p:txBody>
      </p:sp>
      <p:sp>
        <p:nvSpPr>
          <p:cNvPr id="124" name="Text 7"/>
          <p:cNvSpPr txBox="1"/>
          <p:nvPr/>
        </p:nvSpPr>
        <p:spPr>
          <a:xfrm>
            <a:off x="3448496" y="2511474"/>
            <a:ext cx="6054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Strengths</a:t>
            </a:r>
          </a:p>
        </p:txBody>
      </p:sp>
      <p:sp>
        <p:nvSpPr>
          <p:cNvPr id="125" name="Text 8"/>
          <p:cNvSpPr txBox="1"/>
          <p:nvPr/>
        </p:nvSpPr>
        <p:spPr>
          <a:xfrm>
            <a:off x="3448496" y="2815258"/>
            <a:ext cx="5204074" cy="489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72720" indent="-172720">
              <a:lnSpc>
                <a:spcPct val="119000"/>
              </a:lnSpc>
              <a:buSzPct val="100000"/>
              <a:buChar char="•"/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Dependency-aware prioritization</a:t>
            </a:r>
          </a:p>
          <a:p>
            <a:pPr marL="172720" indent="-172720">
              <a:lnSpc>
                <a:spcPct val="119000"/>
              </a:lnSpc>
              <a:buSzPct val="100000"/>
              <a:buChar char="•"/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Heterogeneity-aware placement</a:t>
            </a:r>
          </a:p>
          <a:p>
            <a:pPr marL="172720" indent="-172720">
              <a:lnSpc>
                <a:spcPct val="119000"/>
              </a:lnSpc>
              <a:buSzPct val="100000"/>
              <a:buChar char="•"/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Makespan-focused optimization</a:t>
            </a:r>
          </a:p>
        </p:txBody>
      </p:sp>
      <p:sp>
        <p:nvSpPr>
          <p:cNvPr id="126" name="Text 9"/>
          <p:cNvSpPr txBox="1"/>
          <p:nvPr/>
        </p:nvSpPr>
        <p:spPr>
          <a:xfrm>
            <a:off x="3448496" y="3391122"/>
            <a:ext cx="105021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Scope Difference</a:t>
            </a:r>
          </a:p>
        </p:txBody>
      </p:sp>
      <p:sp>
        <p:nvSpPr>
          <p:cNvPr id="127" name="Text 10"/>
          <p:cNvSpPr txBox="1"/>
          <p:nvPr/>
        </p:nvSpPr>
        <p:spPr>
          <a:xfrm>
            <a:off x="3448496" y="3650605"/>
            <a:ext cx="5204074" cy="315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9000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"HEFT is an algorithmic scheduling heuristic for heterogeneous environments; our proposed system additionally focuses on pipeline monitoring and recovery."</a:t>
            </a:r>
          </a:p>
        </p:txBody>
      </p:sp>
      <p:sp>
        <p:nvSpPr>
          <p:cNvPr id="128" name="Text 11"/>
          <p:cNvSpPr txBox="1"/>
          <p:nvPr/>
        </p:nvSpPr>
        <p:spPr>
          <a:xfrm>
            <a:off x="3448496" y="4052589"/>
            <a:ext cx="62686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Reference</a:t>
            </a:r>
          </a:p>
        </p:txBody>
      </p:sp>
      <p:sp>
        <p:nvSpPr>
          <p:cNvPr id="129" name="Text 12"/>
          <p:cNvSpPr txBox="1"/>
          <p:nvPr/>
        </p:nvSpPr>
        <p:spPr>
          <a:xfrm>
            <a:off x="3448496" y="4312072"/>
            <a:ext cx="5204074" cy="315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9000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Topcuoglu, H., Hariri, S., &amp; Wu, M. — "Performance-Effective and Low-Complexity Task Scheduling for Heterogeneous Computing."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766"/>
            <a:ext cx="9144000" cy="51299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 txBox="1"/>
          <p:nvPr/>
        </p:nvSpPr>
        <p:spPr>
          <a:xfrm>
            <a:off x="496119" y="677837"/>
            <a:ext cx="63901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ANALYSIS OF EXISTING APPROACHES</a:t>
            </a:r>
          </a:p>
        </p:txBody>
      </p:sp>
      <p:sp>
        <p:nvSpPr>
          <p:cNvPr id="134" name="Shape 1"/>
          <p:cNvSpPr/>
          <p:nvPr/>
        </p:nvSpPr>
        <p:spPr>
          <a:xfrm>
            <a:off x="496118" y="1404341"/>
            <a:ext cx="8151764" cy="2448225"/>
          </a:xfrm>
          <a:prstGeom prst="roundRect">
            <a:avLst>
              <a:gd name="adj" fmla="val 2432"/>
            </a:avLst>
          </a:prstGeom>
          <a:ln w="4763">
            <a:solidFill>
              <a:srgbClr val="000000">
                <a:alpha val="8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2"/>
          <p:cNvSpPr/>
          <p:nvPr/>
        </p:nvSpPr>
        <p:spPr>
          <a:xfrm>
            <a:off x="500881" y="1409104"/>
            <a:ext cx="8142238" cy="40645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3"/>
          <p:cNvSpPr txBox="1"/>
          <p:nvPr/>
        </p:nvSpPr>
        <p:spPr>
          <a:xfrm>
            <a:off x="642788" y="1498921"/>
            <a:ext cx="72682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Dimension</a:t>
            </a:r>
          </a:p>
        </p:txBody>
      </p:sp>
      <p:sp>
        <p:nvSpPr>
          <p:cNvPr id="137" name="Text 4"/>
          <p:cNvSpPr txBox="1"/>
          <p:nvPr/>
        </p:nvSpPr>
        <p:spPr>
          <a:xfrm>
            <a:off x="2680691" y="1498921"/>
            <a:ext cx="48609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Airflow</a:t>
            </a:r>
          </a:p>
        </p:txBody>
      </p:sp>
      <p:sp>
        <p:nvSpPr>
          <p:cNvPr id="138" name="Text 5"/>
          <p:cNvSpPr txBox="1"/>
          <p:nvPr/>
        </p:nvSpPr>
        <p:spPr>
          <a:xfrm>
            <a:off x="4716214" y="1498921"/>
            <a:ext cx="40096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Spark</a:t>
            </a:r>
          </a:p>
        </p:txBody>
      </p:sp>
      <p:sp>
        <p:nvSpPr>
          <p:cNvPr id="139" name="Text 6"/>
          <p:cNvSpPr txBox="1"/>
          <p:nvPr/>
        </p:nvSpPr>
        <p:spPr>
          <a:xfrm>
            <a:off x="6751736" y="1498921"/>
            <a:ext cx="37743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HEFT</a:t>
            </a:r>
          </a:p>
        </p:txBody>
      </p:sp>
      <p:sp>
        <p:nvSpPr>
          <p:cNvPr id="140" name="Shape 7"/>
          <p:cNvSpPr/>
          <p:nvPr/>
        </p:nvSpPr>
        <p:spPr>
          <a:xfrm>
            <a:off x="500881" y="1815553"/>
            <a:ext cx="8142238" cy="40645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8"/>
          <p:cNvSpPr txBox="1"/>
          <p:nvPr/>
        </p:nvSpPr>
        <p:spPr>
          <a:xfrm>
            <a:off x="642788" y="1905372"/>
            <a:ext cx="147975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Dependency Handling</a:t>
            </a:r>
          </a:p>
        </p:txBody>
      </p:sp>
      <p:sp>
        <p:nvSpPr>
          <p:cNvPr id="142" name="Text 9"/>
          <p:cNvSpPr txBox="1"/>
          <p:nvPr/>
        </p:nvSpPr>
        <p:spPr>
          <a:xfrm>
            <a:off x="2680691" y="1905372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3" name="Text 10"/>
          <p:cNvSpPr txBox="1"/>
          <p:nvPr/>
        </p:nvSpPr>
        <p:spPr>
          <a:xfrm>
            <a:off x="4716214" y="1905372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4" name="Text 11"/>
          <p:cNvSpPr txBox="1"/>
          <p:nvPr/>
        </p:nvSpPr>
        <p:spPr>
          <a:xfrm>
            <a:off x="6751736" y="1905372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5" name="Shape 12"/>
          <p:cNvSpPr/>
          <p:nvPr/>
        </p:nvSpPr>
        <p:spPr>
          <a:xfrm>
            <a:off x="500881" y="2222003"/>
            <a:ext cx="8142238" cy="40645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3"/>
          <p:cNvSpPr txBox="1"/>
          <p:nvPr/>
        </p:nvSpPr>
        <p:spPr>
          <a:xfrm>
            <a:off x="642788" y="2311822"/>
            <a:ext cx="86645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Prioritization</a:t>
            </a:r>
          </a:p>
        </p:txBody>
      </p:sp>
      <p:sp>
        <p:nvSpPr>
          <p:cNvPr id="147" name="Text 14"/>
          <p:cNvSpPr txBox="1"/>
          <p:nvPr/>
        </p:nvSpPr>
        <p:spPr>
          <a:xfrm>
            <a:off x="2680691" y="2311822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48" name="Text 15"/>
          <p:cNvSpPr txBox="1"/>
          <p:nvPr/>
        </p:nvSpPr>
        <p:spPr>
          <a:xfrm>
            <a:off x="4716214" y="2311822"/>
            <a:ext cx="8124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Policy-based</a:t>
            </a:r>
          </a:p>
        </p:txBody>
      </p:sp>
      <p:sp>
        <p:nvSpPr>
          <p:cNvPr id="149" name="Text 16"/>
          <p:cNvSpPr txBox="1"/>
          <p:nvPr/>
        </p:nvSpPr>
        <p:spPr>
          <a:xfrm>
            <a:off x="6751736" y="2311822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0" name="Shape 17"/>
          <p:cNvSpPr/>
          <p:nvPr/>
        </p:nvSpPr>
        <p:spPr>
          <a:xfrm>
            <a:off x="500881" y="2628453"/>
            <a:ext cx="8142238" cy="40645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8"/>
          <p:cNvSpPr txBox="1"/>
          <p:nvPr/>
        </p:nvSpPr>
        <p:spPr>
          <a:xfrm>
            <a:off x="642788" y="2718271"/>
            <a:ext cx="75049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Parallelism</a:t>
            </a:r>
          </a:p>
        </p:txBody>
      </p:sp>
      <p:sp>
        <p:nvSpPr>
          <p:cNvPr id="152" name="Text 19"/>
          <p:cNvSpPr txBox="1"/>
          <p:nvPr/>
        </p:nvSpPr>
        <p:spPr>
          <a:xfrm>
            <a:off x="2680691" y="2718271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3" name="Text 20"/>
          <p:cNvSpPr txBox="1"/>
          <p:nvPr/>
        </p:nvSpPr>
        <p:spPr>
          <a:xfrm>
            <a:off x="4716214" y="2718271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4" name="Text 21"/>
          <p:cNvSpPr txBox="1"/>
          <p:nvPr/>
        </p:nvSpPr>
        <p:spPr>
          <a:xfrm>
            <a:off x="6751736" y="2718271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5" name="Shape 22"/>
          <p:cNvSpPr/>
          <p:nvPr/>
        </p:nvSpPr>
        <p:spPr>
          <a:xfrm>
            <a:off x="500881" y="3034902"/>
            <a:ext cx="8142238" cy="40645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23"/>
          <p:cNvSpPr txBox="1"/>
          <p:nvPr/>
        </p:nvSpPr>
        <p:spPr>
          <a:xfrm>
            <a:off x="642788" y="3124721"/>
            <a:ext cx="141836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Resource Awareness</a:t>
            </a:r>
          </a:p>
        </p:txBody>
      </p:sp>
      <p:sp>
        <p:nvSpPr>
          <p:cNvPr id="157" name="Text 24"/>
          <p:cNvSpPr txBox="1"/>
          <p:nvPr/>
        </p:nvSpPr>
        <p:spPr>
          <a:xfrm>
            <a:off x="2680691" y="3124721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8" name="Text 25"/>
          <p:cNvSpPr txBox="1"/>
          <p:nvPr/>
        </p:nvSpPr>
        <p:spPr>
          <a:xfrm>
            <a:off x="4716214" y="3124721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59" name="Text 26"/>
          <p:cNvSpPr txBox="1"/>
          <p:nvPr/>
        </p:nvSpPr>
        <p:spPr>
          <a:xfrm>
            <a:off x="6751736" y="3124721"/>
            <a:ext cx="1270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60" name="Shape 27"/>
          <p:cNvSpPr/>
          <p:nvPr/>
        </p:nvSpPr>
        <p:spPr>
          <a:xfrm>
            <a:off x="500881" y="3441353"/>
            <a:ext cx="8142238" cy="40645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28"/>
          <p:cNvSpPr txBox="1"/>
          <p:nvPr/>
        </p:nvSpPr>
        <p:spPr>
          <a:xfrm>
            <a:off x="642788" y="3531170"/>
            <a:ext cx="98323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Primary Focus</a:t>
            </a:r>
          </a:p>
        </p:txBody>
      </p:sp>
      <p:sp>
        <p:nvSpPr>
          <p:cNvPr id="162" name="Text 29"/>
          <p:cNvSpPr txBox="1"/>
          <p:nvPr/>
        </p:nvSpPr>
        <p:spPr>
          <a:xfrm>
            <a:off x="2680691" y="3531170"/>
            <a:ext cx="143098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Workflow orchestration</a:t>
            </a:r>
          </a:p>
        </p:txBody>
      </p:sp>
      <p:sp>
        <p:nvSpPr>
          <p:cNvPr id="163" name="Text 30"/>
          <p:cNvSpPr txBox="1"/>
          <p:nvPr/>
        </p:nvSpPr>
        <p:spPr>
          <a:xfrm>
            <a:off x="4716214" y="3531170"/>
            <a:ext cx="139483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Distributed processing</a:t>
            </a:r>
          </a:p>
        </p:txBody>
      </p:sp>
      <p:sp>
        <p:nvSpPr>
          <p:cNvPr id="164" name="Text 31"/>
          <p:cNvSpPr txBox="1"/>
          <p:nvPr/>
        </p:nvSpPr>
        <p:spPr>
          <a:xfrm>
            <a:off x="6751736" y="3531170"/>
            <a:ext cx="100669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Task scheduling</a:t>
            </a:r>
          </a:p>
        </p:txBody>
      </p:sp>
      <p:sp>
        <p:nvSpPr>
          <p:cNvPr id="165" name="Text 32"/>
          <p:cNvSpPr txBox="1"/>
          <p:nvPr/>
        </p:nvSpPr>
        <p:spPr>
          <a:xfrm>
            <a:off x="496119" y="4012034"/>
            <a:ext cx="8151763" cy="45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b="1" sz="11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Each approach emphasizes different scheduling concerns, providing complementary concepts relevant to our proposed scheduler.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496119" y="439787"/>
            <a:ext cx="497230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1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IDENTIFIED GAP &amp; PROPOSED FOCUS</a:t>
            </a:r>
          </a:p>
        </p:txBody>
      </p:sp>
      <p:sp>
        <p:nvSpPr>
          <p:cNvPr id="168" name="Text 1"/>
          <p:cNvSpPr txBox="1"/>
          <p:nvPr/>
        </p:nvSpPr>
        <p:spPr>
          <a:xfrm>
            <a:off x="496119" y="945133"/>
            <a:ext cx="8151763" cy="306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7999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     Existing approaches emphasize different scheduling dimensions. Our study identifies an opportunity to integrate task priority, dependency analysis, resource availability, safe parallelism, monitoring, and recovery within a focused text-processing scheduler.  </a:t>
            </a:r>
          </a:p>
        </p:txBody>
      </p:sp>
      <p:sp>
        <p:nvSpPr>
          <p:cNvPr id="169" name="Shape 2"/>
          <p:cNvSpPr/>
          <p:nvPr/>
        </p:nvSpPr>
        <p:spPr>
          <a:xfrm>
            <a:off x="496118" y="1345183"/>
            <a:ext cx="4034360" cy="599182"/>
          </a:xfrm>
          <a:prstGeom prst="roundRect">
            <a:avLst>
              <a:gd name="adj" fmla="val 7608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3"/>
          <p:cNvSpPr txBox="1"/>
          <p:nvPr/>
        </p:nvSpPr>
        <p:spPr>
          <a:xfrm>
            <a:off x="609377" y="1458441"/>
            <a:ext cx="40783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Priority</a:t>
            </a:r>
          </a:p>
        </p:txBody>
      </p:sp>
      <p:sp>
        <p:nvSpPr>
          <p:cNvPr id="171" name="Text 4"/>
          <p:cNvSpPr txBox="1"/>
          <p:nvPr/>
        </p:nvSpPr>
        <p:spPr>
          <a:xfrm>
            <a:off x="609377" y="1677814"/>
            <a:ext cx="17295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7999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Task importance and scheduling order</a:t>
            </a:r>
          </a:p>
        </p:txBody>
      </p:sp>
      <p:sp>
        <p:nvSpPr>
          <p:cNvPr id="172" name="Shape 5"/>
          <p:cNvSpPr/>
          <p:nvPr/>
        </p:nvSpPr>
        <p:spPr>
          <a:xfrm>
            <a:off x="4613523" y="1345183"/>
            <a:ext cx="4034359" cy="599182"/>
          </a:xfrm>
          <a:prstGeom prst="roundRect">
            <a:avLst>
              <a:gd name="adj" fmla="val 7608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6"/>
          <p:cNvSpPr txBox="1"/>
          <p:nvPr/>
        </p:nvSpPr>
        <p:spPr>
          <a:xfrm>
            <a:off x="4726780" y="1458441"/>
            <a:ext cx="82468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Dependencies</a:t>
            </a:r>
          </a:p>
        </p:txBody>
      </p:sp>
      <p:sp>
        <p:nvSpPr>
          <p:cNvPr id="174" name="Text 7"/>
          <p:cNvSpPr txBox="1"/>
          <p:nvPr/>
        </p:nvSpPr>
        <p:spPr>
          <a:xfrm>
            <a:off x="4726780" y="1677814"/>
            <a:ext cx="13229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7999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Accurate readiness detection</a:t>
            </a:r>
          </a:p>
        </p:txBody>
      </p:sp>
      <p:sp>
        <p:nvSpPr>
          <p:cNvPr id="175" name="Shape 8"/>
          <p:cNvSpPr/>
          <p:nvPr/>
        </p:nvSpPr>
        <p:spPr>
          <a:xfrm>
            <a:off x="496118" y="2027410"/>
            <a:ext cx="4034360" cy="599183"/>
          </a:xfrm>
          <a:prstGeom prst="roundRect">
            <a:avLst>
              <a:gd name="adj" fmla="val 7608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9"/>
          <p:cNvSpPr txBox="1"/>
          <p:nvPr/>
        </p:nvSpPr>
        <p:spPr>
          <a:xfrm>
            <a:off x="609377" y="2140668"/>
            <a:ext cx="11823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Resource Availability</a:t>
            </a:r>
          </a:p>
        </p:txBody>
      </p:sp>
      <p:sp>
        <p:nvSpPr>
          <p:cNvPr id="177" name="Text 10"/>
          <p:cNvSpPr txBox="1"/>
          <p:nvPr/>
        </p:nvSpPr>
        <p:spPr>
          <a:xfrm>
            <a:off x="609377" y="2360041"/>
            <a:ext cx="16897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7999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CPU/memory checks before dispatch</a:t>
            </a:r>
          </a:p>
        </p:txBody>
      </p:sp>
      <p:sp>
        <p:nvSpPr>
          <p:cNvPr id="178" name="Shape 11"/>
          <p:cNvSpPr/>
          <p:nvPr/>
        </p:nvSpPr>
        <p:spPr>
          <a:xfrm>
            <a:off x="4613523" y="2027410"/>
            <a:ext cx="4034359" cy="599183"/>
          </a:xfrm>
          <a:prstGeom prst="roundRect">
            <a:avLst>
              <a:gd name="adj" fmla="val 7608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12"/>
          <p:cNvSpPr txBox="1"/>
          <p:nvPr/>
        </p:nvSpPr>
        <p:spPr>
          <a:xfrm>
            <a:off x="4726780" y="2140668"/>
            <a:ext cx="63374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Parallelism</a:t>
            </a:r>
          </a:p>
        </p:txBody>
      </p:sp>
      <p:sp>
        <p:nvSpPr>
          <p:cNvPr id="180" name="Text 13"/>
          <p:cNvSpPr txBox="1"/>
          <p:nvPr/>
        </p:nvSpPr>
        <p:spPr>
          <a:xfrm>
            <a:off x="4726780" y="2360041"/>
            <a:ext cx="16164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7999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Safe concurrency limits per pipeline</a:t>
            </a:r>
          </a:p>
        </p:txBody>
      </p:sp>
      <p:sp>
        <p:nvSpPr>
          <p:cNvPr id="181" name="Shape 14"/>
          <p:cNvSpPr/>
          <p:nvPr/>
        </p:nvSpPr>
        <p:spPr>
          <a:xfrm>
            <a:off x="496118" y="2709639"/>
            <a:ext cx="4034360" cy="599183"/>
          </a:xfrm>
          <a:prstGeom prst="roundRect">
            <a:avLst>
              <a:gd name="adj" fmla="val 7608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5"/>
          <p:cNvSpPr txBox="1"/>
          <p:nvPr/>
        </p:nvSpPr>
        <p:spPr>
          <a:xfrm>
            <a:off x="609377" y="2822897"/>
            <a:ext cx="60565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Monitoring</a:t>
            </a:r>
          </a:p>
        </p:txBody>
      </p:sp>
      <p:sp>
        <p:nvSpPr>
          <p:cNvPr id="183" name="Text 16"/>
          <p:cNvSpPr txBox="1"/>
          <p:nvPr/>
        </p:nvSpPr>
        <p:spPr>
          <a:xfrm>
            <a:off x="609377" y="3042269"/>
            <a:ext cx="1571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7999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Resource and progress monitoring</a:t>
            </a:r>
          </a:p>
        </p:txBody>
      </p:sp>
      <p:sp>
        <p:nvSpPr>
          <p:cNvPr id="184" name="Shape 17"/>
          <p:cNvSpPr/>
          <p:nvPr/>
        </p:nvSpPr>
        <p:spPr>
          <a:xfrm>
            <a:off x="4613523" y="2709639"/>
            <a:ext cx="4034359" cy="599183"/>
          </a:xfrm>
          <a:prstGeom prst="roundRect">
            <a:avLst>
              <a:gd name="adj" fmla="val 7608"/>
            </a:avLst>
          </a:prstGeom>
          <a:solidFill>
            <a:srgbClr val="E1E1EA"/>
          </a:solidFill>
          <a:ln w="4763">
            <a:solidFill>
              <a:srgbClr val="C7C7D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18"/>
          <p:cNvSpPr txBox="1"/>
          <p:nvPr/>
        </p:nvSpPr>
        <p:spPr>
          <a:xfrm>
            <a:off x="4726780" y="2822897"/>
            <a:ext cx="54910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Recovery</a:t>
            </a:r>
          </a:p>
        </p:txBody>
      </p:sp>
      <p:sp>
        <p:nvSpPr>
          <p:cNvPr id="186" name="Text 19"/>
          <p:cNvSpPr txBox="1"/>
          <p:nvPr/>
        </p:nvSpPr>
        <p:spPr>
          <a:xfrm>
            <a:off x="4726780" y="3042269"/>
            <a:ext cx="21924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7999"/>
              </a:lnSpc>
              <a:defRPr sz="8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Failure detection and task retry/recovery policies</a:t>
            </a:r>
          </a:p>
        </p:txBody>
      </p:sp>
      <p:sp>
        <p:nvSpPr>
          <p:cNvPr id="187" name="Shape 20"/>
          <p:cNvSpPr/>
          <p:nvPr/>
        </p:nvSpPr>
        <p:spPr>
          <a:xfrm>
            <a:off x="496118" y="3402284"/>
            <a:ext cx="8151764" cy="1301354"/>
          </a:xfrm>
          <a:prstGeom prst="roundRect">
            <a:avLst>
              <a:gd name="adj" fmla="val 350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614" y="3522240"/>
            <a:ext cx="169591" cy="135658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Text 21"/>
          <p:cNvSpPr txBox="1"/>
          <p:nvPr/>
        </p:nvSpPr>
        <p:spPr>
          <a:xfrm>
            <a:off x="882699" y="3512418"/>
            <a:ext cx="144058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EVALUATION METRICS </a:t>
            </a:r>
          </a:p>
        </p:txBody>
      </p:sp>
      <p:sp>
        <p:nvSpPr>
          <p:cNvPr id="190" name="Text 22"/>
          <p:cNvSpPr txBox="1"/>
          <p:nvPr/>
        </p:nvSpPr>
        <p:spPr>
          <a:xfrm>
            <a:off x="882699" y="3808395"/>
            <a:ext cx="7656688" cy="839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172720" indent="-172720">
              <a:lnSpc>
                <a:spcPct val="117999"/>
              </a:lnSpc>
              <a:buSzPct val="100000"/>
              <a:buChar char="•"/>
              <a:defRPr sz="800">
                <a:latin typeface="Roboto"/>
                <a:ea typeface="Roboto"/>
                <a:cs typeface="Roboto"/>
                <a:sym typeface="Roboto"/>
              </a:defRPr>
            </a:pPr>
            <a:r>
              <a:t>Makespan / execution time</a:t>
            </a:r>
          </a:p>
          <a:p>
            <a:pPr marL="172720" indent="-172720">
              <a:lnSpc>
                <a:spcPct val="117999"/>
              </a:lnSpc>
              <a:buSzPct val="100000"/>
              <a:buChar char="•"/>
              <a:defRPr sz="800">
                <a:latin typeface="Roboto"/>
                <a:ea typeface="Roboto"/>
                <a:cs typeface="Roboto"/>
                <a:sym typeface="Roboto"/>
              </a:defRPr>
            </a:pPr>
            <a:r>
              <a:t>Throughput (tasks/sec)</a:t>
            </a:r>
          </a:p>
          <a:p>
            <a:pPr marL="172720" indent="-172720">
              <a:lnSpc>
                <a:spcPct val="117999"/>
              </a:lnSpc>
              <a:buSzPct val="100000"/>
              <a:buChar char="•"/>
              <a:defRPr sz="800">
                <a:latin typeface="Roboto"/>
                <a:ea typeface="Roboto"/>
                <a:cs typeface="Roboto"/>
                <a:sym typeface="Roboto"/>
              </a:defRPr>
            </a:pPr>
            <a:r>
              <a:t>CPU utilization</a:t>
            </a:r>
          </a:p>
          <a:p>
            <a:pPr marL="172720" indent="-172720">
              <a:lnSpc>
                <a:spcPct val="117999"/>
              </a:lnSpc>
              <a:buSzPct val="100000"/>
              <a:buChar char="•"/>
              <a:defRPr sz="800">
                <a:latin typeface="Roboto"/>
                <a:ea typeface="Roboto"/>
                <a:cs typeface="Roboto"/>
                <a:sym typeface="Roboto"/>
              </a:defRPr>
            </a:pPr>
            <a:r>
              <a:t>Memory utilization</a:t>
            </a:r>
          </a:p>
          <a:p>
            <a:pPr marL="172720" indent="-172720">
              <a:lnSpc>
                <a:spcPct val="117999"/>
              </a:lnSpc>
              <a:buSzPct val="100000"/>
              <a:buChar char="•"/>
              <a:defRPr sz="800">
                <a:latin typeface="Roboto"/>
                <a:ea typeface="Roboto"/>
                <a:cs typeface="Roboto"/>
                <a:sym typeface="Roboto"/>
              </a:defRPr>
            </a:pPr>
            <a:r>
              <a:t>Recovery time after failure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 txBox="1"/>
          <p:nvPr/>
        </p:nvSpPr>
        <p:spPr>
          <a:xfrm>
            <a:off x="496119" y="390376"/>
            <a:ext cx="392356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PROPOSED SYSTEM ARCHITECTURE</a:t>
            </a:r>
          </a:p>
        </p:txBody>
      </p:sp>
      <p:sp>
        <p:nvSpPr>
          <p:cNvPr id="193" name="Text 1"/>
          <p:cNvSpPr txBox="1"/>
          <p:nvPr/>
        </p:nvSpPr>
        <p:spPr>
          <a:xfrm>
            <a:off x="496119" y="697333"/>
            <a:ext cx="17071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8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Conceptual / Implementation Planned</a:t>
            </a:r>
          </a:p>
        </p:txBody>
      </p:sp>
      <p:pic>
        <p:nvPicPr>
          <p:cNvPr id="19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9679" y="926454"/>
            <a:ext cx="8084567" cy="3486226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ext 2"/>
          <p:cNvSpPr txBox="1"/>
          <p:nvPr/>
        </p:nvSpPr>
        <p:spPr>
          <a:xfrm>
            <a:off x="1073714" y="3751560"/>
            <a:ext cx="156437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Schedule &amp; Monitor</a:t>
            </a:r>
          </a:p>
        </p:txBody>
      </p:sp>
      <p:sp>
        <p:nvSpPr>
          <p:cNvPr id="196" name="Text 3"/>
          <p:cNvSpPr txBox="1"/>
          <p:nvPr/>
        </p:nvSpPr>
        <p:spPr>
          <a:xfrm>
            <a:off x="1073714" y="2944555"/>
            <a:ext cx="162383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Intelligent Scheduler</a:t>
            </a:r>
          </a:p>
        </p:txBody>
      </p:sp>
      <p:sp>
        <p:nvSpPr>
          <p:cNvPr id="197" name="Text 4"/>
          <p:cNvSpPr txBox="1"/>
          <p:nvPr/>
        </p:nvSpPr>
        <p:spPr>
          <a:xfrm>
            <a:off x="1073714" y="2145702"/>
            <a:ext cx="178167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Dependency &amp; Priority</a:t>
            </a:r>
          </a:p>
        </p:txBody>
      </p:sp>
      <p:sp>
        <p:nvSpPr>
          <p:cNvPr id="198" name="Text 5"/>
          <p:cNvSpPr txBox="1"/>
          <p:nvPr/>
        </p:nvSpPr>
        <p:spPr>
          <a:xfrm>
            <a:off x="1073714" y="1338699"/>
            <a:ext cx="142598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Task Identification</a:t>
            </a:r>
          </a:p>
        </p:txBody>
      </p:sp>
      <p:sp>
        <p:nvSpPr>
          <p:cNvPr id="199" name="Shape 6"/>
          <p:cNvSpPr/>
          <p:nvPr/>
        </p:nvSpPr>
        <p:spPr>
          <a:xfrm>
            <a:off x="496118" y="4478089"/>
            <a:ext cx="8151764" cy="274961"/>
          </a:xfrm>
          <a:prstGeom prst="roundRect">
            <a:avLst>
              <a:gd name="adj" fmla="val 13873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6904" y="4560391"/>
            <a:ext cx="113481" cy="90786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Text 7"/>
          <p:cNvSpPr txBox="1"/>
          <p:nvPr/>
        </p:nvSpPr>
        <p:spPr>
          <a:xfrm>
            <a:off x="791170" y="4558903"/>
            <a:ext cx="35311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9000"/>
              </a:lnSpc>
              <a:defRPr sz="70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No numerical results are presented; evaluation is planned after prototype implementation.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 txBox="1"/>
          <p:nvPr/>
        </p:nvSpPr>
        <p:spPr>
          <a:xfrm>
            <a:off x="496119" y="390748"/>
            <a:ext cx="506176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7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>
            <a:pPr/>
            <a:r>
              <a:t>CONCLUSION &amp; REFERENCES</a:t>
            </a:r>
          </a:p>
        </p:txBody>
      </p:sp>
      <p:sp>
        <p:nvSpPr>
          <p:cNvPr id="204" name="Text 1"/>
          <p:cNvSpPr txBox="1"/>
          <p:nvPr/>
        </p:nvSpPr>
        <p:spPr>
          <a:xfrm>
            <a:off x="496118" y="1152375"/>
            <a:ext cx="9115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05" name="Text 2"/>
          <p:cNvSpPr txBox="1"/>
          <p:nvPr/>
        </p:nvSpPr>
        <p:spPr>
          <a:xfrm>
            <a:off x="496118" y="1554825"/>
            <a:ext cx="3908376" cy="2247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213359" indent="-213359">
              <a:lnSpc>
                <a:spcPct val="131000"/>
              </a:lnSpc>
              <a:buSzPct val="100000"/>
              <a:buChar char="•"/>
              <a:defRPr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Reviewed three representative scheduling approaches: </a:t>
            </a:r>
            <a:r>
              <a:rPr b="1">
                <a:latin typeface="Roboto Bold"/>
                <a:ea typeface="Roboto Bold"/>
                <a:cs typeface="Roboto Bold"/>
                <a:sym typeface="Roboto Bold"/>
              </a:rPr>
              <a:t>Airflow, Spark, and HEFT</a:t>
            </a:r>
            <a:r>
              <a:t>.</a:t>
            </a:r>
          </a:p>
          <a:p>
            <a:pPr marL="213359" indent="-213359">
              <a:lnSpc>
                <a:spcPct val="131000"/>
              </a:lnSpc>
              <a:buSzPct val="100000"/>
              <a:buChar char="•"/>
              <a:defRPr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Identified complementary strengths in </a:t>
            </a:r>
            <a:r>
              <a:rPr b="1">
                <a:latin typeface="Roboto Bold"/>
                <a:ea typeface="Roboto Bold"/>
                <a:cs typeface="Roboto Bold"/>
                <a:sym typeface="Roboto Bold"/>
              </a:rPr>
              <a:t>dependency handling, prioritization, parallelism, and resource management</a:t>
            </a:r>
            <a:r>
              <a:t>.</a:t>
            </a:r>
          </a:p>
          <a:p>
            <a:pPr marL="213359" indent="-213359">
              <a:lnSpc>
                <a:spcPct val="131000"/>
              </a:lnSpc>
              <a:buSzPct val="100000"/>
              <a:buChar char="•"/>
              <a:defRPr sz="100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Identified an opportunity for a </a:t>
            </a:r>
            <a:r>
              <a:rPr b="1">
                <a:latin typeface="Roboto Bold"/>
                <a:ea typeface="Roboto Bold"/>
                <a:cs typeface="Roboto Bold"/>
                <a:sym typeface="Roboto Bold"/>
              </a:rPr>
              <a:t>focused text-processing scheduler</a:t>
            </a:r>
            <a:r>
              <a:t> integrating priority, dependencies, resource awareness, parallelism, monitoring, and recovery.</a:t>
            </a:r>
          </a:p>
          <a:p>
            <a:pPr marL="213359" indent="-213359">
              <a:lnSpc>
                <a:spcPct val="131000"/>
              </a:lnSpc>
              <a:buSzPct val="100000"/>
              <a:buChar char="•"/>
              <a:defRPr b="1" sz="100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t>Next:</a:t>
            </a:r>
            <a:r>
              <a:rPr b="0">
                <a:latin typeface="Roboto"/>
                <a:ea typeface="Roboto"/>
                <a:cs typeface="Roboto"/>
                <a:sym typeface="Roboto"/>
              </a:rPr>
              <a:t> Prototype implementation and systematic performance evaluation.</a:t>
            </a:r>
          </a:p>
        </p:txBody>
      </p:sp>
      <p:sp>
        <p:nvSpPr>
          <p:cNvPr id="206" name="Text 3"/>
          <p:cNvSpPr txBox="1"/>
          <p:nvPr/>
        </p:nvSpPr>
        <p:spPr>
          <a:xfrm>
            <a:off x="4744268" y="1152375"/>
            <a:ext cx="90293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1B1B27"/>
                </a:solidFill>
                <a:latin typeface="Raleway Bold"/>
                <a:ea typeface="Raleway Bold"/>
                <a:cs typeface="Raleway Bold"/>
                <a:sym typeface="Raleway Bold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207" name="Text 4"/>
          <p:cNvSpPr txBox="1"/>
          <p:nvPr/>
        </p:nvSpPr>
        <p:spPr>
          <a:xfrm>
            <a:off x="4744268" y="1499890"/>
            <a:ext cx="3908376" cy="2143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defTabSz="182880">
              <a:spcBef>
                <a:spcPts val="500"/>
              </a:spcBef>
              <a:defRPr b="1"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Study 1</a:t>
            </a:r>
          </a:p>
          <a:p>
            <a:pPr defTabSz="182880">
              <a:spcBef>
                <a:spcPts val="400"/>
              </a:spcBef>
              <a:defRPr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Yasmin et al. (2025) – An Empirical Study of Developers’ Challenges in Implementing Workflows as Code: A Case Study on Apache Airflow</a:t>
            </a:r>
          </a:p>
          <a:p>
            <a:pPr defTabSz="182880">
              <a:spcBef>
                <a:spcPts val="500"/>
              </a:spcBef>
              <a:defRPr b="1"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Study 2</a:t>
            </a:r>
          </a:p>
          <a:p>
            <a:pPr defTabSz="182880">
              <a:spcBef>
                <a:spcPts val="400"/>
              </a:spcBef>
              <a:defRPr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Kažemaks et al. (2025) – Balancing Fairness and Performance in Multi-User Spark Workloads with Dynamic Scheduling</a:t>
            </a:r>
          </a:p>
          <a:p>
            <a:pPr defTabSz="182880">
              <a:spcBef>
                <a:spcPts val="500"/>
              </a:spcBef>
              <a:defRPr b="1"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Study 3</a:t>
            </a:r>
          </a:p>
          <a:p>
            <a:pPr defTabSz="182880">
              <a:spcBef>
                <a:spcPts val="400"/>
              </a:spcBef>
              <a:defRPr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Topcuoglu, Hariri &amp; Wu (2002) – Performance-Effective and Low-Complexity Task Scheduling for Heterogeneous Computing</a:t>
            </a:r>
          </a:p>
          <a:p>
            <a:pPr defTabSz="182880">
              <a:spcBef>
                <a:spcPts val="500"/>
              </a:spcBef>
              <a:defRPr b="1"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Study 4</a:t>
            </a:r>
          </a:p>
          <a:p>
            <a:pPr defTabSz="182880">
              <a:spcBef>
                <a:spcPts val="400"/>
              </a:spcBef>
              <a:defRPr sz="8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M. Gautier et al. (2015) – Design and Analysis of Scheduling Strategies for Multi-CPU and Multi-GPU Architectures</a:t>
            </a:r>
          </a:p>
        </p:txBody>
      </p:sp>
      <p:sp>
        <p:nvSpPr>
          <p:cNvPr id="208" name="Shape 6"/>
          <p:cNvSpPr/>
          <p:nvPr/>
        </p:nvSpPr>
        <p:spPr>
          <a:xfrm>
            <a:off x="496118" y="3998788"/>
            <a:ext cx="8151764" cy="753964"/>
          </a:xfrm>
          <a:prstGeom prst="roundRect">
            <a:avLst>
              <a:gd name="adj" fmla="val 7650"/>
            </a:avLst>
          </a:prstGeom>
          <a:solidFill>
            <a:srgbClr val="E1E1E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412" y="4188767"/>
            <a:ext cx="171600" cy="137295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ext 7"/>
          <p:cNvSpPr txBox="1"/>
          <p:nvPr/>
        </p:nvSpPr>
        <p:spPr>
          <a:xfrm>
            <a:off x="942304" y="4166070"/>
            <a:ext cx="7568284" cy="4326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1000"/>
              </a:lnSpc>
              <a:defRPr b="1" sz="1000">
                <a:latin typeface="Roboto Bold"/>
                <a:ea typeface="Roboto Bold"/>
                <a:cs typeface="Roboto Bold"/>
                <a:sym typeface="Roboto Bold"/>
              </a:defRPr>
            </a:lvl1pPr>
          </a:lstStyle>
          <a:p>
            <a:pPr/>
            <a:r>
              <a:t>“Intelligent scheduling is not about running more tasks—it is about running the right task, at the right time, with the right resources.”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